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7fe19dc-f3a8-d0f6-b946-955a5c7bb45b}">
          <p14:sldIdLst>
            <p14:sldId id="256"/>
          </p14:sldIdLst>
        </p14:section>
        <p14:section name="Le constat" id="{3bb71db2-c99f-e2c2-903a-8bf9eabf45ca}">
          <p14:sldIdLst>
            <p14:sldId id="257"/>
          </p14:sldIdLst>
        </p14:section>
        <p14:section name="L'offre" id="{83c99044-5bea-511d-e787-0f5a6739c6ee}">
          <p14:sldIdLst>
            <p14:sldId id="258"/>
            <p14:sldId id="259"/>
          </p14:sldIdLst>
        </p14:section>
        <p14:section name="Les bénéfices" id="{1ad43cfa-db0f-d536-2c2f-15ed6b367c3e}">
          <p14:sldIdLst>
            <p14:sldId id="260"/>
          </p14:sldIdLst>
        </p14:section>
        <p14:section name="La suite" id="{679fd210-9a0c-69b1-bccd-15ac7a68f1d3}">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 Bonjour. Une école, ce sont des centaines de cours chaque mois, des salles qui changent, des supports, des devoirs, des quiz… et des étudiants qui doivent savoir, à chaque instant, où aller et quoi préparer.
HESTIM Planner réunit tout cela dans une seule application, sur le téléphone de chaque étudiant et sur l'ordinateur de chaque enseignant. Elle est déjà en ligne.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s.
« Aujourd'hui, l'école communique avec six outils différents. Les informations partent par Gmail, à tout le monde. L'emploi du temps est envoyé en PDF chaque mois, et il faut le re-télécharger à chaque changement. Les reports de dernière minute passent par des groupes WhatsApp. Les devoirs vivent dans Classroom, les cours dans Moodle, et pour jouer en anglais ou réviser, on passe par des sites extérieurs.
Résultat : l'information arrive en retard, les équipes saisissent la même chose plusieurs fois, et les données de nos étudiants sont éparpillées chez des services externes.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s.
« HESTIM Planner remplace cet éparpillement par une seule application, avec un seul compte.
Quatre services. Un emploi du temps vivant : la semaine, le mois, le détail de chaque cours, toujours à jour. Des alertes instantanées : si un cours est reporté ou change de salle, l'étudiant le sait tout de suite, sur son téléphone. Une bibliothèque de cours : tous les supports rangés par module. Et des jeux et des quiz intégrés : en classe ou en devoir, corrigés automatiquement, et les résultats restent à l'école. »
Démonstration possible : ouvrir l'application sur le téléphone (onglets Semaine puis Jeux).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s.
« Concrètement, outil par outil. Les informations de cours ne partent plus à tout le monde par Gmail : elles arrivent aux seuls étudiants concernés. Le PDF du mois devient un emploi du temps vivant, et le PDF officiel reste disponible. Les reports ne passent plus par WhatsApp : l'alerte est automatique, avec la nouvelle salle et la nouvelle heure. Classroom et Moodle sont remplacés par la bibliothèque et les devoirs en quiz, corrigés tout seuls. Et les jeux sont dans l'application : pas de publicité, pas de compte externe, et l'école garde les résultats. »
Si on demande : les annonces générales (vie de l'école) restent sur Gmail pour l'instant ; les annonces ciblées par filière et par groupe sont la prochaine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s.
« Ce que chacun y gagne. Pour la direction et la scolarité : l'emploi du temps d'un semestre entier est proposé automatiquement — 2 620 séances placées en 90 secondes sur notre serveur — et les conflits sont signalés avant qu'ils ne posent problème.
Pour les enseignants : un seul endroit pour leurs cours, leurs supports et leurs quiz. Pour les étudiants : toute leur vie d'école dans la poche, en français ou en anglais. Et pour l'école : une image moderne, et des données qui restent chez 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 s.
« Tout ce que je viens de vous montrer est en ligne aujourd'hui : le site, l'application sur iPhone et Android, la bibliothèque et les jeux.
Nous proposons de commencer par un pilote d'un semestre avec une filière, d'ajouter les annonces ciblées pour remplacer les envois Gmail, puis d'ouvrir la plateforme à toute l'école — et demain à d'autres établissements.
HESTIM Planner : l'école, à l'heure. Merci.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0018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88920"/>
            <a:ext cx="6583680" cy="1005840"/>
          </a:xfrm>
          <a:prstGeom prst="rect">
            <a:avLst/>
          </a:prstGeom>
          <a:noFill/>
          <a:ln/>
        </p:spPr>
        <p:txBody>
          <a:bodyPr wrap="square" rtlCol="0"/>
          <a:lstStyle>
            <a:lvl1pPr algn="l" indent="0" marL="0">
              <a:buNone/>
              <a:defRPr lang="en-US" sz="6000" b="1" dirty="0">
                <a:solidFill>
                  <a:schemeClr val="bg1"/>
                </a:solidFill>
                <a:latin typeface="Barlow Condensed" pitchFamily="34" charset="0"/>
                <a:ea typeface="Barlow Condensed" pitchFamily="34" charset="-122"/>
                <a:cs typeface="Barlow Condensed" pitchFamily="34" charset="-120"/>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600" b="1" dirty="0">
                <a:solidFill>
                  <a:schemeClr val="tx2"/>
                </a:solidFill>
                <a:latin typeface="Barlow Condensed" pitchFamily="34" charset="0"/>
                <a:ea typeface="Barlow Condensed" pitchFamily="34" charset="-122"/>
                <a:cs typeface="Barlow Condensed" pitchFamily="34" charset="-120"/>
              </a:defRPr>
            </a:lvl1pPr>
          </a:lstStyle>
          <a:p>
            <a:pPr algn="l" indent="0" marL="0">
              <a:buNone/>
            </a:pPr>
            <a:endParaRPr lang="en-US" sz="3600" dirty="0"/>
          </a:p>
        </p:txBody>
      </p:sp>
      <p:pic>
        <p:nvPicPr>
          <p:cNvPr id="3" name="Image 0" descr="preencoded.png">    </p:cNvPr>
          <p:cNvPicPr>
            <a:picLocks noChangeAspect="1"/>
          </p:cNvPicPr>
          <p:nvPr/>
        </p:nvPicPr>
        <p:blipFill>
          <a:blip r:embed="rId1"/>
          <a:stretch>
            <a:fillRect/>
          </a:stretch>
        </p:blipFill>
        <p:spPr>
          <a:xfrm>
            <a:off x="548640" y="6382512"/>
            <a:ext cx="237744" cy="237744"/>
          </a:xfrm>
          <a:prstGeom prst="rect">
            <a:avLst/>
          </a:prstGeom>
        </p:spPr>
      </p:pic>
      <p:sp>
        <p:nvSpPr>
          <p:cNvPr id="4" name="Text 0"/>
          <p:cNvSpPr/>
          <p:nvPr/>
        </p:nvSpPr>
        <p:spPr>
          <a:xfrm>
            <a:off x="868680" y="6355080"/>
            <a:ext cx="3657600" cy="292608"/>
          </a:xfrm>
          <a:prstGeom prst="rect">
            <a:avLst/>
          </a:prstGeom>
          <a:noFill/>
          <a:ln/>
        </p:spPr>
        <p:txBody>
          <a:bodyPr wrap="square" lIns="0" tIns="0" rIns="0" bIns="0" rtlCol="0" anchor="ctr"/>
          <a:lstStyle/>
          <a:p>
            <a:pPr indent="0" marL="0">
              <a:buNone/>
            </a:pPr>
            <a:r>
              <a:rPr lang="en-US" sz="1100" b="1" spc="200" kern="0" dirty="0">
                <a:solidFill>
                  <a:schemeClr val="accent4"/>
                </a:solidFill>
                <a:latin typeface="Barlow Condensed" pitchFamily="34" charset="0"/>
                <a:ea typeface="Barlow Condensed" pitchFamily="34" charset="-122"/>
                <a:cs typeface="Barlow Condensed" pitchFamily="34" charset="-120"/>
              </a:rPr>
              <a:t>HESTIM PLANNER</a:t>
            </a:r>
            <a:endParaRPr lang="en-US" sz="11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Barlow Condensed"/>
                <a:ea typeface="Barlow Condensed"/>
                <a:cs typeface="Barlow Condense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TURE">
    <p:bg>
      <p:bgPr>
        <a:solidFill>
          <a:srgbClr val="0018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rtlCol="0"/>
          <a:lstStyle>
            <a:lvl1pPr algn="l" indent="0" marL="0">
              <a:buNone/>
              <a:defRPr lang="en-US" sz="4000" b="1" dirty="0">
                <a:solidFill>
                  <a:schemeClr val="bg1"/>
                </a:solidFill>
                <a:latin typeface="Barlow Condensed" pitchFamily="34" charset="0"/>
                <a:ea typeface="Barlow Condensed" pitchFamily="34" charset="-122"/>
                <a:cs typeface="Barlow Condensed"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Barlow Condensed"/>
                <a:ea typeface="Barlow Condensed"/>
                <a:cs typeface="Barlow Condense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uile-logo"/>
          <p:cNvSpPr/>
          <p:nvPr/>
        </p:nvSpPr>
        <p:spPr>
          <a:xfrm>
            <a:off x="640080" y="685800"/>
            <a:ext cx="1600200" cy="1600200"/>
          </a:xfrm>
          <a:prstGeom prst="roundRect">
            <a:avLst>
              <a:gd name="adj" fmla="val 12571"/>
            </a:avLst>
          </a:prstGeom>
          <a:solidFill>
            <a:schemeClr val="bg1"/>
          </a:solidFill>
          <a:ln w="12700">
            <a:solidFill>
              <a:schemeClr val="bg1"/>
            </a:solidFill>
            <a:prstDash val="solid"/>
          </a:ln>
        </p:spPr>
      </p:sp>
      <p:pic>
        <p:nvPicPr>
          <p:cNvPr id="3" name="embleme" descr="Emblème HESTIM">    </p:cNvPr>
          <p:cNvPicPr>
            <a:picLocks noChangeAspect="1"/>
          </p:cNvPicPr>
          <p:nvPr/>
        </p:nvPicPr>
        <p:blipFill>
          <a:blip r:embed="rId1"/>
          <a:stretch>
            <a:fillRect/>
          </a:stretch>
        </p:blipFill>
        <p:spPr>
          <a:xfrm>
            <a:off x="841248" y="886968"/>
            <a:ext cx="1197864" cy="1197864"/>
          </a:xfrm>
          <a:prstGeom prst="rect">
            <a:avLst/>
          </a:prstGeom>
        </p:spPr>
      </p:pic>
      <p:sp>
        <p:nvSpPr>
          <p:cNvPr id="4" name="Text 0"/>
          <p:cNvSpPr/>
          <p:nvPr>
            <p:ph idx="100" type="title" hasCustomPrompt="1"/>
          </p:nvPr>
        </p:nvSpPr>
        <p:spPr>
          <a:xfrm>
            <a:off x="640080" y="2788920"/>
            <a:ext cx="6583680" cy="1005840"/>
          </a:xfrm>
          <a:prstGeom prst="rect">
            <a:avLst/>
          </a:prstGeom>
          <a:noFill/>
          <a:ln/>
        </p:spPr>
        <p:txBody>
          <a:bodyPr wrap="square" lIns="0" tIns="0" rIns="0" bIns="0" rtlCol="0" anchor="ctr"/>
          <a:lstStyle/>
          <a:p>
            <a:pPr algn="l" indent="0" marL="0">
              <a:buNone/>
            </a:pPr>
            <a:r>
              <a:rPr lang="en-US" sz="6000" b="1" dirty="0">
                <a:solidFill>
                  <a:schemeClr val="bg1"/>
                </a:solidFill>
                <a:latin typeface="Barlow Condensed" pitchFamily="34" charset="0"/>
                <a:ea typeface="Barlow Condensed" pitchFamily="34" charset="-122"/>
                <a:cs typeface="Barlow Condensed" pitchFamily="34" charset="-120"/>
              </a:rPr>
              <a:t>HESTIM Planner</a:t>
            </a:r>
            <a:endParaRPr lang="en-US" sz="6000" dirty="0"/>
          </a:p>
        </p:txBody>
      </p:sp>
      <p:sp>
        <p:nvSpPr>
          <p:cNvPr id="5" name="accroche"/>
          <p:cNvSpPr txBox="1"/>
          <p:nvPr/>
        </p:nvSpPr>
        <p:spPr>
          <a:xfrm>
            <a:off x="640080" y="3840480"/>
            <a:ext cx="6583680" cy="868680"/>
          </a:xfrm>
          <a:prstGeom prst="rect">
            <a:avLst/>
          </a:prstGeom>
          <a:noFill/>
          <a:ln/>
        </p:spPr>
        <p:txBody>
          <a:bodyPr wrap="square" lIns="0" tIns="0" rIns="0" bIns="0" rtlCol="0" anchor="t"/>
          <a:lstStyle/>
          <a:p>
            <a:pPr indent="0" marL="0">
              <a:buNone/>
            </a:pPr>
            <a:r>
              <a:rPr lang="en-US" sz="2600" dirty="0">
                <a:solidFill>
                  <a:schemeClr val="bg1"/>
                </a:solidFill>
                <a:latin typeface="Barlow" pitchFamily="34" charset="0"/>
                <a:ea typeface="Barlow" pitchFamily="34" charset="-122"/>
                <a:cs typeface="Barlow" pitchFamily="34" charset="-120"/>
              </a:rPr>
              <a:t>Toute la vie de l'école dans une seule application</a:t>
            </a:r>
            <a:endParaRPr lang="en-US" sz="2600" dirty="0"/>
          </a:p>
        </p:txBody>
      </p:sp>
      <p:sp>
        <p:nvSpPr>
          <p:cNvPr id="6" name="services"/>
          <p:cNvSpPr txBox="1"/>
          <p:nvPr/>
        </p:nvSpPr>
        <p:spPr>
          <a:xfrm>
            <a:off x="640080" y="4800600"/>
            <a:ext cx="6583680" cy="411480"/>
          </a:xfrm>
          <a:prstGeom prst="rect">
            <a:avLst/>
          </a:prstGeom>
          <a:noFill/>
          <a:ln/>
        </p:spPr>
        <p:txBody>
          <a:bodyPr wrap="square" lIns="0" tIns="0" rIns="0" bIns="0" rtlCol="0" anchor="ctr"/>
          <a:lstStyle/>
          <a:p>
            <a:pPr indent="0" marL="0">
              <a:buNone/>
            </a:pPr>
            <a:r>
              <a:rPr lang="en-US" sz="2000" b="1" spc="100" kern="0" dirty="0">
                <a:solidFill>
                  <a:schemeClr val="accent1"/>
                </a:solidFill>
                <a:latin typeface="Barlow Condensed" pitchFamily="34" charset="0"/>
                <a:ea typeface="Barlow Condensed" pitchFamily="34" charset="-122"/>
                <a:cs typeface="Barlow Condensed" pitchFamily="34" charset="-120"/>
              </a:rPr>
              <a:t>Emploi du temps · Alertes · Cours · Jeux et quiz</a:t>
            </a:r>
            <a:endParaRPr lang="en-US" sz="2000" dirty="0"/>
          </a:p>
        </p:txBody>
      </p:sp>
      <p:sp>
        <p:nvSpPr>
          <p:cNvPr id="7" name="adresse"/>
          <p:cNvSpPr txBox="1"/>
          <p:nvPr/>
        </p:nvSpPr>
        <p:spPr>
          <a:xfrm>
            <a:off x="640080" y="5989320"/>
            <a:ext cx="6583680" cy="365760"/>
          </a:xfrm>
          <a:prstGeom prst="rect">
            <a:avLst/>
          </a:prstGeom>
          <a:noFill/>
          <a:ln/>
        </p:spPr>
        <p:txBody>
          <a:bodyPr wrap="square" lIns="0" tIns="0" rIns="0" bIns="0" rtlCol="0" anchor="ctr"/>
          <a:lstStyle/>
          <a:p>
            <a:pPr indent="0" marL="0">
              <a:buNone/>
            </a:pPr>
            <a:r>
              <a:rPr lang="en-US" sz="1400" dirty="0">
                <a:solidFill>
                  <a:schemeClr val="bg2"/>
                </a:solidFill>
                <a:latin typeface="Barlow" pitchFamily="34" charset="0"/>
                <a:ea typeface="Barlow" pitchFamily="34" charset="-122"/>
                <a:cs typeface="Barlow" pitchFamily="34" charset="-120"/>
              </a:rPr>
              <a:t>En ligne aujourd'hui · planner.finadmintech.fr</a:t>
            </a:r>
            <a:endParaRPr lang="en-US" sz="1400" dirty="0"/>
          </a:p>
        </p:txBody>
      </p:sp>
      <p:sp>
        <p:nvSpPr>
          <p:cNvPr id="8" name="telephone-agenda-cadre"/>
          <p:cNvSpPr/>
          <p:nvPr/>
        </p:nvSpPr>
        <p:spPr>
          <a:xfrm>
            <a:off x="7525512" y="1353312"/>
            <a:ext cx="2164842" cy="4654296"/>
          </a:xfrm>
          <a:prstGeom prst="roundRect">
            <a:avLst>
              <a:gd name="adj" fmla="val 7603"/>
            </a:avLst>
          </a:prstGeom>
          <a:solidFill>
            <a:srgbClr val="0B0B0D"/>
          </a:solidFill>
          <a:ln w="12700">
            <a:solidFill>
              <a:srgbClr val="0B0B0D"/>
            </a:solidFill>
            <a:prstDash val="solid"/>
          </a:ln>
          <a:effectLst>
            <a:outerShdw sx="100000" sy="100000" kx="0" ky="0" algn="bl" rotWithShape="0" blurRad="177800" dist="63500" dir="5400000">
              <a:srgbClr val="000000">
                <a:alpha val="35000"/>
              </a:srgbClr>
            </a:outerShdw>
          </a:effectLst>
        </p:spPr>
      </p:sp>
      <p:pic>
        <p:nvPicPr>
          <p:cNvPr id="9" name="telephone-agenda" descr="Application : le mois en calendrier, chaque jour avec ses cours en couleur">    </p:cNvPr>
          <p:cNvPicPr>
            <a:picLocks noChangeAspect="1"/>
          </p:cNvPicPr>
          <p:nvPr/>
        </p:nvPicPr>
        <p:blipFill>
          <a:blip r:embed="rId2"/>
          <a:stretch>
            <a:fillRect/>
          </a:stretch>
        </p:blipFill>
        <p:spPr>
          <a:xfrm>
            <a:off x="7589520" y="1417320"/>
            <a:ext cx="2036826" cy="4526280"/>
          </a:xfrm>
          <a:prstGeom prst="rect">
            <a:avLst/>
          </a:prstGeom>
        </p:spPr>
      </p:pic>
      <p:sp>
        <p:nvSpPr>
          <p:cNvPr id="10" name="telephone-tableau-cadre"/>
          <p:cNvSpPr/>
          <p:nvPr/>
        </p:nvSpPr>
        <p:spPr>
          <a:xfrm>
            <a:off x="9079992" y="713232"/>
            <a:ext cx="2494026" cy="5385816"/>
          </a:xfrm>
          <a:prstGeom prst="roundRect">
            <a:avLst>
              <a:gd name="adj" fmla="val 6599"/>
            </a:avLst>
          </a:prstGeom>
          <a:solidFill>
            <a:srgbClr val="0B0B0D"/>
          </a:solidFill>
          <a:ln w="12700">
            <a:solidFill>
              <a:srgbClr val="0B0B0D"/>
            </a:solidFill>
            <a:prstDash val="solid"/>
          </a:ln>
          <a:effectLst>
            <a:outerShdw sx="100000" sy="100000" kx="0" ky="0" algn="bl" rotWithShape="0" blurRad="177800" dist="63500" dir="5400000">
              <a:srgbClr val="000000">
                <a:alpha val="35000"/>
              </a:srgbClr>
            </a:outerShdw>
          </a:effectLst>
        </p:spPr>
      </p:sp>
      <p:pic>
        <p:nvPicPr>
          <p:cNvPr id="11" name="telephone-tableau" descr="Application : la prochaine séance, sa salle et ses supports de cours">    </p:cNvPr>
          <p:cNvPicPr>
            <a:picLocks noChangeAspect="1"/>
          </p:cNvPicPr>
          <p:nvPr/>
        </p:nvPicPr>
        <p:blipFill>
          <a:blip r:embed="rId3"/>
          <a:stretch>
            <a:fillRect/>
          </a:stretch>
        </p:blipFill>
        <p:spPr>
          <a:xfrm>
            <a:off x="9144000" y="777240"/>
            <a:ext cx="2366010" cy="525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Barlow Condensed" pitchFamily="34" charset="0"/>
                <a:ea typeface="Barlow Condensed" pitchFamily="34" charset="-122"/>
                <a:cs typeface="Barlow Condensed" pitchFamily="34" charset="-120"/>
              </a:rPr>
              <a:t>Aujourd'hui, l'information de l'école est éparpillée</a:t>
            </a:r>
            <a:endParaRPr lang="en-US" sz="3600" dirty="0"/>
          </a:p>
        </p:txBody>
      </p:sp>
      <p:sp>
        <p:nvSpPr>
          <p:cNvPr id="3" name="outil-1-carte"/>
          <p:cNvSpPr/>
          <p:nvPr/>
        </p:nvSpPr>
        <p:spPr>
          <a:xfrm>
            <a:off x="548640" y="1463040"/>
            <a:ext cx="2240280" cy="1965960"/>
          </a:xfrm>
          <a:prstGeom prst="roundRect">
            <a:avLst>
              <a:gd name="adj" fmla="val 5581"/>
            </a:avLst>
          </a:prstGeom>
          <a:solidFill>
            <a:schemeClr val="bg2"/>
          </a:solidFill>
          <a:ln w="12700">
            <a:solidFill>
              <a:schemeClr val="bg2"/>
            </a:solidFill>
            <a:prstDash val="solid"/>
          </a:ln>
        </p:spPr>
      </p:sp>
      <p:sp>
        <p:nvSpPr>
          <p:cNvPr id="4" name="outil-1-rond"/>
          <p:cNvSpPr/>
          <p:nvPr/>
        </p:nvSpPr>
        <p:spPr>
          <a:xfrm>
            <a:off x="777240" y="1691640"/>
            <a:ext cx="548640" cy="548640"/>
          </a:xfrm>
          <a:prstGeom prst="ellipse">
            <a:avLst/>
          </a:prstGeom>
          <a:solidFill>
            <a:schemeClr val="tx2"/>
          </a:solidFill>
          <a:ln w="12700">
            <a:solidFill>
              <a:schemeClr val="tx2"/>
            </a:solidFill>
            <a:prstDash val="solid"/>
          </a:ln>
        </p:spPr>
      </p:sp>
      <p:pic>
        <p:nvPicPr>
          <p:cNvPr id="5" name="outil-1-icone" descr="preencoded.png">    </p:cNvPr>
          <p:cNvPicPr>
            <a:picLocks noChangeAspect="1"/>
          </p:cNvPicPr>
          <p:nvPr/>
        </p:nvPicPr>
        <p:blipFill>
          <a:blip r:embed="rId1"/>
          <a:stretch>
            <a:fillRect/>
          </a:stretch>
        </p:blipFill>
        <p:spPr>
          <a:xfrm>
            <a:off x="908914" y="1823314"/>
            <a:ext cx="285293" cy="285293"/>
          </a:xfrm>
          <a:prstGeom prst="rect">
            <a:avLst/>
          </a:prstGeom>
        </p:spPr>
      </p:pic>
      <p:sp>
        <p:nvSpPr>
          <p:cNvPr id="6" name="outil-1-nom"/>
          <p:cNvSpPr txBox="1"/>
          <p:nvPr/>
        </p:nvSpPr>
        <p:spPr>
          <a:xfrm>
            <a:off x="777240" y="2331720"/>
            <a:ext cx="1828800" cy="365760"/>
          </a:xfrm>
          <a:prstGeom prst="rect">
            <a:avLst/>
          </a:prstGeom>
          <a:noFill/>
          <a:ln/>
        </p:spPr>
        <p:txBody>
          <a:bodyPr wrap="square" lIns="0" tIns="0" rIns="0" bIns="0" rtlCol="0" anchor="ctr"/>
          <a:lstStyle/>
          <a:p>
            <a:pPr indent="0" marL="0">
              <a:buNone/>
            </a:pPr>
            <a:r>
              <a:rPr lang="en-US" sz="1900" b="1" dirty="0">
                <a:solidFill>
                  <a:schemeClr val="tx2"/>
                </a:solidFill>
                <a:latin typeface="Barlow Condensed" pitchFamily="34" charset="0"/>
                <a:ea typeface="Barlow Condensed" pitchFamily="34" charset="-122"/>
                <a:cs typeface="Barlow Condensed" pitchFamily="34" charset="-120"/>
              </a:rPr>
              <a:t>Gmail</a:t>
            </a:r>
            <a:endParaRPr lang="en-US" sz="1900" dirty="0"/>
          </a:p>
        </p:txBody>
      </p:sp>
      <p:sp>
        <p:nvSpPr>
          <p:cNvPr id="7" name="outil-1-usage"/>
          <p:cNvSpPr txBox="1"/>
          <p:nvPr/>
        </p:nvSpPr>
        <p:spPr>
          <a:xfrm>
            <a:off x="777240" y="2697480"/>
            <a:ext cx="1828800" cy="640080"/>
          </a:xfrm>
          <a:prstGeom prst="rect">
            <a:avLst/>
          </a:prstGeom>
          <a:noFill/>
          <a:ln/>
        </p:spPr>
        <p:txBody>
          <a:bodyPr wrap="square" lIns="0" tIns="0" rIns="0" bIns="0" rtlCol="0" anchor="t"/>
          <a:lstStyle/>
          <a:p>
            <a:pPr indent="0" marL="0">
              <a:buNone/>
            </a:pPr>
            <a:r>
              <a:rPr lang="en-US" sz="1300" dirty="0">
                <a:solidFill>
                  <a:schemeClr val="accent4"/>
                </a:solidFill>
                <a:latin typeface="Barlow" pitchFamily="34" charset="0"/>
                <a:ea typeface="Barlow" pitchFamily="34" charset="-122"/>
                <a:cs typeface="Barlow" pitchFamily="34" charset="-120"/>
              </a:rPr>
              <a:t>Annonces et informations envoyées à tout le monde</a:t>
            </a:r>
            <a:endParaRPr lang="en-US" sz="1300" dirty="0"/>
          </a:p>
        </p:txBody>
      </p:sp>
      <p:sp>
        <p:nvSpPr>
          <p:cNvPr id="8" name="outil-2-carte"/>
          <p:cNvSpPr/>
          <p:nvPr/>
        </p:nvSpPr>
        <p:spPr>
          <a:xfrm>
            <a:off x="3017520" y="1463040"/>
            <a:ext cx="2240280" cy="1965960"/>
          </a:xfrm>
          <a:prstGeom prst="roundRect">
            <a:avLst>
              <a:gd name="adj" fmla="val 5581"/>
            </a:avLst>
          </a:prstGeom>
          <a:solidFill>
            <a:schemeClr val="bg2"/>
          </a:solidFill>
          <a:ln w="12700">
            <a:solidFill>
              <a:schemeClr val="bg2"/>
            </a:solidFill>
            <a:prstDash val="solid"/>
          </a:ln>
        </p:spPr>
      </p:sp>
      <p:sp>
        <p:nvSpPr>
          <p:cNvPr id="9" name="outil-2-rond"/>
          <p:cNvSpPr/>
          <p:nvPr/>
        </p:nvSpPr>
        <p:spPr>
          <a:xfrm>
            <a:off x="3246120" y="1691640"/>
            <a:ext cx="548640" cy="548640"/>
          </a:xfrm>
          <a:prstGeom prst="ellipse">
            <a:avLst/>
          </a:prstGeom>
          <a:solidFill>
            <a:schemeClr val="tx2"/>
          </a:solidFill>
          <a:ln w="12700">
            <a:solidFill>
              <a:schemeClr val="tx2"/>
            </a:solidFill>
            <a:prstDash val="solid"/>
          </a:ln>
        </p:spPr>
      </p:sp>
      <p:pic>
        <p:nvPicPr>
          <p:cNvPr id="10" name="outil-2-icone" descr="preencoded.png">    </p:cNvPr>
          <p:cNvPicPr>
            <a:picLocks noChangeAspect="1"/>
          </p:cNvPicPr>
          <p:nvPr/>
        </p:nvPicPr>
        <p:blipFill>
          <a:blip r:embed="rId2"/>
          <a:stretch>
            <a:fillRect/>
          </a:stretch>
        </p:blipFill>
        <p:spPr>
          <a:xfrm>
            <a:off x="3377794" y="1823314"/>
            <a:ext cx="285293" cy="285293"/>
          </a:xfrm>
          <a:prstGeom prst="rect">
            <a:avLst/>
          </a:prstGeom>
        </p:spPr>
      </p:pic>
      <p:sp>
        <p:nvSpPr>
          <p:cNvPr id="11" name="outil-2-nom"/>
          <p:cNvSpPr txBox="1"/>
          <p:nvPr/>
        </p:nvSpPr>
        <p:spPr>
          <a:xfrm>
            <a:off x="3246120" y="2331720"/>
            <a:ext cx="1828800" cy="365760"/>
          </a:xfrm>
          <a:prstGeom prst="rect">
            <a:avLst/>
          </a:prstGeom>
          <a:noFill/>
          <a:ln/>
        </p:spPr>
        <p:txBody>
          <a:bodyPr wrap="square" lIns="0" tIns="0" rIns="0" bIns="0" rtlCol="0" anchor="ctr"/>
          <a:lstStyle/>
          <a:p>
            <a:pPr indent="0" marL="0">
              <a:buNone/>
            </a:pPr>
            <a:r>
              <a:rPr lang="en-US" sz="1900" b="1" dirty="0">
                <a:solidFill>
                  <a:schemeClr val="tx2"/>
                </a:solidFill>
                <a:latin typeface="Barlow Condensed" pitchFamily="34" charset="0"/>
                <a:ea typeface="Barlow Condensed" pitchFamily="34" charset="-122"/>
                <a:cs typeface="Barlow Condensed" pitchFamily="34" charset="-120"/>
              </a:rPr>
              <a:t>PDF par e-mail</a:t>
            </a:r>
            <a:endParaRPr lang="en-US" sz="1900" dirty="0"/>
          </a:p>
        </p:txBody>
      </p:sp>
      <p:sp>
        <p:nvSpPr>
          <p:cNvPr id="12" name="outil-2-usage"/>
          <p:cNvSpPr txBox="1"/>
          <p:nvPr/>
        </p:nvSpPr>
        <p:spPr>
          <a:xfrm>
            <a:off x="3246120" y="2697480"/>
            <a:ext cx="1828800" cy="640080"/>
          </a:xfrm>
          <a:prstGeom prst="rect">
            <a:avLst/>
          </a:prstGeom>
          <a:noFill/>
          <a:ln/>
        </p:spPr>
        <p:txBody>
          <a:bodyPr wrap="square" lIns="0" tIns="0" rIns="0" bIns="0" rtlCol="0" anchor="t"/>
          <a:lstStyle/>
          <a:p>
            <a:pPr indent="0" marL="0">
              <a:buNone/>
            </a:pPr>
            <a:r>
              <a:rPr lang="en-US" sz="1300" dirty="0">
                <a:solidFill>
                  <a:schemeClr val="accent4"/>
                </a:solidFill>
                <a:latin typeface="Barlow" pitchFamily="34" charset="0"/>
                <a:ea typeface="Barlow" pitchFamily="34" charset="-122"/>
                <a:cs typeface="Barlow" pitchFamily="34" charset="-120"/>
              </a:rPr>
              <a:t>L'emploi du temps du mois, à re-télécharger à chaque changement</a:t>
            </a:r>
            <a:endParaRPr lang="en-US" sz="1300" dirty="0"/>
          </a:p>
        </p:txBody>
      </p:sp>
      <p:sp>
        <p:nvSpPr>
          <p:cNvPr id="13" name="outil-3-carte"/>
          <p:cNvSpPr/>
          <p:nvPr/>
        </p:nvSpPr>
        <p:spPr>
          <a:xfrm>
            <a:off x="5486400" y="1463040"/>
            <a:ext cx="2240280" cy="1965960"/>
          </a:xfrm>
          <a:prstGeom prst="roundRect">
            <a:avLst>
              <a:gd name="adj" fmla="val 5581"/>
            </a:avLst>
          </a:prstGeom>
          <a:solidFill>
            <a:schemeClr val="bg2"/>
          </a:solidFill>
          <a:ln w="12700">
            <a:solidFill>
              <a:schemeClr val="bg2"/>
            </a:solidFill>
            <a:prstDash val="solid"/>
          </a:ln>
        </p:spPr>
      </p:sp>
      <p:sp>
        <p:nvSpPr>
          <p:cNvPr id="14" name="outil-3-rond"/>
          <p:cNvSpPr/>
          <p:nvPr/>
        </p:nvSpPr>
        <p:spPr>
          <a:xfrm>
            <a:off x="5715000" y="1691640"/>
            <a:ext cx="548640" cy="548640"/>
          </a:xfrm>
          <a:prstGeom prst="ellipse">
            <a:avLst/>
          </a:prstGeom>
          <a:solidFill>
            <a:schemeClr val="tx2"/>
          </a:solidFill>
          <a:ln w="12700">
            <a:solidFill>
              <a:schemeClr val="tx2"/>
            </a:solidFill>
            <a:prstDash val="solid"/>
          </a:ln>
        </p:spPr>
      </p:sp>
      <p:pic>
        <p:nvPicPr>
          <p:cNvPr id="15" name="outil-3-icone" descr="preencoded.png">    </p:cNvPr>
          <p:cNvPicPr>
            <a:picLocks noChangeAspect="1"/>
          </p:cNvPicPr>
          <p:nvPr/>
        </p:nvPicPr>
        <p:blipFill>
          <a:blip r:embed="rId3"/>
          <a:stretch>
            <a:fillRect/>
          </a:stretch>
        </p:blipFill>
        <p:spPr>
          <a:xfrm>
            <a:off x="5846674" y="1823314"/>
            <a:ext cx="285293" cy="285293"/>
          </a:xfrm>
          <a:prstGeom prst="rect">
            <a:avLst/>
          </a:prstGeom>
        </p:spPr>
      </p:pic>
      <p:sp>
        <p:nvSpPr>
          <p:cNvPr id="16" name="outil-3-nom"/>
          <p:cNvSpPr txBox="1"/>
          <p:nvPr/>
        </p:nvSpPr>
        <p:spPr>
          <a:xfrm>
            <a:off x="5715000" y="2331720"/>
            <a:ext cx="1828800" cy="365760"/>
          </a:xfrm>
          <a:prstGeom prst="rect">
            <a:avLst/>
          </a:prstGeom>
          <a:noFill/>
          <a:ln/>
        </p:spPr>
        <p:txBody>
          <a:bodyPr wrap="square" lIns="0" tIns="0" rIns="0" bIns="0" rtlCol="0" anchor="ctr"/>
          <a:lstStyle/>
          <a:p>
            <a:pPr indent="0" marL="0">
              <a:buNone/>
            </a:pPr>
            <a:r>
              <a:rPr lang="en-US" sz="1900" b="1" dirty="0">
                <a:solidFill>
                  <a:schemeClr val="tx2"/>
                </a:solidFill>
                <a:latin typeface="Barlow Condensed" pitchFamily="34" charset="0"/>
                <a:ea typeface="Barlow Condensed" pitchFamily="34" charset="-122"/>
                <a:cs typeface="Barlow Condensed" pitchFamily="34" charset="-120"/>
              </a:rPr>
              <a:t>Groupes WhatsApp</a:t>
            </a:r>
            <a:endParaRPr lang="en-US" sz="1900" dirty="0"/>
          </a:p>
        </p:txBody>
      </p:sp>
      <p:sp>
        <p:nvSpPr>
          <p:cNvPr id="17" name="outil-3-usage"/>
          <p:cNvSpPr txBox="1"/>
          <p:nvPr/>
        </p:nvSpPr>
        <p:spPr>
          <a:xfrm>
            <a:off x="5715000" y="2697480"/>
            <a:ext cx="1828800" cy="640080"/>
          </a:xfrm>
          <a:prstGeom prst="rect">
            <a:avLst/>
          </a:prstGeom>
          <a:noFill/>
          <a:ln/>
        </p:spPr>
        <p:txBody>
          <a:bodyPr wrap="square" lIns="0" tIns="0" rIns="0" bIns="0" rtlCol="0" anchor="t"/>
          <a:lstStyle/>
          <a:p>
            <a:pPr indent="0" marL="0">
              <a:buNone/>
            </a:pPr>
            <a:r>
              <a:rPr lang="en-US" sz="1300" dirty="0">
                <a:solidFill>
                  <a:schemeClr val="accent4"/>
                </a:solidFill>
                <a:latin typeface="Barlow" pitchFamily="34" charset="0"/>
                <a:ea typeface="Barlow" pitchFamily="34" charset="-122"/>
                <a:cs typeface="Barlow" pitchFamily="34" charset="-120"/>
              </a:rPr>
              <a:t>Reports et changements de salle de dernière minute</a:t>
            </a:r>
            <a:endParaRPr lang="en-US" sz="1300" dirty="0"/>
          </a:p>
        </p:txBody>
      </p:sp>
      <p:sp>
        <p:nvSpPr>
          <p:cNvPr id="18" name="outil-4-carte"/>
          <p:cNvSpPr/>
          <p:nvPr/>
        </p:nvSpPr>
        <p:spPr>
          <a:xfrm>
            <a:off x="548640" y="3657600"/>
            <a:ext cx="2240280" cy="1965960"/>
          </a:xfrm>
          <a:prstGeom prst="roundRect">
            <a:avLst>
              <a:gd name="adj" fmla="val 5581"/>
            </a:avLst>
          </a:prstGeom>
          <a:solidFill>
            <a:schemeClr val="bg2"/>
          </a:solidFill>
          <a:ln w="12700">
            <a:solidFill>
              <a:schemeClr val="bg2"/>
            </a:solidFill>
            <a:prstDash val="solid"/>
          </a:ln>
        </p:spPr>
      </p:sp>
      <p:sp>
        <p:nvSpPr>
          <p:cNvPr id="19" name="outil-4-rond"/>
          <p:cNvSpPr/>
          <p:nvPr/>
        </p:nvSpPr>
        <p:spPr>
          <a:xfrm>
            <a:off x="777240" y="3886200"/>
            <a:ext cx="548640" cy="548640"/>
          </a:xfrm>
          <a:prstGeom prst="ellipse">
            <a:avLst/>
          </a:prstGeom>
          <a:solidFill>
            <a:schemeClr val="tx2"/>
          </a:solidFill>
          <a:ln w="12700">
            <a:solidFill>
              <a:schemeClr val="tx2"/>
            </a:solidFill>
            <a:prstDash val="solid"/>
          </a:ln>
        </p:spPr>
      </p:sp>
      <p:pic>
        <p:nvPicPr>
          <p:cNvPr id="20" name="outil-4-icone" descr="preencoded.png">    </p:cNvPr>
          <p:cNvPicPr>
            <a:picLocks noChangeAspect="1"/>
          </p:cNvPicPr>
          <p:nvPr/>
        </p:nvPicPr>
        <p:blipFill>
          <a:blip r:embed="rId4"/>
          <a:stretch>
            <a:fillRect/>
          </a:stretch>
        </p:blipFill>
        <p:spPr>
          <a:xfrm>
            <a:off x="908914" y="4017874"/>
            <a:ext cx="285293" cy="285293"/>
          </a:xfrm>
          <a:prstGeom prst="rect">
            <a:avLst/>
          </a:prstGeom>
        </p:spPr>
      </p:pic>
      <p:sp>
        <p:nvSpPr>
          <p:cNvPr id="21" name="outil-4-nom"/>
          <p:cNvSpPr txBox="1"/>
          <p:nvPr/>
        </p:nvSpPr>
        <p:spPr>
          <a:xfrm>
            <a:off x="777240" y="4526280"/>
            <a:ext cx="1828800" cy="365760"/>
          </a:xfrm>
          <a:prstGeom prst="rect">
            <a:avLst/>
          </a:prstGeom>
          <a:noFill/>
          <a:ln/>
        </p:spPr>
        <p:txBody>
          <a:bodyPr wrap="square" lIns="0" tIns="0" rIns="0" bIns="0" rtlCol="0" anchor="ctr"/>
          <a:lstStyle/>
          <a:p>
            <a:pPr indent="0" marL="0">
              <a:buNone/>
            </a:pPr>
            <a:r>
              <a:rPr lang="en-US" sz="1900" b="1" dirty="0">
                <a:solidFill>
                  <a:schemeClr val="tx2"/>
                </a:solidFill>
                <a:latin typeface="Barlow Condensed" pitchFamily="34" charset="0"/>
                <a:ea typeface="Barlow Condensed" pitchFamily="34" charset="-122"/>
                <a:cs typeface="Barlow Condensed" pitchFamily="34" charset="-120"/>
              </a:rPr>
              <a:t>Google Classroom</a:t>
            </a:r>
            <a:endParaRPr lang="en-US" sz="1900" dirty="0"/>
          </a:p>
        </p:txBody>
      </p:sp>
      <p:sp>
        <p:nvSpPr>
          <p:cNvPr id="22" name="outil-4-usage"/>
          <p:cNvSpPr txBox="1"/>
          <p:nvPr/>
        </p:nvSpPr>
        <p:spPr>
          <a:xfrm>
            <a:off x="777240" y="4892040"/>
            <a:ext cx="1828800" cy="640080"/>
          </a:xfrm>
          <a:prstGeom prst="rect">
            <a:avLst/>
          </a:prstGeom>
          <a:noFill/>
          <a:ln/>
        </p:spPr>
        <p:txBody>
          <a:bodyPr wrap="square" lIns="0" tIns="0" rIns="0" bIns="0" rtlCol="0" anchor="t"/>
          <a:lstStyle/>
          <a:p>
            <a:pPr indent="0" marL="0">
              <a:buNone/>
            </a:pPr>
            <a:r>
              <a:rPr lang="en-US" sz="1300" dirty="0">
                <a:solidFill>
                  <a:schemeClr val="accent4"/>
                </a:solidFill>
                <a:latin typeface="Barlow" pitchFamily="34" charset="0"/>
                <a:ea typeface="Barlow" pitchFamily="34" charset="-122"/>
                <a:cs typeface="Barlow" pitchFamily="34" charset="-120"/>
              </a:rPr>
              <a:t>Devoirs et échanges avec les enseignants</a:t>
            </a:r>
            <a:endParaRPr lang="en-US" sz="1300" dirty="0"/>
          </a:p>
        </p:txBody>
      </p:sp>
      <p:sp>
        <p:nvSpPr>
          <p:cNvPr id="23" name="outil-5-carte"/>
          <p:cNvSpPr/>
          <p:nvPr/>
        </p:nvSpPr>
        <p:spPr>
          <a:xfrm>
            <a:off x="3017520" y="3657600"/>
            <a:ext cx="2240280" cy="1965960"/>
          </a:xfrm>
          <a:prstGeom prst="roundRect">
            <a:avLst>
              <a:gd name="adj" fmla="val 5581"/>
            </a:avLst>
          </a:prstGeom>
          <a:solidFill>
            <a:schemeClr val="bg2"/>
          </a:solidFill>
          <a:ln w="12700">
            <a:solidFill>
              <a:schemeClr val="bg2"/>
            </a:solidFill>
            <a:prstDash val="solid"/>
          </a:ln>
        </p:spPr>
      </p:sp>
      <p:sp>
        <p:nvSpPr>
          <p:cNvPr id="24" name="outil-5-rond"/>
          <p:cNvSpPr/>
          <p:nvPr/>
        </p:nvSpPr>
        <p:spPr>
          <a:xfrm>
            <a:off x="3246120" y="3886200"/>
            <a:ext cx="548640" cy="548640"/>
          </a:xfrm>
          <a:prstGeom prst="ellipse">
            <a:avLst/>
          </a:prstGeom>
          <a:solidFill>
            <a:schemeClr val="tx2"/>
          </a:solidFill>
          <a:ln w="12700">
            <a:solidFill>
              <a:schemeClr val="tx2"/>
            </a:solidFill>
            <a:prstDash val="solid"/>
          </a:ln>
        </p:spPr>
      </p:sp>
      <p:pic>
        <p:nvPicPr>
          <p:cNvPr id="25" name="outil-5-icone" descr="preencoded.png">    </p:cNvPr>
          <p:cNvPicPr>
            <a:picLocks noChangeAspect="1"/>
          </p:cNvPicPr>
          <p:nvPr/>
        </p:nvPicPr>
        <p:blipFill>
          <a:blip r:embed="rId5"/>
          <a:stretch>
            <a:fillRect/>
          </a:stretch>
        </p:blipFill>
        <p:spPr>
          <a:xfrm>
            <a:off x="3377794" y="4017874"/>
            <a:ext cx="285293" cy="285293"/>
          </a:xfrm>
          <a:prstGeom prst="rect">
            <a:avLst/>
          </a:prstGeom>
        </p:spPr>
      </p:pic>
      <p:sp>
        <p:nvSpPr>
          <p:cNvPr id="26" name="outil-5-nom"/>
          <p:cNvSpPr txBox="1"/>
          <p:nvPr/>
        </p:nvSpPr>
        <p:spPr>
          <a:xfrm>
            <a:off x="3246120" y="4526280"/>
            <a:ext cx="1828800" cy="365760"/>
          </a:xfrm>
          <a:prstGeom prst="rect">
            <a:avLst/>
          </a:prstGeom>
          <a:noFill/>
          <a:ln/>
        </p:spPr>
        <p:txBody>
          <a:bodyPr wrap="square" lIns="0" tIns="0" rIns="0" bIns="0" rtlCol="0" anchor="ctr"/>
          <a:lstStyle/>
          <a:p>
            <a:pPr indent="0" marL="0">
              <a:buNone/>
            </a:pPr>
            <a:r>
              <a:rPr lang="en-US" sz="1900" b="1" dirty="0">
                <a:solidFill>
                  <a:schemeClr val="tx2"/>
                </a:solidFill>
                <a:latin typeface="Barlow Condensed" pitchFamily="34" charset="0"/>
                <a:ea typeface="Barlow Condensed" pitchFamily="34" charset="-122"/>
                <a:cs typeface="Barlow Condensed" pitchFamily="34" charset="-120"/>
              </a:rPr>
              <a:t>Moodle</a:t>
            </a:r>
            <a:endParaRPr lang="en-US" sz="1900" dirty="0"/>
          </a:p>
        </p:txBody>
      </p:sp>
      <p:sp>
        <p:nvSpPr>
          <p:cNvPr id="27" name="outil-5-usage"/>
          <p:cNvSpPr txBox="1"/>
          <p:nvPr/>
        </p:nvSpPr>
        <p:spPr>
          <a:xfrm>
            <a:off x="3246120" y="4892040"/>
            <a:ext cx="1828800" cy="640080"/>
          </a:xfrm>
          <a:prstGeom prst="rect">
            <a:avLst/>
          </a:prstGeom>
          <a:noFill/>
          <a:ln/>
        </p:spPr>
        <p:txBody>
          <a:bodyPr wrap="square" lIns="0" tIns="0" rIns="0" bIns="0" rtlCol="0" anchor="t"/>
          <a:lstStyle/>
          <a:p>
            <a:pPr indent="0" marL="0">
              <a:buNone/>
            </a:pPr>
            <a:r>
              <a:rPr lang="en-US" sz="1300" dirty="0">
                <a:solidFill>
                  <a:schemeClr val="accent4"/>
                </a:solidFill>
                <a:latin typeface="Barlow" pitchFamily="34" charset="0"/>
                <a:ea typeface="Barlow" pitchFamily="34" charset="-122"/>
                <a:cs typeface="Barlow" pitchFamily="34" charset="-120"/>
              </a:rPr>
              <a:t>Cours et supports en ligne</a:t>
            </a:r>
            <a:endParaRPr lang="en-US" sz="1300" dirty="0"/>
          </a:p>
        </p:txBody>
      </p:sp>
      <p:sp>
        <p:nvSpPr>
          <p:cNvPr id="28" name="outil-6-carte"/>
          <p:cNvSpPr/>
          <p:nvPr/>
        </p:nvSpPr>
        <p:spPr>
          <a:xfrm>
            <a:off x="5486400" y="3657600"/>
            <a:ext cx="2240280" cy="1965960"/>
          </a:xfrm>
          <a:prstGeom prst="roundRect">
            <a:avLst>
              <a:gd name="adj" fmla="val 5581"/>
            </a:avLst>
          </a:prstGeom>
          <a:solidFill>
            <a:schemeClr val="bg2"/>
          </a:solidFill>
          <a:ln w="12700">
            <a:solidFill>
              <a:schemeClr val="bg2"/>
            </a:solidFill>
            <a:prstDash val="solid"/>
          </a:ln>
        </p:spPr>
      </p:sp>
      <p:sp>
        <p:nvSpPr>
          <p:cNvPr id="29" name="outil-6-rond"/>
          <p:cNvSpPr/>
          <p:nvPr/>
        </p:nvSpPr>
        <p:spPr>
          <a:xfrm>
            <a:off x="5715000" y="3886200"/>
            <a:ext cx="548640" cy="548640"/>
          </a:xfrm>
          <a:prstGeom prst="ellipse">
            <a:avLst/>
          </a:prstGeom>
          <a:solidFill>
            <a:schemeClr val="tx2"/>
          </a:solidFill>
          <a:ln w="12700">
            <a:solidFill>
              <a:schemeClr val="tx2"/>
            </a:solidFill>
            <a:prstDash val="solid"/>
          </a:ln>
        </p:spPr>
      </p:sp>
      <p:pic>
        <p:nvPicPr>
          <p:cNvPr id="30" name="outil-6-icone" descr="preencoded.png">    </p:cNvPr>
          <p:cNvPicPr>
            <a:picLocks noChangeAspect="1"/>
          </p:cNvPicPr>
          <p:nvPr/>
        </p:nvPicPr>
        <p:blipFill>
          <a:blip r:embed="rId6"/>
          <a:stretch>
            <a:fillRect/>
          </a:stretch>
        </p:blipFill>
        <p:spPr>
          <a:xfrm>
            <a:off x="5846674" y="4017874"/>
            <a:ext cx="285293" cy="285293"/>
          </a:xfrm>
          <a:prstGeom prst="rect">
            <a:avLst/>
          </a:prstGeom>
        </p:spPr>
      </p:pic>
      <p:sp>
        <p:nvSpPr>
          <p:cNvPr id="31" name="outil-6-nom"/>
          <p:cNvSpPr txBox="1"/>
          <p:nvPr/>
        </p:nvSpPr>
        <p:spPr>
          <a:xfrm>
            <a:off x="5715000" y="4526280"/>
            <a:ext cx="1828800" cy="365760"/>
          </a:xfrm>
          <a:prstGeom prst="rect">
            <a:avLst/>
          </a:prstGeom>
          <a:noFill/>
          <a:ln/>
        </p:spPr>
        <p:txBody>
          <a:bodyPr wrap="square" lIns="0" tIns="0" rIns="0" bIns="0" rtlCol="0" anchor="ctr"/>
          <a:lstStyle/>
          <a:p>
            <a:pPr indent="0" marL="0">
              <a:buNone/>
            </a:pPr>
            <a:r>
              <a:rPr lang="en-US" sz="1900" b="1" dirty="0">
                <a:solidFill>
                  <a:schemeClr val="tx2"/>
                </a:solidFill>
                <a:latin typeface="Barlow Condensed" pitchFamily="34" charset="0"/>
                <a:ea typeface="Barlow Condensed" pitchFamily="34" charset="-122"/>
                <a:cs typeface="Barlow Condensed" pitchFamily="34" charset="-120"/>
              </a:rPr>
              <a:t>Sites de jeux</a:t>
            </a:r>
            <a:endParaRPr lang="en-US" sz="1900" dirty="0"/>
          </a:p>
        </p:txBody>
      </p:sp>
      <p:sp>
        <p:nvSpPr>
          <p:cNvPr id="32" name="outil-6-usage"/>
          <p:cNvSpPr txBox="1"/>
          <p:nvPr/>
        </p:nvSpPr>
        <p:spPr>
          <a:xfrm>
            <a:off x="5715000" y="4892040"/>
            <a:ext cx="1828800" cy="640080"/>
          </a:xfrm>
          <a:prstGeom prst="rect">
            <a:avLst/>
          </a:prstGeom>
          <a:noFill/>
          <a:ln/>
        </p:spPr>
        <p:txBody>
          <a:bodyPr wrap="square" lIns="0" tIns="0" rIns="0" bIns="0" rtlCol="0" anchor="t"/>
          <a:lstStyle/>
          <a:p>
            <a:pPr indent="0" marL="0">
              <a:buNone/>
            </a:pPr>
            <a:r>
              <a:rPr lang="en-US" sz="1300" dirty="0">
                <a:solidFill>
                  <a:schemeClr val="accent4"/>
                </a:solidFill>
                <a:latin typeface="Barlow" pitchFamily="34" charset="0"/>
                <a:ea typeface="Barlow" pitchFamily="34" charset="-122"/>
                <a:cs typeface="Barlow" pitchFamily="34" charset="-120"/>
              </a:rPr>
              <a:t>Quiz et jeux externes, en anglais et dans d'autres matières</a:t>
            </a:r>
            <a:endParaRPr lang="en-US" sz="1300" dirty="0"/>
          </a:p>
        </p:txBody>
      </p:sp>
      <p:sp>
        <p:nvSpPr>
          <p:cNvPr id="33" name="consequences-panneau"/>
          <p:cNvSpPr/>
          <p:nvPr/>
        </p:nvSpPr>
        <p:spPr>
          <a:xfrm>
            <a:off x="8092440" y="1463040"/>
            <a:ext cx="3547872" cy="4160520"/>
          </a:xfrm>
          <a:prstGeom prst="roundRect">
            <a:avLst>
              <a:gd name="adj" fmla="val 3093"/>
            </a:avLst>
          </a:prstGeom>
          <a:solidFill>
            <a:schemeClr val="tx2"/>
          </a:solidFill>
          <a:ln w="12700">
            <a:solidFill>
              <a:schemeClr val="tx2"/>
            </a:solidFill>
            <a:prstDash val="solid"/>
          </a:ln>
        </p:spPr>
      </p:sp>
      <p:sp>
        <p:nvSpPr>
          <p:cNvPr id="34" name="consequences-titre"/>
          <p:cNvSpPr txBox="1"/>
          <p:nvPr/>
        </p:nvSpPr>
        <p:spPr>
          <a:xfrm>
            <a:off x="8366760" y="1691640"/>
            <a:ext cx="2999232" cy="457200"/>
          </a:xfrm>
          <a:prstGeom prst="rect">
            <a:avLst/>
          </a:prstGeom>
          <a:noFill/>
          <a:ln/>
        </p:spPr>
        <p:txBody>
          <a:bodyPr wrap="square" lIns="0" tIns="0" rIns="0" bIns="0" rtlCol="0" anchor="ctr"/>
          <a:lstStyle/>
          <a:p>
            <a:pPr indent="0" marL="0">
              <a:buNone/>
            </a:pPr>
            <a:r>
              <a:rPr lang="en-US" sz="2200" b="1" dirty="0">
                <a:solidFill>
                  <a:schemeClr val="accent1"/>
                </a:solidFill>
                <a:latin typeface="Barlow Condensed" pitchFamily="34" charset="0"/>
                <a:ea typeface="Barlow Condensed" pitchFamily="34" charset="-122"/>
                <a:cs typeface="Barlow Condensed" pitchFamily="34" charset="-120"/>
              </a:rPr>
              <a:t>6 outils qui ne se parlent pas</a:t>
            </a:r>
            <a:endParaRPr lang="en-US" sz="2200" dirty="0"/>
          </a:p>
        </p:txBody>
      </p:sp>
      <p:pic>
        <p:nvPicPr>
          <p:cNvPr id="35" name="consequence-1-icone" descr="preencoded.png">    </p:cNvPr>
          <p:cNvPicPr>
            <a:picLocks noChangeAspect="1"/>
          </p:cNvPicPr>
          <p:nvPr/>
        </p:nvPicPr>
        <p:blipFill>
          <a:blip r:embed="rId7"/>
          <a:stretch>
            <a:fillRect/>
          </a:stretch>
        </p:blipFill>
        <p:spPr>
          <a:xfrm>
            <a:off x="8366760" y="2423160"/>
            <a:ext cx="347472" cy="347472"/>
          </a:xfrm>
          <a:prstGeom prst="rect">
            <a:avLst/>
          </a:prstGeom>
        </p:spPr>
      </p:pic>
      <p:sp>
        <p:nvSpPr>
          <p:cNvPr id="36" name="consequence-1"/>
          <p:cNvSpPr txBox="1"/>
          <p:nvPr/>
        </p:nvSpPr>
        <p:spPr>
          <a:xfrm>
            <a:off x="8869680" y="2377440"/>
            <a:ext cx="2496312" cy="914400"/>
          </a:xfrm>
          <a:prstGeom prst="rect">
            <a:avLst/>
          </a:prstGeom>
          <a:noFill/>
          <a:ln/>
        </p:spPr>
        <p:txBody>
          <a:bodyPr wrap="square" lIns="0" tIns="0" rIns="0" bIns="0" rtlCol="0" anchor="t"/>
          <a:lstStyle/>
          <a:p>
            <a:pPr indent="0" marL="0">
              <a:buNone/>
            </a:pPr>
            <a:r>
              <a:rPr lang="en-US" sz="1500" dirty="0">
                <a:solidFill>
                  <a:schemeClr val="bg1"/>
                </a:solidFill>
                <a:latin typeface="Barlow" pitchFamily="34" charset="0"/>
                <a:ea typeface="Barlow" pitchFamily="34" charset="-122"/>
                <a:cs typeface="Barlow" pitchFamily="34" charset="-120"/>
              </a:rPr>
              <a:t>L'information arrive tard : un report se découvre devant une salle vide.</a:t>
            </a:r>
            <a:endParaRPr lang="en-US" sz="1500" dirty="0"/>
          </a:p>
        </p:txBody>
      </p:sp>
      <p:pic>
        <p:nvPicPr>
          <p:cNvPr id="37" name="consequence-2-icone" descr="preencoded.png">    </p:cNvPr>
          <p:cNvPicPr>
            <a:picLocks noChangeAspect="1"/>
          </p:cNvPicPr>
          <p:nvPr/>
        </p:nvPicPr>
        <p:blipFill>
          <a:blip r:embed="rId8"/>
          <a:stretch>
            <a:fillRect/>
          </a:stretch>
        </p:blipFill>
        <p:spPr>
          <a:xfrm>
            <a:off x="8366760" y="3447288"/>
            <a:ext cx="347472" cy="347472"/>
          </a:xfrm>
          <a:prstGeom prst="rect">
            <a:avLst/>
          </a:prstGeom>
        </p:spPr>
      </p:pic>
      <p:sp>
        <p:nvSpPr>
          <p:cNvPr id="38" name="consequence-2"/>
          <p:cNvSpPr txBox="1"/>
          <p:nvPr/>
        </p:nvSpPr>
        <p:spPr>
          <a:xfrm>
            <a:off x="8869680" y="3401568"/>
            <a:ext cx="2496312" cy="914400"/>
          </a:xfrm>
          <a:prstGeom prst="rect">
            <a:avLst/>
          </a:prstGeom>
          <a:noFill/>
          <a:ln/>
        </p:spPr>
        <p:txBody>
          <a:bodyPr wrap="square" lIns="0" tIns="0" rIns="0" bIns="0" rtlCol="0" anchor="t"/>
          <a:lstStyle/>
          <a:p>
            <a:pPr indent="0" marL="0">
              <a:buNone/>
            </a:pPr>
            <a:r>
              <a:rPr lang="en-US" sz="1500" dirty="0">
                <a:solidFill>
                  <a:schemeClr val="bg1"/>
                </a:solidFill>
                <a:latin typeface="Barlow" pitchFamily="34" charset="0"/>
                <a:ea typeface="Barlow" pitchFamily="34" charset="-122"/>
                <a:cs typeface="Barlow" pitchFamily="34" charset="-120"/>
              </a:rPr>
              <a:t>Les équipes saisissent et renvoient la même information plusieurs fois.</a:t>
            </a:r>
            <a:endParaRPr lang="en-US" sz="1500" dirty="0"/>
          </a:p>
        </p:txBody>
      </p:sp>
      <p:pic>
        <p:nvPicPr>
          <p:cNvPr id="39" name="consequence-3-icone" descr="preencoded.png">    </p:cNvPr>
          <p:cNvPicPr>
            <a:picLocks noChangeAspect="1"/>
          </p:cNvPicPr>
          <p:nvPr/>
        </p:nvPicPr>
        <p:blipFill>
          <a:blip r:embed="rId9"/>
          <a:stretch>
            <a:fillRect/>
          </a:stretch>
        </p:blipFill>
        <p:spPr>
          <a:xfrm>
            <a:off x="8366760" y="4471416"/>
            <a:ext cx="347472" cy="347472"/>
          </a:xfrm>
          <a:prstGeom prst="rect">
            <a:avLst/>
          </a:prstGeom>
        </p:spPr>
      </p:pic>
      <p:sp>
        <p:nvSpPr>
          <p:cNvPr id="40" name="consequence-3"/>
          <p:cNvSpPr txBox="1"/>
          <p:nvPr/>
        </p:nvSpPr>
        <p:spPr>
          <a:xfrm>
            <a:off x="8869680" y="4425696"/>
            <a:ext cx="2496312" cy="914400"/>
          </a:xfrm>
          <a:prstGeom prst="rect">
            <a:avLst/>
          </a:prstGeom>
          <a:noFill/>
          <a:ln/>
        </p:spPr>
        <p:txBody>
          <a:bodyPr wrap="square" lIns="0" tIns="0" rIns="0" bIns="0" rtlCol="0" anchor="t"/>
          <a:lstStyle/>
          <a:p>
            <a:pPr indent="0" marL="0">
              <a:buNone/>
            </a:pPr>
            <a:r>
              <a:rPr lang="en-US" sz="1500" dirty="0">
                <a:solidFill>
                  <a:schemeClr val="bg1"/>
                </a:solidFill>
                <a:latin typeface="Barlow" pitchFamily="34" charset="0"/>
                <a:ea typeface="Barlow" pitchFamily="34" charset="-122"/>
                <a:cs typeface="Barlow" pitchFamily="34" charset="-120"/>
              </a:rPr>
              <a:t>Les données des étudiants sont dispersées chez des services externes.</a:t>
            </a:r>
            <a:endParaRPr lang="en-US" sz="15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Barlow Condensed"/>
                <a:ea typeface="Barlow Condensed"/>
                <a:cs typeface="Barlow Condense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Barlow Condensed" pitchFamily="34" charset="0"/>
                <a:ea typeface="Barlow Condensed" pitchFamily="34" charset="-122"/>
                <a:cs typeface="Barlow Condensed" pitchFamily="34" charset="-120"/>
              </a:rPr>
              <a:t>Une seule application, quatre services</a:t>
            </a:r>
            <a:endParaRPr lang="en-US" sz="3600" dirty="0"/>
          </a:p>
        </p:txBody>
      </p:sp>
      <p:sp>
        <p:nvSpPr>
          <p:cNvPr id="3" name="sous-titre"/>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chemeClr val="accent4"/>
                </a:solidFill>
                <a:latin typeface="Barlow" pitchFamily="34" charset="0"/>
                <a:ea typeface="Barlow" pitchFamily="34" charset="-122"/>
                <a:cs typeface="Barlow" pitchFamily="34" charset="-120"/>
              </a:rPr>
              <a:t>Un seul compte école, sur le téléphone et sur l'ordinateur</a:t>
            </a:r>
            <a:endParaRPr lang="en-US" sz="1600" dirty="0"/>
          </a:p>
        </p:txBody>
      </p:sp>
      <p:sp>
        <p:nvSpPr>
          <p:cNvPr id="4" name="service-1-capture-cadre"/>
          <p:cNvSpPr/>
          <p:nvPr/>
        </p:nvSpPr>
        <p:spPr>
          <a:xfrm>
            <a:off x="1052703" y="1627632"/>
            <a:ext cx="1506474" cy="3191256"/>
          </a:xfrm>
          <a:prstGeom prst="roundRect">
            <a:avLst>
              <a:gd name="adj" fmla="val 10926"/>
            </a:avLst>
          </a:prstGeom>
          <a:solidFill>
            <a:srgbClr val="0B0B0D"/>
          </a:solidFill>
          <a:ln w="12700">
            <a:solidFill>
              <a:srgbClr val="0B0B0D"/>
            </a:solidFill>
            <a:prstDash val="solid"/>
          </a:ln>
          <a:effectLst>
            <a:outerShdw sx="100000" sy="100000" kx="0" ky="0" algn="bl" rotWithShape="0" blurRad="177800" dist="63500" dir="5400000">
              <a:srgbClr val="000000">
                <a:alpha val="35000"/>
              </a:srgbClr>
            </a:outerShdw>
          </a:effectLst>
        </p:spPr>
      </p:sp>
      <p:pic>
        <p:nvPicPr>
          <p:cNvPr id="5" name="service-1-capture" descr="Emploi du temps vivant : Semaine, mois et détail de chaque cours : toujours à jour, sans PDF à rechercher.">    </p:cNvPr>
          <p:cNvPicPr>
            <a:picLocks noChangeAspect="1"/>
          </p:cNvPicPr>
          <p:nvPr/>
        </p:nvPicPr>
        <p:blipFill>
          <a:blip r:embed="rId1"/>
          <a:stretch>
            <a:fillRect/>
          </a:stretch>
        </p:blipFill>
        <p:spPr>
          <a:xfrm>
            <a:off x="1116711" y="1691640"/>
            <a:ext cx="1378458" cy="3063240"/>
          </a:xfrm>
          <a:prstGeom prst="rect">
            <a:avLst/>
          </a:prstGeom>
        </p:spPr>
      </p:pic>
      <p:sp>
        <p:nvSpPr>
          <p:cNvPr id="6" name="service-1-titre"/>
          <p:cNvSpPr txBox="1"/>
          <p:nvPr/>
        </p:nvSpPr>
        <p:spPr>
          <a:xfrm>
            <a:off x="548640" y="4956048"/>
            <a:ext cx="2514600" cy="384048"/>
          </a:xfrm>
          <a:prstGeom prst="rect">
            <a:avLst/>
          </a:prstGeom>
          <a:noFill/>
          <a:ln/>
        </p:spPr>
        <p:txBody>
          <a:bodyPr wrap="square" lIns="0" tIns="0" rIns="0" bIns="0" rtlCol="0" anchor="ctr"/>
          <a:lstStyle/>
          <a:p>
            <a:pPr algn="ctr" indent="0" marL="0">
              <a:buNone/>
            </a:pPr>
            <a:r>
              <a:rPr lang="en-US" sz="2000" b="1" dirty="0">
                <a:solidFill>
                  <a:schemeClr val="tx2"/>
                </a:solidFill>
                <a:latin typeface="Barlow Condensed" pitchFamily="34" charset="0"/>
                <a:ea typeface="Barlow Condensed" pitchFamily="34" charset="-122"/>
                <a:cs typeface="Barlow Condensed" pitchFamily="34" charset="-120"/>
              </a:rPr>
              <a:t>Emploi du temps vivant</a:t>
            </a:r>
            <a:endParaRPr lang="en-US" sz="2000" dirty="0"/>
          </a:p>
        </p:txBody>
      </p:sp>
      <p:sp>
        <p:nvSpPr>
          <p:cNvPr id="7" name="service-1-texte"/>
          <p:cNvSpPr txBox="1"/>
          <p:nvPr/>
        </p:nvSpPr>
        <p:spPr>
          <a:xfrm>
            <a:off x="548640" y="5358384"/>
            <a:ext cx="2514600" cy="777240"/>
          </a:xfrm>
          <a:prstGeom prst="rect">
            <a:avLst/>
          </a:prstGeom>
          <a:noFill/>
          <a:ln/>
        </p:spPr>
        <p:txBody>
          <a:bodyPr wrap="square" lIns="0" tIns="0" rIns="0" bIns="0" rtlCol="0" anchor="t"/>
          <a:lstStyle/>
          <a:p>
            <a:pPr algn="ctr" indent="0" marL="0">
              <a:buNone/>
            </a:pPr>
            <a:r>
              <a:rPr lang="en-US" sz="1300" dirty="0">
                <a:solidFill>
                  <a:schemeClr val="accent4"/>
                </a:solidFill>
                <a:latin typeface="Barlow" pitchFamily="34" charset="0"/>
                <a:ea typeface="Barlow" pitchFamily="34" charset="-122"/>
                <a:cs typeface="Barlow" pitchFamily="34" charset="-120"/>
              </a:rPr>
              <a:t>Semaine, mois et détail de chaque cours : toujours à jour, sans PDF à rechercher.</a:t>
            </a:r>
            <a:endParaRPr lang="en-US" sz="1300" dirty="0"/>
          </a:p>
        </p:txBody>
      </p:sp>
      <p:sp>
        <p:nvSpPr>
          <p:cNvPr id="8" name="service-2-capture-cadre"/>
          <p:cNvSpPr/>
          <p:nvPr/>
        </p:nvSpPr>
        <p:spPr>
          <a:xfrm>
            <a:off x="3902888" y="1627632"/>
            <a:ext cx="1506474" cy="3191256"/>
          </a:xfrm>
          <a:prstGeom prst="roundRect">
            <a:avLst>
              <a:gd name="adj" fmla="val 10926"/>
            </a:avLst>
          </a:prstGeom>
          <a:solidFill>
            <a:srgbClr val="0B0B0D"/>
          </a:solidFill>
          <a:ln w="12700">
            <a:solidFill>
              <a:srgbClr val="0B0B0D"/>
            </a:solidFill>
            <a:prstDash val="solid"/>
          </a:ln>
          <a:effectLst>
            <a:outerShdw sx="100000" sy="100000" kx="0" ky="0" algn="bl" rotWithShape="0" blurRad="177800" dist="63500" dir="5400000">
              <a:srgbClr val="000000">
                <a:alpha val="35000"/>
              </a:srgbClr>
            </a:outerShdw>
          </a:effectLst>
        </p:spPr>
      </p:sp>
      <p:pic>
        <p:nvPicPr>
          <p:cNvPr id="9" name="service-2-capture" descr="Alertes instantanées : Un cours reporté, une salle qui change : l'étudiant est prévenu sur son téléphone.">    </p:cNvPr>
          <p:cNvPicPr>
            <a:picLocks noChangeAspect="1"/>
          </p:cNvPicPr>
          <p:nvPr/>
        </p:nvPicPr>
        <p:blipFill>
          <a:blip r:embed="rId2"/>
          <a:stretch>
            <a:fillRect/>
          </a:stretch>
        </p:blipFill>
        <p:spPr>
          <a:xfrm>
            <a:off x="3966896" y="1691640"/>
            <a:ext cx="1378458" cy="3063240"/>
          </a:xfrm>
          <a:prstGeom prst="rect">
            <a:avLst/>
          </a:prstGeom>
        </p:spPr>
      </p:pic>
      <p:sp>
        <p:nvSpPr>
          <p:cNvPr id="10" name="service-2-titre"/>
          <p:cNvSpPr txBox="1"/>
          <p:nvPr/>
        </p:nvSpPr>
        <p:spPr>
          <a:xfrm>
            <a:off x="3398825" y="4956048"/>
            <a:ext cx="2514600" cy="384048"/>
          </a:xfrm>
          <a:prstGeom prst="rect">
            <a:avLst/>
          </a:prstGeom>
          <a:noFill/>
          <a:ln/>
        </p:spPr>
        <p:txBody>
          <a:bodyPr wrap="square" lIns="0" tIns="0" rIns="0" bIns="0" rtlCol="0" anchor="ctr"/>
          <a:lstStyle/>
          <a:p>
            <a:pPr algn="ctr" indent="0" marL="0">
              <a:buNone/>
            </a:pPr>
            <a:r>
              <a:rPr lang="en-US" sz="2000" b="1" dirty="0">
                <a:solidFill>
                  <a:schemeClr val="tx2"/>
                </a:solidFill>
                <a:latin typeface="Barlow Condensed" pitchFamily="34" charset="0"/>
                <a:ea typeface="Barlow Condensed" pitchFamily="34" charset="-122"/>
                <a:cs typeface="Barlow Condensed" pitchFamily="34" charset="-120"/>
              </a:rPr>
              <a:t>Alertes instantanées</a:t>
            </a:r>
            <a:endParaRPr lang="en-US" sz="2000" dirty="0"/>
          </a:p>
        </p:txBody>
      </p:sp>
      <p:sp>
        <p:nvSpPr>
          <p:cNvPr id="11" name="service-2-texte"/>
          <p:cNvSpPr txBox="1"/>
          <p:nvPr/>
        </p:nvSpPr>
        <p:spPr>
          <a:xfrm>
            <a:off x="3398825" y="5358384"/>
            <a:ext cx="2514600" cy="777240"/>
          </a:xfrm>
          <a:prstGeom prst="rect">
            <a:avLst/>
          </a:prstGeom>
          <a:noFill/>
          <a:ln/>
        </p:spPr>
        <p:txBody>
          <a:bodyPr wrap="square" lIns="0" tIns="0" rIns="0" bIns="0" rtlCol="0" anchor="t"/>
          <a:lstStyle/>
          <a:p>
            <a:pPr algn="ctr" indent="0" marL="0">
              <a:buNone/>
            </a:pPr>
            <a:r>
              <a:rPr lang="en-US" sz="1300" dirty="0">
                <a:solidFill>
                  <a:schemeClr val="accent4"/>
                </a:solidFill>
                <a:latin typeface="Barlow" pitchFamily="34" charset="0"/>
                <a:ea typeface="Barlow" pitchFamily="34" charset="-122"/>
                <a:cs typeface="Barlow" pitchFamily="34" charset="-120"/>
              </a:rPr>
              <a:t>Un cours reporté, une salle qui change : l'étudiant est prévenu sur son téléphone.</a:t>
            </a:r>
            <a:endParaRPr lang="en-US" sz="1300" dirty="0"/>
          </a:p>
        </p:txBody>
      </p:sp>
      <p:sp>
        <p:nvSpPr>
          <p:cNvPr id="12" name="service-3-capture-cadre"/>
          <p:cNvSpPr/>
          <p:nvPr/>
        </p:nvSpPr>
        <p:spPr>
          <a:xfrm>
            <a:off x="6753073" y="1627632"/>
            <a:ext cx="1506474" cy="3191256"/>
          </a:xfrm>
          <a:prstGeom prst="roundRect">
            <a:avLst>
              <a:gd name="adj" fmla="val 10926"/>
            </a:avLst>
          </a:prstGeom>
          <a:solidFill>
            <a:srgbClr val="0B0B0D"/>
          </a:solidFill>
          <a:ln w="12700">
            <a:solidFill>
              <a:srgbClr val="0B0B0D"/>
            </a:solidFill>
            <a:prstDash val="solid"/>
          </a:ln>
          <a:effectLst>
            <a:outerShdw sx="100000" sy="100000" kx="0" ky="0" algn="bl" rotWithShape="0" blurRad="177800" dist="63500" dir="5400000">
              <a:srgbClr val="000000">
                <a:alpha val="35000"/>
              </a:srgbClr>
            </a:outerShdw>
          </a:effectLst>
        </p:spPr>
      </p:sp>
      <p:pic>
        <p:nvPicPr>
          <p:cNvPr id="13" name="service-3-capture" descr="Bibliothèque de cours : Les supports de chaque cours, rangés par module, à portée de main.">    </p:cNvPr>
          <p:cNvPicPr>
            <a:picLocks noChangeAspect="1"/>
          </p:cNvPicPr>
          <p:nvPr/>
        </p:nvPicPr>
        <p:blipFill>
          <a:blip r:embed="rId3"/>
          <a:stretch>
            <a:fillRect/>
          </a:stretch>
        </p:blipFill>
        <p:spPr>
          <a:xfrm>
            <a:off x="6817081" y="1691640"/>
            <a:ext cx="1378458" cy="3063240"/>
          </a:xfrm>
          <a:prstGeom prst="rect">
            <a:avLst/>
          </a:prstGeom>
        </p:spPr>
      </p:pic>
      <p:sp>
        <p:nvSpPr>
          <p:cNvPr id="14" name="service-3-titre"/>
          <p:cNvSpPr txBox="1"/>
          <p:nvPr/>
        </p:nvSpPr>
        <p:spPr>
          <a:xfrm>
            <a:off x="6249010" y="4956048"/>
            <a:ext cx="2514600" cy="384048"/>
          </a:xfrm>
          <a:prstGeom prst="rect">
            <a:avLst/>
          </a:prstGeom>
          <a:noFill/>
          <a:ln/>
        </p:spPr>
        <p:txBody>
          <a:bodyPr wrap="square" lIns="0" tIns="0" rIns="0" bIns="0" rtlCol="0" anchor="ctr"/>
          <a:lstStyle/>
          <a:p>
            <a:pPr algn="ctr" indent="0" marL="0">
              <a:buNone/>
            </a:pPr>
            <a:r>
              <a:rPr lang="en-US" sz="2000" b="1" dirty="0">
                <a:solidFill>
                  <a:schemeClr val="tx2"/>
                </a:solidFill>
                <a:latin typeface="Barlow Condensed" pitchFamily="34" charset="0"/>
                <a:ea typeface="Barlow Condensed" pitchFamily="34" charset="-122"/>
                <a:cs typeface="Barlow Condensed" pitchFamily="34" charset="-120"/>
              </a:rPr>
              <a:t>Bibliothèque de cours</a:t>
            </a:r>
            <a:endParaRPr lang="en-US" sz="2000" dirty="0"/>
          </a:p>
        </p:txBody>
      </p:sp>
      <p:sp>
        <p:nvSpPr>
          <p:cNvPr id="15" name="service-3-texte"/>
          <p:cNvSpPr txBox="1"/>
          <p:nvPr/>
        </p:nvSpPr>
        <p:spPr>
          <a:xfrm>
            <a:off x="6249010" y="5358384"/>
            <a:ext cx="2514600" cy="777240"/>
          </a:xfrm>
          <a:prstGeom prst="rect">
            <a:avLst/>
          </a:prstGeom>
          <a:noFill/>
          <a:ln/>
        </p:spPr>
        <p:txBody>
          <a:bodyPr wrap="square" lIns="0" tIns="0" rIns="0" bIns="0" rtlCol="0" anchor="t"/>
          <a:lstStyle/>
          <a:p>
            <a:pPr algn="ctr" indent="0" marL="0">
              <a:buNone/>
            </a:pPr>
            <a:r>
              <a:rPr lang="en-US" sz="1300" dirty="0">
                <a:solidFill>
                  <a:schemeClr val="accent4"/>
                </a:solidFill>
                <a:latin typeface="Barlow" pitchFamily="34" charset="0"/>
                <a:ea typeface="Barlow" pitchFamily="34" charset="-122"/>
                <a:cs typeface="Barlow" pitchFamily="34" charset="-120"/>
              </a:rPr>
              <a:t>Les supports de chaque cours, rangés par module, à portée de main.</a:t>
            </a:r>
            <a:endParaRPr lang="en-US" sz="1300" dirty="0"/>
          </a:p>
        </p:txBody>
      </p:sp>
      <p:sp>
        <p:nvSpPr>
          <p:cNvPr id="16" name="service-4-capture-cadre"/>
          <p:cNvSpPr/>
          <p:nvPr/>
        </p:nvSpPr>
        <p:spPr>
          <a:xfrm>
            <a:off x="9603257" y="1627632"/>
            <a:ext cx="1506474" cy="3191256"/>
          </a:xfrm>
          <a:prstGeom prst="roundRect">
            <a:avLst>
              <a:gd name="adj" fmla="val 10926"/>
            </a:avLst>
          </a:prstGeom>
          <a:solidFill>
            <a:srgbClr val="0B0B0D"/>
          </a:solidFill>
          <a:ln w="12700">
            <a:solidFill>
              <a:srgbClr val="0B0B0D"/>
            </a:solidFill>
            <a:prstDash val="solid"/>
          </a:ln>
          <a:effectLst>
            <a:outerShdw sx="100000" sy="100000" kx="0" ky="0" algn="bl" rotWithShape="0" blurRad="177800" dist="63500" dir="5400000">
              <a:srgbClr val="000000">
                <a:alpha val="35000"/>
              </a:srgbClr>
            </a:outerShdw>
          </a:effectLst>
        </p:spPr>
      </p:sp>
      <p:pic>
        <p:nvPicPr>
          <p:cNvPr id="17" name="service-4-capture" descr="Jeux et quiz : Quiz en classe, devoirs notés automatiquement, défis : les résultats restent à l'école.">    </p:cNvPr>
          <p:cNvPicPr>
            <a:picLocks noChangeAspect="1"/>
          </p:cNvPicPr>
          <p:nvPr/>
        </p:nvPicPr>
        <p:blipFill>
          <a:blip r:embed="rId4"/>
          <a:stretch>
            <a:fillRect/>
          </a:stretch>
        </p:blipFill>
        <p:spPr>
          <a:xfrm>
            <a:off x="9667265" y="1691640"/>
            <a:ext cx="1378458" cy="3063240"/>
          </a:xfrm>
          <a:prstGeom prst="rect">
            <a:avLst/>
          </a:prstGeom>
        </p:spPr>
      </p:pic>
      <p:sp>
        <p:nvSpPr>
          <p:cNvPr id="18" name="service-4-titre"/>
          <p:cNvSpPr txBox="1"/>
          <p:nvPr/>
        </p:nvSpPr>
        <p:spPr>
          <a:xfrm>
            <a:off x="9099194" y="4956048"/>
            <a:ext cx="2514600" cy="384048"/>
          </a:xfrm>
          <a:prstGeom prst="rect">
            <a:avLst/>
          </a:prstGeom>
          <a:noFill/>
          <a:ln/>
        </p:spPr>
        <p:txBody>
          <a:bodyPr wrap="square" lIns="0" tIns="0" rIns="0" bIns="0" rtlCol="0" anchor="ctr"/>
          <a:lstStyle/>
          <a:p>
            <a:pPr algn="ctr" indent="0" marL="0">
              <a:buNone/>
            </a:pPr>
            <a:r>
              <a:rPr lang="en-US" sz="2000" b="1" dirty="0">
                <a:solidFill>
                  <a:schemeClr val="tx2"/>
                </a:solidFill>
                <a:latin typeface="Barlow Condensed" pitchFamily="34" charset="0"/>
                <a:ea typeface="Barlow Condensed" pitchFamily="34" charset="-122"/>
                <a:cs typeface="Barlow Condensed" pitchFamily="34" charset="-120"/>
              </a:rPr>
              <a:t>Jeux et quiz</a:t>
            </a:r>
            <a:endParaRPr lang="en-US" sz="2000" dirty="0"/>
          </a:p>
        </p:txBody>
      </p:sp>
      <p:sp>
        <p:nvSpPr>
          <p:cNvPr id="19" name="service-4-texte"/>
          <p:cNvSpPr txBox="1"/>
          <p:nvPr/>
        </p:nvSpPr>
        <p:spPr>
          <a:xfrm>
            <a:off x="9099194" y="5358384"/>
            <a:ext cx="2514600" cy="777240"/>
          </a:xfrm>
          <a:prstGeom prst="rect">
            <a:avLst/>
          </a:prstGeom>
          <a:noFill/>
          <a:ln/>
        </p:spPr>
        <p:txBody>
          <a:bodyPr wrap="square" lIns="0" tIns="0" rIns="0" bIns="0" rtlCol="0" anchor="t"/>
          <a:lstStyle/>
          <a:p>
            <a:pPr algn="ctr" indent="0" marL="0">
              <a:buNone/>
            </a:pPr>
            <a:r>
              <a:rPr lang="en-US" sz="1300" dirty="0">
                <a:solidFill>
                  <a:schemeClr val="accent4"/>
                </a:solidFill>
                <a:latin typeface="Barlow" pitchFamily="34" charset="0"/>
                <a:ea typeface="Barlow" pitchFamily="34" charset="-122"/>
                <a:cs typeface="Barlow" pitchFamily="34" charset="-120"/>
              </a:rPr>
              <a:t>Quiz en classe, devoirs notés automatiquement, défis : les résultats restent à l'école.</a:t>
            </a:r>
            <a:endParaRPr lang="en-US" sz="13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Barlow Condensed"/>
                <a:ea typeface="Barlow Condensed"/>
                <a:cs typeface="Barlow Condense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Barlow Condensed" pitchFamily="34" charset="0"/>
                <a:ea typeface="Barlow Condensed" pitchFamily="34" charset="-122"/>
                <a:cs typeface="Barlow Condensed" pitchFamily="34" charset="-120"/>
              </a:rPr>
              <a:t>Ce que la plateforme remplace</a:t>
            </a:r>
            <a:endParaRPr lang="en-US" sz="3600" dirty="0"/>
          </a:p>
        </p:txBody>
      </p:sp>
      <p:sp>
        <p:nvSpPr>
          <p:cNvPr id="3" name="entete-avant"/>
          <p:cNvSpPr txBox="1"/>
          <p:nvPr/>
        </p:nvSpPr>
        <p:spPr>
          <a:xfrm>
            <a:off x="548640" y="1188720"/>
            <a:ext cx="3291840" cy="274320"/>
          </a:xfrm>
          <a:prstGeom prst="rect">
            <a:avLst/>
          </a:prstGeom>
          <a:noFill/>
          <a:ln/>
        </p:spPr>
        <p:txBody>
          <a:bodyPr wrap="square" lIns="0" tIns="0" rIns="0" bIns="0" rtlCol="0" anchor="ctr"/>
          <a:lstStyle/>
          <a:p>
            <a:pPr indent="0" marL="0">
              <a:buNone/>
            </a:pPr>
            <a:r>
              <a:rPr lang="en-US" sz="1300" b="1" spc="300" kern="0" dirty="0">
                <a:solidFill>
                  <a:schemeClr val="accent4"/>
                </a:solidFill>
                <a:latin typeface="Barlow Condensed" pitchFamily="34" charset="0"/>
                <a:ea typeface="Barlow Condensed" pitchFamily="34" charset="-122"/>
                <a:cs typeface="Barlow Condensed" pitchFamily="34" charset="-120"/>
              </a:rPr>
              <a:t>AUJOURD'HUI</a:t>
            </a:r>
            <a:endParaRPr lang="en-US" sz="1300" dirty="0"/>
          </a:p>
        </p:txBody>
      </p:sp>
      <p:sp>
        <p:nvSpPr>
          <p:cNvPr id="4" name="entete-apres"/>
          <p:cNvSpPr txBox="1"/>
          <p:nvPr/>
        </p:nvSpPr>
        <p:spPr>
          <a:xfrm>
            <a:off x="4617720" y="1188720"/>
            <a:ext cx="7022592" cy="274320"/>
          </a:xfrm>
          <a:prstGeom prst="rect">
            <a:avLst/>
          </a:prstGeom>
          <a:noFill/>
          <a:ln/>
        </p:spPr>
        <p:txBody>
          <a:bodyPr wrap="square" lIns="0" tIns="0" rIns="0" bIns="0" rtlCol="0" anchor="ctr"/>
          <a:lstStyle/>
          <a:p>
            <a:pPr indent="0" marL="0">
              <a:buNone/>
            </a:pPr>
            <a:r>
              <a:rPr lang="en-US" sz="1300" b="1" spc="300" kern="0" dirty="0">
                <a:solidFill>
                  <a:schemeClr val="accent2"/>
                </a:solidFill>
                <a:latin typeface="Barlow Condensed" pitchFamily="34" charset="0"/>
                <a:ea typeface="Barlow Condensed" pitchFamily="34" charset="-122"/>
                <a:cs typeface="Barlow Condensed" pitchFamily="34" charset="-120"/>
              </a:rPr>
              <a:t>AVEC HESTIM PLANNER</a:t>
            </a:r>
            <a:endParaRPr lang="en-US" sz="1300" dirty="0"/>
          </a:p>
        </p:txBody>
      </p:sp>
      <p:sp>
        <p:nvSpPr>
          <p:cNvPr id="5" name="avant-1-fond"/>
          <p:cNvSpPr/>
          <p:nvPr/>
        </p:nvSpPr>
        <p:spPr>
          <a:xfrm>
            <a:off x="548640" y="1572768"/>
            <a:ext cx="3291840" cy="731520"/>
          </a:xfrm>
          <a:prstGeom prst="roundRect">
            <a:avLst>
              <a:gd name="adj" fmla="val 12500"/>
            </a:avLst>
          </a:prstGeom>
          <a:solidFill>
            <a:schemeClr val="bg2"/>
          </a:solidFill>
          <a:ln w="12700">
            <a:solidFill>
              <a:schemeClr val="bg2"/>
            </a:solidFill>
            <a:prstDash val="solid"/>
          </a:ln>
        </p:spPr>
      </p:sp>
      <p:sp>
        <p:nvSpPr>
          <p:cNvPr id="6" name="avant-1"/>
          <p:cNvSpPr txBox="1"/>
          <p:nvPr/>
        </p:nvSpPr>
        <p:spPr>
          <a:xfrm>
            <a:off x="777240" y="1572768"/>
            <a:ext cx="2926080" cy="731520"/>
          </a:xfrm>
          <a:prstGeom prst="rect">
            <a:avLst/>
          </a:prstGeom>
          <a:noFill/>
          <a:ln/>
        </p:spPr>
        <p:txBody>
          <a:bodyPr wrap="square" lIns="0" tIns="0" rIns="0" bIns="0" rtlCol="0" anchor="ctr"/>
          <a:lstStyle/>
          <a:p>
            <a:pPr indent="0" marL="0">
              <a:buNone/>
            </a:pPr>
            <a:r>
              <a:rPr lang="en-US" sz="1800" b="1" dirty="0">
                <a:solidFill>
                  <a:schemeClr val="tx1"/>
                </a:solidFill>
                <a:latin typeface="Barlow Condensed" pitchFamily="34" charset="0"/>
                <a:ea typeface="Barlow Condensed" pitchFamily="34" charset="-122"/>
                <a:cs typeface="Barlow Condensed" pitchFamily="34" charset="-120"/>
              </a:rPr>
              <a:t>Gmail</a:t>
            </a:r>
            <a:endParaRPr lang="en-US" sz="1800" dirty="0"/>
          </a:p>
          <a:p>
            <a:pPr indent="0" marL="0">
              <a:buNone/>
            </a:pPr>
            <a:r>
              <a:rPr lang="en-US" sz="1200" dirty="0">
                <a:solidFill>
                  <a:schemeClr val="accent4"/>
                </a:solidFill>
                <a:latin typeface="Barlow" pitchFamily="34" charset="0"/>
                <a:ea typeface="Barlow" pitchFamily="34" charset="-122"/>
                <a:cs typeface="Barlow" pitchFamily="34" charset="-120"/>
              </a:rPr>
              <a:t>pour les informations</a:t>
            </a:r>
            <a:endParaRPr lang="en-US" sz="1800" dirty="0"/>
          </a:p>
        </p:txBody>
      </p:sp>
      <p:pic>
        <p:nvPicPr>
          <p:cNvPr id="7" name="fleche-1" descr="preencoded.png">    </p:cNvPr>
          <p:cNvPicPr>
            <a:picLocks noChangeAspect="1"/>
          </p:cNvPicPr>
          <p:nvPr/>
        </p:nvPicPr>
        <p:blipFill>
          <a:blip r:embed="rId1"/>
          <a:stretch>
            <a:fillRect/>
          </a:stretch>
        </p:blipFill>
        <p:spPr>
          <a:xfrm>
            <a:off x="4041648" y="1783080"/>
            <a:ext cx="310896" cy="310896"/>
          </a:xfrm>
          <a:prstGeom prst="rect">
            <a:avLst/>
          </a:prstGeom>
        </p:spPr>
      </p:pic>
      <p:sp>
        <p:nvSpPr>
          <p:cNvPr id="8" name="apres-1-rond"/>
          <p:cNvSpPr/>
          <p:nvPr/>
        </p:nvSpPr>
        <p:spPr>
          <a:xfrm>
            <a:off x="4617720" y="1746504"/>
            <a:ext cx="384048" cy="384048"/>
          </a:xfrm>
          <a:prstGeom prst="ellipse">
            <a:avLst/>
          </a:prstGeom>
          <a:solidFill>
            <a:schemeClr val="accent2"/>
          </a:solidFill>
          <a:ln w="12700">
            <a:solidFill>
              <a:schemeClr val="accent2"/>
            </a:solidFill>
            <a:prstDash val="solid"/>
          </a:ln>
        </p:spPr>
      </p:sp>
      <p:pic>
        <p:nvPicPr>
          <p:cNvPr id="9" name="apres-1-icone" descr="preencoded.png">    </p:cNvPr>
          <p:cNvPicPr>
            <a:picLocks noChangeAspect="1"/>
          </p:cNvPicPr>
          <p:nvPr/>
        </p:nvPicPr>
        <p:blipFill>
          <a:blip r:embed="rId2"/>
          <a:stretch>
            <a:fillRect/>
          </a:stretch>
        </p:blipFill>
        <p:spPr>
          <a:xfrm>
            <a:off x="4709892" y="1838676"/>
            <a:ext cx="199705" cy="199705"/>
          </a:xfrm>
          <a:prstGeom prst="rect">
            <a:avLst/>
          </a:prstGeom>
        </p:spPr>
      </p:pic>
      <p:sp>
        <p:nvSpPr>
          <p:cNvPr id="10" name="apres-1"/>
          <p:cNvSpPr txBox="1"/>
          <p:nvPr/>
        </p:nvSpPr>
        <p:spPr>
          <a:xfrm>
            <a:off x="5166360" y="1572768"/>
            <a:ext cx="6473952" cy="731520"/>
          </a:xfrm>
          <a:prstGeom prst="rect">
            <a:avLst/>
          </a:prstGeom>
          <a:noFill/>
          <a:ln/>
        </p:spPr>
        <p:txBody>
          <a:bodyPr wrap="square" lIns="0" tIns="0" rIns="0" bIns="0" rtlCol="0" anchor="ctr"/>
          <a:lstStyle/>
          <a:p>
            <a:pPr indent="0" marL="0">
              <a:buNone/>
            </a:pPr>
            <a:r>
              <a:rPr lang="en-US" sz="1500" b="1" dirty="0">
                <a:solidFill>
                  <a:schemeClr val="tx2"/>
                </a:solidFill>
                <a:latin typeface="Barlow" pitchFamily="34" charset="0"/>
                <a:ea typeface="Barlow" pitchFamily="34" charset="-122"/>
                <a:cs typeface="Barlow" pitchFamily="34" charset="-120"/>
              </a:rPr>
              <a:t>Les informations de cours arrivent aux seuls concernés</a:t>
            </a:r>
            <a:pPr indent="0" marL="0">
              <a:buNone/>
            </a:pPr>
            <a:r>
              <a:rPr lang="en-US" sz="1500" dirty="0">
                <a:solidFill>
                  <a:schemeClr val="tx1"/>
                </a:solidFill>
                <a:latin typeface="Barlow" pitchFamily="34" charset="0"/>
                <a:ea typeface="Barlow" pitchFamily="34" charset="-122"/>
                <a:cs typeface="Barlow" pitchFamily="34" charset="-120"/>
              </a:rPr>
              <a:t> : report, salle, devoir, quiz, directement sur leur téléphone.</a:t>
            </a:r>
            <a:endParaRPr lang="en-US" sz="1500" dirty="0"/>
          </a:p>
        </p:txBody>
      </p:sp>
      <p:sp>
        <p:nvSpPr>
          <p:cNvPr id="11" name="avant-2-fond"/>
          <p:cNvSpPr/>
          <p:nvPr/>
        </p:nvSpPr>
        <p:spPr>
          <a:xfrm>
            <a:off x="548640" y="2459736"/>
            <a:ext cx="3291840" cy="731520"/>
          </a:xfrm>
          <a:prstGeom prst="roundRect">
            <a:avLst>
              <a:gd name="adj" fmla="val 12500"/>
            </a:avLst>
          </a:prstGeom>
          <a:solidFill>
            <a:schemeClr val="bg2"/>
          </a:solidFill>
          <a:ln w="12700">
            <a:solidFill>
              <a:schemeClr val="bg2"/>
            </a:solidFill>
            <a:prstDash val="solid"/>
          </a:ln>
        </p:spPr>
      </p:sp>
      <p:sp>
        <p:nvSpPr>
          <p:cNvPr id="12" name="avant-2"/>
          <p:cNvSpPr txBox="1"/>
          <p:nvPr/>
        </p:nvSpPr>
        <p:spPr>
          <a:xfrm>
            <a:off x="777240" y="2459736"/>
            <a:ext cx="2926080" cy="731520"/>
          </a:xfrm>
          <a:prstGeom prst="rect">
            <a:avLst/>
          </a:prstGeom>
          <a:noFill/>
          <a:ln/>
        </p:spPr>
        <p:txBody>
          <a:bodyPr wrap="square" lIns="0" tIns="0" rIns="0" bIns="0" rtlCol="0" anchor="ctr"/>
          <a:lstStyle/>
          <a:p>
            <a:pPr indent="0" marL="0">
              <a:buNone/>
            </a:pPr>
            <a:r>
              <a:rPr lang="en-US" sz="1800" b="1" dirty="0">
                <a:solidFill>
                  <a:schemeClr val="tx1"/>
                </a:solidFill>
                <a:latin typeface="Barlow Condensed" pitchFamily="34" charset="0"/>
                <a:ea typeface="Barlow Condensed" pitchFamily="34" charset="-122"/>
                <a:cs typeface="Barlow Condensed" pitchFamily="34" charset="-120"/>
              </a:rPr>
              <a:t>PDF par e-mail</a:t>
            </a:r>
            <a:endParaRPr lang="en-US" sz="1800" dirty="0"/>
          </a:p>
          <a:p>
            <a:pPr indent="0" marL="0">
              <a:buNone/>
            </a:pPr>
            <a:r>
              <a:rPr lang="en-US" sz="1200" dirty="0">
                <a:solidFill>
                  <a:schemeClr val="accent4"/>
                </a:solidFill>
                <a:latin typeface="Barlow" pitchFamily="34" charset="0"/>
                <a:ea typeface="Barlow" pitchFamily="34" charset="-122"/>
                <a:cs typeface="Barlow" pitchFamily="34" charset="-120"/>
              </a:rPr>
              <a:t>pour l'emploi du temps</a:t>
            </a:r>
            <a:endParaRPr lang="en-US" sz="1800" dirty="0"/>
          </a:p>
        </p:txBody>
      </p:sp>
      <p:pic>
        <p:nvPicPr>
          <p:cNvPr id="13" name="fleche-2" descr="preencoded.png">    </p:cNvPr>
          <p:cNvPicPr>
            <a:picLocks noChangeAspect="1"/>
          </p:cNvPicPr>
          <p:nvPr/>
        </p:nvPicPr>
        <p:blipFill>
          <a:blip r:embed="rId3"/>
          <a:stretch>
            <a:fillRect/>
          </a:stretch>
        </p:blipFill>
        <p:spPr>
          <a:xfrm>
            <a:off x="4041648" y="2670048"/>
            <a:ext cx="310896" cy="310896"/>
          </a:xfrm>
          <a:prstGeom prst="rect">
            <a:avLst/>
          </a:prstGeom>
        </p:spPr>
      </p:pic>
      <p:sp>
        <p:nvSpPr>
          <p:cNvPr id="14" name="apres-2-rond"/>
          <p:cNvSpPr/>
          <p:nvPr/>
        </p:nvSpPr>
        <p:spPr>
          <a:xfrm>
            <a:off x="4617720" y="2633472"/>
            <a:ext cx="384048" cy="384048"/>
          </a:xfrm>
          <a:prstGeom prst="ellipse">
            <a:avLst/>
          </a:prstGeom>
          <a:solidFill>
            <a:schemeClr val="accent2"/>
          </a:solidFill>
          <a:ln w="12700">
            <a:solidFill>
              <a:schemeClr val="accent2"/>
            </a:solidFill>
            <a:prstDash val="solid"/>
          </a:ln>
        </p:spPr>
      </p:sp>
      <p:pic>
        <p:nvPicPr>
          <p:cNvPr id="15" name="apres-2-icone" descr="preencoded.png">    </p:cNvPr>
          <p:cNvPicPr>
            <a:picLocks noChangeAspect="1"/>
          </p:cNvPicPr>
          <p:nvPr/>
        </p:nvPicPr>
        <p:blipFill>
          <a:blip r:embed="rId4"/>
          <a:stretch>
            <a:fillRect/>
          </a:stretch>
        </p:blipFill>
        <p:spPr>
          <a:xfrm>
            <a:off x="4709892" y="2725644"/>
            <a:ext cx="199705" cy="199705"/>
          </a:xfrm>
          <a:prstGeom prst="rect">
            <a:avLst/>
          </a:prstGeom>
        </p:spPr>
      </p:pic>
      <p:sp>
        <p:nvSpPr>
          <p:cNvPr id="16" name="apres-2"/>
          <p:cNvSpPr txBox="1"/>
          <p:nvPr/>
        </p:nvSpPr>
        <p:spPr>
          <a:xfrm>
            <a:off x="5166360" y="2459736"/>
            <a:ext cx="6473952" cy="731520"/>
          </a:xfrm>
          <a:prstGeom prst="rect">
            <a:avLst/>
          </a:prstGeom>
          <a:noFill/>
          <a:ln/>
        </p:spPr>
        <p:txBody>
          <a:bodyPr wrap="square" lIns="0" tIns="0" rIns="0" bIns="0" rtlCol="0" anchor="ctr"/>
          <a:lstStyle/>
          <a:p>
            <a:pPr indent="0" marL="0">
              <a:buNone/>
            </a:pPr>
            <a:r>
              <a:rPr lang="en-US" sz="1500" b="1" dirty="0">
                <a:solidFill>
                  <a:schemeClr val="tx2"/>
                </a:solidFill>
                <a:latin typeface="Barlow" pitchFamily="34" charset="0"/>
                <a:ea typeface="Barlow" pitchFamily="34" charset="-122"/>
                <a:cs typeface="Barlow" pitchFamily="34" charset="-120"/>
              </a:rPr>
              <a:t>Un emploi du temps vivant, à jour en temps réel</a:t>
            </a:r>
            <a:pPr indent="0" marL="0">
              <a:buNone/>
            </a:pPr>
            <a:r>
              <a:rPr lang="en-US" sz="1500" dirty="0">
                <a:solidFill>
                  <a:schemeClr val="tx1"/>
                </a:solidFill>
                <a:latin typeface="Barlow" pitchFamily="34" charset="0"/>
                <a:ea typeface="Barlow" pitchFamily="34" charset="-122"/>
                <a:cs typeface="Barlow" pitchFamily="34" charset="-120"/>
              </a:rPr>
              <a:t> ; le PDF officiel du mois reste disponible en un clic.</a:t>
            </a:r>
            <a:endParaRPr lang="en-US" sz="1500" dirty="0"/>
          </a:p>
        </p:txBody>
      </p:sp>
      <p:sp>
        <p:nvSpPr>
          <p:cNvPr id="17" name="avant-3-fond"/>
          <p:cNvSpPr/>
          <p:nvPr/>
        </p:nvSpPr>
        <p:spPr>
          <a:xfrm>
            <a:off x="548640" y="3346704"/>
            <a:ext cx="3291840" cy="731520"/>
          </a:xfrm>
          <a:prstGeom prst="roundRect">
            <a:avLst>
              <a:gd name="adj" fmla="val 12500"/>
            </a:avLst>
          </a:prstGeom>
          <a:solidFill>
            <a:schemeClr val="bg2"/>
          </a:solidFill>
          <a:ln w="12700">
            <a:solidFill>
              <a:schemeClr val="bg2"/>
            </a:solidFill>
            <a:prstDash val="solid"/>
          </a:ln>
        </p:spPr>
      </p:sp>
      <p:sp>
        <p:nvSpPr>
          <p:cNvPr id="18" name="avant-3"/>
          <p:cNvSpPr txBox="1"/>
          <p:nvPr/>
        </p:nvSpPr>
        <p:spPr>
          <a:xfrm>
            <a:off x="777240" y="3346704"/>
            <a:ext cx="2926080" cy="731520"/>
          </a:xfrm>
          <a:prstGeom prst="rect">
            <a:avLst/>
          </a:prstGeom>
          <a:noFill/>
          <a:ln/>
        </p:spPr>
        <p:txBody>
          <a:bodyPr wrap="square" lIns="0" tIns="0" rIns="0" bIns="0" rtlCol="0" anchor="ctr"/>
          <a:lstStyle/>
          <a:p>
            <a:pPr indent="0" marL="0">
              <a:buNone/>
            </a:pPr>
            <a:r>
              <a:rPr lang="en-US" sz="1800" b="1" dirty="0">
                <a:solidFill>
                  <a:schemeClr val="tx1"/>
                </a:solidFill>
                <a:latin typeface="Barlow Condensed" pitchFamily="34" charset="0"/>
                <a:ea typeface="Barlow Condensed" pitchFamily="34" charset="-122"/>
                <a:cs typeface="Barlow Condensed" pitchFamily="34" charset="-120"/>
              </a:rPr>
              <a:t>WhatsApp</a:t>
            </a:r>
            <a:endParaRPr lang="en-US" sz="1800" dirty="0"/>
          </a:p>
          <a:p>
            <a:pPr indent="0" marL="0">
              <a:buNone/>
            </a:pPr>
            <a:r>
              <a:rPr lang="en-US" sz="1200" dirty="0">
                <a:solidFill>
                  <a:schemeClr val="accent4"/>
                </a:solidFill>
                <a:latin typeface="Barlow" pitchFamily="34" charset="0"/>
                <a:ea typeface="Barlow" pitchFamily="34" charset="-122"/>
                <a:cs typeface="Barlow" pitchFamily="34" charset="-120"/>
              </a:rPr>
              <a:t>pour les reports</a:t>
            </a:r>
            <a:endParaRPr lang="en-US" sz="1800" dirty="0"/>
          </a:p>
        </p:txBody>
      </p:sp>
      <p:pic>
        <p:nvPicPr>
          <p:cNvPr id="19" name="fleche-3" descr="preencoded.png">    </p:cNvPr>
          <p:cNvPicPr>
            <a:picLocks noChangeAspect="1"/>
          </p:cNvPicPr>
          <p:nvPr/>
        </p:nvPicPr>
        <p:blipFill>
          <a:blip r:embed="rId5"/>
          <a:stretch>
            <a:fillRect/>
          </a:stretch>
        </p:blipFill>
        <p:spPr>
          <a:xfrm>
            <a:off x="4041648" y="3557016"/>
            <a:ext cx="310896" cy="310896"/>
          </a:xfrm>
          <a:prstGeom prst="rect">
            <a:avLst/>
          </a:prstGeom>
        </p:spPr>
      </p:pic>
      <p:sp>
        <p:nvSpPr>
          <p:cNvPr id="20" name="apres-3-rond"/>
          <p:cNvSpPr/>
          <p:nvPr/>
        </p:nvSpPr>
        <p:spPr>
          <a:xfrm>
            <a:off x="4617720" y="3520440"/>
            <a:ext cx="384048" cy="384048"/>
          </a:xfrm>
          <a:prstGeom prst="ellipse">
            <a:avLst/>
          </a:prstGeom>
          <a:solidFill>
            <a:schemeClr val="accent2"/>
          </a:solidFill>
          <a:ln w="12700">
            <a:solidFill>
              <a:schemeClr val="accent2"/>
            </a:solidFill>
            <a:prstDash val="solid"/>
          </a:ln>
        </p:spPr>
      </p:sp>
      <p:pic>
        <p:nvPicPr>
          <p:cNvPr id="21" name="apres-3-icone" descr="preencoded.png">    </p:cNvPr>
          <p:cNvPicPr>
            <a:picLocks noChangeAspect="1"/>
          </p:cNvPicPr>
          <p:nvPr/>
        </p:nvPicPr>
        <p:blipFill>
          <a:blip r:embed="rId6"/>
          <a:stretch>
            <a:fillRect/>
          </a:stretch>
        </p:blipFill>
        <p:spPr>
          <a:xfrm>
            <a:off x="4709892" y="3612612"/>
            <a:ext cx="199705" cy="199705"/>
          </a:xfrm>
          <a:prstGeom prst="rect">
            <a:avLst/>
          </a:prstGeom>
        </p:spPr>
      </p:pic>
      <p:sp>
        <p:nvSpPr>
          <p:cNvPr id="22" name="apres-3"/>
          <p:cNvSpPr txBox="1"/>
          <p:nvPr/>
        </p:nvSpPr>
        <p:spPr>
          <a:xfrm>
            <a:off x="5166360" y="3346704"/>
            <a:ext cx="6473952" cy="731520"/>
          </a:xfrm>
          <a:prstGeom prst="rect">
            <a:avLst/>
          </a:prstGeom>
          <a:noFill/>
          <a:ln/>
        </p:spPr>
        <p:txBody>
          <a:bodyPr wrap="square" lIns="0" tIns="0" rIns="0" bIns="0" rtlCol="0" anchor="ctr"/>
          <a:lstStyle/>
          <a:p>
            <a:pPr indent="0" marL="0">
              <a:buNone/>
            </a:pPr>
            <a:r>
              <a:rPr lang="en-US" sz="1500" b="1" dirty="0">
                <a:solidFill>
                  <a:schemeClr val="tx2"/>
                </a:solidFill>
                <a:latin typeface="Barlow" pitchFamily="34" charset="0"/>
                <a:ea typeface="Barlow" pitchFamily="34" charset="-122"/>
                <a:cs typeface="Barlow" pitchFamily="34" charset="-120"/>
              </a:rPr>
              <a:t>Une alerte automatique</a:t>
            </a:r>
            <a:pPr indent="0" marL="0">
              <a:buNone/>
            </a:pPr>
            <a:r>
              <a:rPr lang="en-US" sz="1500" dirty="0">
                <a:solidFill>
                  <a:schemeClr val="tx1"/>
                </a:solidFill>
                <a:latin typeface="Barlow" pitchFamily="34" charset="0"/>
                <a:ea typeface="Barlow" pitchFamily="34" charset="-122"/>
                <a:cs typeface="Barlow" pitchFamily="34" charset="-120"/>
              </a:rPr>
              <a:t> avec la nouvelle date, l'heure et la salle.</a:t>
            </a:r>
            <a:endParaRPr lang="en-US" sz="1500" dirty="0"/>
          </a:p>
        </p:txBody>
      </p:sp>
      <p:sp>
        <p:nvSpPr>
          <p:cNvPr id="23" name="avant-4-fond"/>
          <p:cNvSpPr/>
          <p:nvPr/>
        </p:nvSpPr>
        <p:spPr>
          <a:xfrm>
            <a:off x="548640" y="4233672"/>
            <a:ext cx="3291840" cy="731520"/>
          </a:xfrm>
          <a:prstGeom prst="roundRect">
            <a:avLst>
              <a:gd name="adj" fmla="val 12500"/>
            </a:avLst>
          </a:prstGeom>
          <a:solidFill>
            <a:schemeClr val="bg2"/>
          </a:solidFill>
          <a:ln w="12700">
            <a:solidFill>
              <a:schemeClr val="bg2"/>
            </a:solidFill>
            <a:prstDash val="solid"/>
          </a:ln>
        </p:spPr>
      </p:sp>
      <p:sp>
        <p:nvSpPr>
          <p:cNvPr id="24" name="avant-4"/>
          <p:cNvSpPr txBox="1"/>
          <p:nvPr/>
        </p:nvSpPr>
        <p:spPr>
          <a:xfrm>
            <a:off x="777240" y="4233672"/>
            <a:ext cx="2926080" cy="731520"/>
          </a:xfrm>
          <a:prstGeom prst="rect">
            <a:avLst/>
          </a:prstGeom>
          <a:noFill/>
          <a:ln/>
        </p:spPr>
        <p:txBody>
          <a:bodyPr wrap="square" lIns="0" tIns="0" rIns="0" bIns="0" rtlCol="0" anchor="ctr"/>
          <a:lstStyle/>
          <a:p>
            <a:pPr indent="0" marL="0">
              <a:buNone/>
            </a:pPr>
            <a:r>
              <a:rPr lang="en-US" sz="1800" b="1" dirty="0">
                <a:solidFill>
                  <a:schemeClr val="tx1"/>
                </a:solidFill>
                <a:latin typeface="Barlow Condensed" pitchFamily="34" charset="0"/>
                <a:ea typeface="Barlow Condensed" pitchFamily="34" charset="-122"/>
                <a:cs typeface="Barlow Condensed" pitchFamily="34" charset="-120"/>
              </a:rPr>
              <a:t>Classroom et Moodle</a:t>
            </a:r>
            <a:endParaRPr lang="en-US" sz="1800" dirty="0"/>
          </a:p>
          <a:p>
            <a:pPr indent="0" marL="0">
              <a:buNone/>
            </a:pPr>
            <a:r>
              <a:rPr lang="en-US" sz="1200" dirty="0">
                <a:solidFill>
                  <a:schemeClr val="accent4"/>
                </a:solidFill>
                <a:latin typeface="Barlow" pitchFamily="34" charset="0"/>
                <a:ea typeface="Barlow" pitchFamily="34" charset="-122"/>
                <a:cs typeface="Barlow" pitchFamily="34" charset="-120"/>
              </a:rPr>
              <a:t>pour les cours et devoirs</a:t>
            </a:r>
            <a:endParaRPr lang="en-US" sz="1800" dirty="0"/>
          </a:p>
        </p:txBody>
      </p:sp>
      <p:pic>
        <p:nvPicPr>
          <p:cNvPr id="25" name="fleche-4" descr="preencoded.png">    </p:cNvPr>
          <p:cNvPicPr>
            <a:picLocks noChangeAspect="1"/>
          </p:cNvPicPr>
          <p:nvPr/>
        </p:nvPicPr>
        <p:blipFill>
          <a:blip r:embed="rId7"/>
          <a:stretch>
            <a:fillRect/>
          </a:stretch>
        </p:blipFill>
        <p:spPr>
          <a:xfrm>
            <a:off x="4041648" y="4443984"/>
            <a:ext cx="310896" cy="310896"/>
          </a:xfrm>
          <a:prstGeom prst="rect">
            <a:avLst/>
          </a:prstGeom>
        </p:spPr>
      </p:pic>
      <p:sp>
        <p:nvSpPr>
          <p:cNvPr id="26" name="apres-4-rond"/>
          <p:cNvSpPr/>
          <p:nvPr/>
        </p:nvSpPr>
        <p:spPr>
          <a:xfrm>
            <a:off x="4617720" y="4407408"/>
            <a:ext cx="384048" cy="384048"/>
          </a:xfrm>
          <a:prstGeom prst="ellipse">
            <a:avLst/>
          </a:prstGeom>
          <a:solidFill>
            <a:schemeClr val="accent2"/>
          </a:solidFill>
          <a:ln w="12700">
            <a:solidFill>
              <a:schemeClr val="accent2"/>
            </a:solidFill>
            <a:prstDash val="solid"/>
          </a:ln>
        </p:spPr>
      </p:sp>
      <p:pic>
        <p:nvPicPr>
          <p:cNvPr id="27" name="apres-4-icone" descr="preencoded.png">    </p:cNvPr>
          <p:cNvPicPr>
            <a:picLocks noChangeAspect="1"/>
          </p:cNvPicPr>
          <p:nvPr/>
        </p:nvPicPr>
        <p:blipFill>
          <a:blip r:embed="rId8"/>
          <a:stretch>
            <a:fillRect/>
          </a:stretch>
        </p:blipFill>
        <p:spPr>
          <a:xfrm>
            <a:off x="4709892" y="4499580"/>
            <a:ext cx="199705" cy="199705"/>
          </a:xfrm>
          <a:prstGeom prst="rect">
            <a:avLst/>
          </a:prstGeom>
        </p:spPr>
      </p:pic>
      <p:sp>
        <p:nvSpPr>
          <p:cNvPr id="28" name="apres-4"/>
          <p:cNvSpPr txBox="1"/>
          <p:nvPr/>
        </p:nvSpPr>
        <p:spPr>
          <a:xfrm>
            <a:off x="5166360" y="4233672"/>
            <a:ext cx="6473952" cy="731520"/>
          </a:xfrm>
          <a:prstGeom prst="rect">
            <a:avLst/>
          </a:prstGeom>
          <a:noFill/>
          <a:ln/>
        </p:spPr>
        <p:txBody>
          <a:bodyPr wrap="square" lIns="0" tIns="0" rIns="0" bIns="0" rtlCol="0" anchor="ctr"/>
          <a:lstStyle/>
          <a:p>
            <a:pPr indent="0" marL="0">
              <a:buNone/>
            </a:pPr>
            <a:r>
              <a:rPr lang="en-US" sz="1500" b="1" dirty="0">
                <a:solidFill>
                  <a:schemeClr val="tx2"/>
                </a:solidFill>
                <a:latin typeface="Barlow" pitchFamily="34" charset="0"/>
                <a:ea typeface="Barlow" pitchFamily="34" charset="-122"/>
                <a:cs typeface="Barlow" pitchFamily="34" charset="-120"/>
              </a:rPr>
              <a:t>Les supports rangés par cours</a:t>
            </a:r>
            <a:pPr indent="0" marL="0">
              <a:buNone/>
            </a:pPr>
            <a:r>
              <a:rPr lang="en-US" sz="1500" dirty="0">
                <a:solidFill>
                  <a:schemeClr val="tx1"/>
                </a:solidFill>
                <a:latin typeface="Barlow" pitchFamily="34" charset="0"/>
                <a:ea typeface="Barlow" pitchFamily="34" charset="-122"/>
                <a:cs typeface="Barlow" pitchFamily="34" charset="-120"/>
              </a:rPr>
              <a:t> et des devoirs en quiz, corrigés et notés automatiquement.</a:t>
            </a:r>
            <a:endParaRPr lang="en-US" sz="1500" dirty="0"/>
          </a:p>
        </p:txBody>
      </p:sp>
      <p:sp>
        <p:nvSpPr>
          <p:cNvPr id="29" name="avant-5-fond"/>
          <p:cNvSpPr/>
          <p:nvPr/>
        </p:nvSpPr>
        <p:spPr>
          <a:xfrm>
            <a:off x="548640" y="5120640"/>
            <a:ext cx="3291840" cy="731520"/>
          </a:xfrm>
          <a:prstGeom prst="roundRect">
            <a:avLst>
              <a:gd name="adj" fmla="val 12500"/>
            </a:avLst>
          </a:prstGeom>
          <a:solidFill>
            <a:schemeClr val="bg2"/>
          </a:solidFill>
          <a:ln w="12700">
            <a:solidFill>
              <a:schemeClr val="bg2"/>
            </a:solidFill>
            <a:prstDash val="solid"/>
          </a:ln>
        </p:spPr>
      </p:sp>
      <p:sp>
        <p:nvSpPr>
          <p:cNvPr id="30" name="avant-5"/>
          <p:cNvSpPr txBox="1"/>
          <p:nvPr/>
        </p:nvSpPr>
        <p:spPr>
          <a:xfrm>
            <a:off x="777240" y="5120640"/>
            <a:ext cx="2926080" cy="731520"/>
          </a:xfrm>
          <a:prstGeom prst="rect">
            <a:avLst/>
          </a:prstGeom>
          <a:noFill/>
          <a:ln/>
        </p:spPr>
        <p:txBody>
          <a:bodyPr wrap="square" lIns="0" tIns="0" rIns="0" bIns="0" rtlCol="0" anchor="ctr"/>
          <a:lstStyle/>
          <a:p>
            <a:pPr indent="0" marL="0">
              <a:buNone/>
            </a:pPr>
            <a:r>
              <a:rPr lang="en-US" sz="1800" b="1" dirty="0">
                <a:solidFill>
                  <a:schemeClr val="tx1"/>
                </a:solidFill>
                <a:latin typeface="Barlow Condensed" pitchFamily="34" charset="0"/>
                <a:ea typeface="Barlow Condensed" pitchFamily="34" charset="-122"/>
                <a:cs typeface="Barlow Condensed" pitchFamily="34" charset="-120"/>
              </a:rPr>
              <a:t>Sites de jeux externes</a:t>
            </a:r>
            <a:endParaRPr lang="en-US" sz="1800" dirty="0"/>
          </a:p>
          <a:p>
            <a:pPr indent="0" marL="0">
              <a:buNone/>
            </a:pPr>
            <a:r>
              <a:rPr lang="en-US" sz="1200" dirty="0">
                <a:solidFill>
                  <a:schemeClr val="accent4"/>
                </a:solidFill>
                <a:latin typeface="Barlow" pitchFamily="34" charset="0"/>
                <a:ea typeface="Barlow" pitchFamily="34" charset="-122"/>
                <a:cs typeface="Barlow" pitchFamily="34" charset="-120"/>
              </a:rPr>
              <a:t>pour réviser en jouant</a:t>
            </a:r>
            <a:endParaRPr lang="en-US" sz="1800" dirty="0"/>
          </a:p>
        </p:txBody>
      </p:sp>
      <p:pic>
        <p:nvPicPr>
          <p:cNvPr id="31" name="fleche-5" descr="preencoded.png">    </p:cNvPr>
          <p:cNvPicPr>
            <a:picLocks noChangeAspect="1"/>
          </p:cNvPicPr>
          <p:nvPr/>
        </p:nvPicPr>
        <p:blipFill>
          <a:blip r:embed="rId9"/>
          <a:stretch>
            <a:fillRect/>
          </a:stretch>
        </p:blipFill>
        <p:spPr>
          <a:xfrm>
            <a:off x="4041648" y="5330952"/>
            <a:ext cx="310896" cy="310896"/>
          </a:xfrm>
          <a:prstGeom prst="rect">
            <a:avLst/>
          </a:prstGeom>
        </p:spPr>
      </p:pic>
      <p:sp>
        <p:nvSpPr>
          <p:cNvPr id="32" name="apres-5-rond"/>
          <p:cNvSpPr/>
          <p:nvPr/>
        </p:nvSpPr>
        <p:spPr>
          <a:xfrm>
            <a:off x="4617720" y="5294376"/>
            <a:ext cx="384048" cy="384048"/>
          </a:xfrm>
          <a:prstGeom prst="ellipse">
            <a:avLst/>
          </a:prstGeom>
          <a:solidFill>
            <a:schemeClr val="accent2"/>
          </a:solidFill>
          <a:ln w="12700">
            <a:solidFill>
              <a:schemeClr val="accent2"/>
            </a:solidFill>
            <a:prstDash val="solid"/>
          </a:ln>
        </p:spPr>
      </p:sp>
      <p:pic>
        <p:nvPicPr>
          <p:cNvPr id="33" name="apres-5-icone" descr="preencoded.png">    </p:cNvPr>
          <p:cNvPicPr>
            <a:picLocks noChangeAspect="1"/>
          </p:cNvPicPr>
          <p:nvPr/>
        </p:nvPicPr>
        <p:blipFill>
          <a:blip r:embed="rId10"/>
          <a:stretch>
            <a:fillRect/>
          </a:stretch>
        </p:blipFill>
        <p:spPr>
          <a:xfrm>
            <a:off x="4709892" y="5386548"/>
            <a:ext cx="199705" cy="199705"/>
          </a:xfrm>
          <a:prstGeom prst="rect">
            <a:avLst/>
          </a:prstGeom>
        </p:spPr>
      </p:pic>
      <p:sp>
        <p:nvSpPr>
          <p:cNvPr id="34" name="apres-5"/>
          <p:cNvSpPr txBox="1"/>
          <p:nvPr/>
        </p:nvSpPr>
        <p:spPr>
          <a:xfrm>
            <a:off x="5166360" y="5120640"/>
            <a:ext cx="6473952" cy="731520"/>
          </a:xfrm>
          <a:prstGeom prst="rect">
            <a:avLst/>
          </a:prstGeom>
          <a:noFill/>
          <a:ln/>
        </p:spPr>
        <p:txBody>
          <a:bodyPr wrap="square" lIns="0" tIns="0" rIns="0" bIns="0" rtlCol="0" anchor="ctr"/>
          <a:lstStyle/>
          <a:p>
            <a:pPr indent="0" marL="0">
              <a:buNone/>
            </a:pPr>
            <a:r>
              <a:rPr lang="en-US" sz="1500" b="1" dirty="0">
                <a:solidFill>
                  <a:schemeClr val="tx2"/>
                </a:solidFill>
                <a:latin typeface="Barlow" pitchFamily="34" charset="0"/>
                <a:ea typeface="Barlow" pitchFamily="34" charset="-122"/>
                <a:cs typeface="Barlow" pitchFamily="34" charset="-120"/>
              </a:rPr>
              <a:t>Quiz, défis et jeux intégrés</a:t>
            </a:r>
            <a:pPr indent="0" marL="0">
              <a:buNone/>
            </a:pPr>
            <a:r>
              <a:rPr lang="en-US" sz="1500" dirty="0">
                <a:solidFill>
                  <a:schemeClr val="tx1"/>
                </a:solidFill>
                <a:latin typeface="Barlow" pitchFamily="34" charset="0"/>
                <a:ea typeface="Barlow" pitchFamily="34" charset="-122"/>
                <a:cs typeface="Barlow" pitchFamily="34" charset="-120"/>
              </a:rPr>
              <a:t> : sans publicité ni compte externe, résultats conservés par l'école.</a:t>
            </a:r>
            <a:endParaRPr lang="en-US" sz="15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Barlow Condensed"/>
                <a:ea typeface="Barlow Condensed"/>
                <a:cs typeface="Barlow Condense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Barlow Condensed" pitchFamily="34" charset="0"/>
                <a:ea typeface="Barlow Condensed" pitchFamily="34" charset="-122"/>
                <a:cs typeface="Barlow Condensed" pitchFamily="34" charset="-120"/>
              </a:rPr>
              <a:t>Ce que chacun y gagne</a:t>
            </a:r>
            <a:endParaRPr lang="en-US" sz="3600" dirty="0"/>
          </a:p>
        </p:txBody>
      </p:sp>
      <p:sp>
        <p:nvSpPr>
          <p:cNvPr id="3" name="chiffre-1"/>
          <p:cNvSpPr txBox="1"/>
          <p:nvPr/>
        </p:nvSpPr>
        <p:spPr>
          <a:xfrm>
            <a:off x="548640" y="1188720"/>
            <a:ext cx="3474720" cy="822960"/>
          </a:xfrm>
          <a:prstGeom prst="rect">
            <a:avLst/>
          </a:prstGeom>
          <a:noFill/>
          <a:ln/>
        </p:spPr>
        <p:txBody>
          <a:bodyPr wrap="square" lIns="0" tIns="0" rIns="0" bIns="0" rtlCol="0" anchor="ctr"/>
          <a:lstStyle/>
          <a:p>
            <a:pPr indent="0" marL="0">
              <a:buNone/>
            </a:pPr>
            <a:r>
              <a:rPr lang="en-US" sz="5400" b="1" dirty="0">
                <a:solidFill>
                  <a:schemeClr val="accent1"/>
                </a:solidFill>
                <a:latin typeface="Barlow Condensed" pitchFamily="34" charset="0"/>
                <a:ea typeface="Barlow Condensed" pitchFamily="34" charset="-122"/>
                <a:cs typeface="Barlow Condensed" pitchFamily="34" charset="-120"/>
              </a:rPr>
              <a:t>90 s</a:t>
            </a:r>
            <a:endParaRPr lang="en-US" sz="5400" dirty="0"/>
          </a:p>
        </p:txBody>
      </p:sp>
      <p:sp>
        <p:nvSpPr>
          <p:cNvPr id="4" name="chiffre-1-legende"/>
          <p:cNvSpPr txBox="1"/>
          <p:nvPr/>
        </p:nvSpPr>
        <p:spPr>
          <a:xfrm>
            <a:off x="548640" y="2011680"/>
            <a:ext cx="3474720" cy="548640"/>
          </a:xfrm>
          <a:prstGeom prst="rect">
            <a:avLst/>
          </a:prstGeom>
          <a:noFill/>
          <a:ln/>
        </p:spPr>
        <p:txBody>
          <a:bodyPr wrap="square" lIns="0" tIns="0" rIns="0" bIns="0" rtlCol="0" anchor="t"/>
          <a:lstStyle/>
          <a:p>
            <a:pPr indent="0" marL="0">
              <a:buNone/>
            </a:pPr>
            <a:r>
              <a:rPr lang="en-US" sz="1400" dirty="0">
                <a:solidFill>
                  <a:schemeClr val="accent4"/>
                </a:solidFill>
                <a:latin typeface="Barlow" pitchFamily="34" charset="0"/>
                <a:ea typeface="Barlow" pitchFamily="34" charset="-122"/>
                <a:cs typeface="Barlow" pitchFamily="34" charset="-120"/>
              </a:rPr>
              <a:t>pour proposer l'emploi du temps d'un semestre entier (2 620 séances)</a:t>
            </a:r>
            <a:endParaRPr lang="en-US" sz="1400" dirty="0"/>
          </a:p>
        </p:txBody>
      </p:sp>
      <p:sp>
        <p:nvSpPr>
          <p:cNvPr id="5" name="chiffre-2"/>
          <p:cNvSpPr txBox="1"/>
          <p:nvPr/>
        </p:nvSpPr>
        <p:spPr>
          <a:xfrm>
            <a:off x="4325112" y="1188720"/>
            <a:ext cx="3474720" cy="822960"/>
          </a:xfrm>
          <a:prstGeom prst="rect">
            <a:avLst/>
          </a:prstGeom>
          <a:noFill/>
          <a:ln/>
        </p:spPr>
        <p:txBody>
          <a:bodyPr wrap="square" lIns="0" tIns="0" rIns="0" bIns="0" rtlCol="0" anchor="ctr"/>
          <a:lstStyle/>
          <a:p>
            <a:pPr indent="0" marL="0">
              <a:buNone/>
            </a:pPr>
            <a:r>
              <a:rPr lang="en-US" sz="5400" b="1" dirty="0">
                <a:solidFill>
                  <a:schemeClr val="tx2"/>
                </a:solidFill>
                <a:latin typeface="Barlow Condensed" pitchFamily="34" charset="0"/>
                <a:ea typeface="Barlow Condensed" pitchFamily="34" charset="-122"/>
                <a:cs typeface="Barlow Condensed" pitchFamily="34" charset="-120"/>
              </a:rPr>
              <a:t>1</a:t>
            </a:r>
            <a:endParaRPr lang="en-US" sz="5400" dirty="0"/>
          </a:p>
        </p:txBody>
      </p:sp>
      <p:sp>
        <p:nvSpPr>
          <p:cNvPr id="6" name="chiffre-2-legende"/>
          <p:cNvSpPr txBox="1"/>
          <p:nvPr/>
        </p:nvSpPr>
        <p:spPr>
          <a:xfrm>
            <a:off x="4325112" y="2011680"/>
            <a:ext cx="3474720" cy="548640"/>
          </a:xfrm>
          <a:prstGeom prst="rect">
            <a:avLst/>
          </a:prstGeom>
          <a:noFill/>
          <a:ln/>
        </p:spPr>
        <p:txBody>
          <a:bodyPr wrap="square" lIns="0" tIns="0" rIns="0" bIns="0" rtlCol="0" anchor="t"/>
          <a:lstStyle/>
          <a:p>
            <a:pPr indent="0" marL="0">
              <a:buNone/>
            </a:pPr>
            <a:r>
              <a:rPr lang="en-US" sz="1400" dirty="0">
                <a:solidFill>
                  <a:schemeClr val="accent4"/>
                </a:solidFill>
                <a:latin typeface="Barlow" pitchFamily="34" charset="0"/>
                <a:ea typeface="Barlow" pitchFamily="34" charset="-122"/>
                <a:cs typeface="Barlow" pitchFamily="34" charset="-120"/>
              </a:rPr>
              <a:t>compte et une application, au lieu de six outils</a:t>
            </a:r>
            <a:endParaRPr lang="en-US" sz="1400" dirty="0"/>
          </a:p>
        </p:txBody>
      </p:sp>
      <p:sp>
        <p:nvSpPr>
          <p:cNvPr id="7" name="chiffre-3"/>
          <p:cNvSpPr txBox="1"/>
          <p:nvPr/>
        </p:nvSpPr>
        <p:spPr>
          <a:xfrm>
            <a:off x="8101584" y="1188720"/>
            <a:ext cx="3474720" cy="822960"/>
          </a:xfrm>
          <a:prstGeom prst="rect">
            <a:avLst/>
          </a:prstGeom>
          <a:noFill/>
          <a:ln/>
        </p:spPr>
        <p:txBody>
          <a:bodyPr wrap="square" lIns="0" tIns="0" rIns="0" bIns="0" rtlCol="0" anchor="ctr"/>
          <a:lstStyle/>
          <a:p>
            <a:pPr indent="0" marL="0">
              <a:buNone/>
            </a:pPr>
            <a:r>
              <a:rPr lang="en-US" sz="5400" b="1" dirty="0">
                <a:solidFill>
                  <a:schemeClr val="tx2"/>
                </a:solidFill>
                <a:latin typeface="Barlow Condensed" pitchFamily="34" charset="0"/>
                <a:ea typeface="Barlow Condensed" pitchFamily="34" charset="-122"/>
                <a:cs typeface="Barlow Condensed" pitchFamily="34" charset="-120"/>
              </a:rPr>
              <a:t>0</a:t>
            </a:r>
            <a:endParaRPr lang="en-US" sz="5400" dirty="0"/>
          </a:p>
        </p:txBody>
      </p:sp>
      <p:sp>
        <p:nvSpPr>
          <p:cNvPr id="8" name="chiffre-3-legende"/>
          <p:cNvSpPr txBox="1"/>
          <p:nvPr/>
        </p:nvSpPr>
        <p:spPr>
          <a:xfrm>
            <a:off x="8101584" y="2011680"/>
            <a:ext cx="3474720" cy="548640"/>
          </a:xfrm>
          <a:prstGeom prst="rect">
            <a:avLst/>
          </a:prstGeom>
          <a:noFill/>
          <a:ln/>
        </p:spPr>
        <p:txBody>
          <a:bodyPr wrap="square" lIns="0" tIns="0" rIns="0" bIns="0" rtlCol="0" anchor="t"/>
          <a:lstStyle/>
          <a:p>
            <a:pPr indent="0" marL="0">
              <a:buNone/>
            </a:pPr>
            <a:r>
              <a:rPr lang="en-US" sz="1400" dirty="0">
                <a:solidFill>
                  <a:schemeClr val="accent4"/>
                </a:solidFill>
                <a:latin typeface="Barlow" pitchFamily="34" charset="0"/>
                <a:ea typeface="Barlow" pitchFamily="34" charset="-122"/>
                <a:cs typeface="Barlow" pitchFamily="34" charset="-120"/>
              </a:rPr>
              <a:t>publicité ni compte externe pour les jeux et les quiz</a:t>
            </a:r>
            <a:endParaRPr lang="en-US" sz="1400" dirty="0"/>
          </a:p>
        </p:txBody>
      </p:sp>
      <p:sp>
        <p:nvSpPr>
          <p:cNvPr id="9" name="public-1-carte"/>
          <p:cNvSpPr/>
          <p:nvPr/>
        </p:nvSpPr>
        <p:spPr>
          <a:xfrm>
            <a:off x="548640" y="2834640"/>
            <a:ext cx="2606040" cy="3154680"/>
          </a:xfrm>
          <a:prstGeom prst="roundRect">
            <a:avLst>
              <a:gd name="adj" fmla="val 4211"/>
            </a:avLst>
          </a:prstGeom>
          <a:solidFill>
            <a:schemeClr val="bg2"/>
          </a:solidFill>
          <a:ln w="12700">
            <a:solidFill>
              <a:schemeClr val="bg2"/>
            </a:solidFill>
            <a:prstDash val="solid"/>
          </a:ln>
        </p:spPr>
      </p:sp>
      <p:sp>
        <p:nvSpPr>
          <p:cNvPr id="10" name="public-1-rond"/>
          <p:cNvSpPr/>
          <p:nvPr/>
        </p:nvSpPr>
        <p:spPr>
          <a:xfrm>
            <a:off x="804672" y="3108960"/>
            <a:ext cx="603504" cy="603504"/>
          </a:xfrm>
          <a:prstGeom prst="ellipse">
            <a:avLst/>
          </a:prstGeom>
          <a:solidFill>
            <a:schemeClr val="tx2"/>
          </a:solidFill>
          <a:ln w="12700">
            <a:solidFill>
              <a:schemeClr val="tx2"/>
            </a:solidFill>
            <a:prstDash val="solid"/>
          </a:ln>
        </p:spPr>
      </p:sp>
      <p:pic>
        <p:nvPicPr>
          <p:cNvPr id="11" name="public-1-icone" descr="preencoded.png">    </p:cNvPr>
          <p:cNvPicPr>
            <a:picLocks noChangeAspect="1"/>
          </p:cNvPicPr>
          <p:nvPr/>
        </p:nvPicPr>
        <p:blipFill>
          <a:blip r:embed="rId1"/>
          <a:stretch>
            <a:fillRect/>
          </a:stretch>
        </p:blipFill>
        <p:spPr>
          <a:xfrm>
            <a:off x="949513" y="3253801"/>
            <a:ext cx="313822" cy="313822"/>
          </a:xfrm>
          <a:prstGeom prst="rect">
            <a:avLst/>
          </a:prstGeom>
        </p:spPr>
      </p:pic>
      <p:sp>
        <p:nvSpPr>
          <p:cNvPr id="12" name="public-1-titre"/>
          <p:cNvSpPr txBox="1"/>
          <p:nvPr/>
        </p:nvSpPr>
        <p:spPr>
          <a:xfrm>
            <a:off x="804672" y="3858768"/>
            <a:ext cx="2148840" cy="411480"/>
          </a:xfrm>
          <a:prstGeom prst="rect">
            <a:avLst/>
          </a:prstGeom>
          <a:noFill/>
          <a:ln/>
        </p:spPr>
        <p:txBody>
          <a:bodyPr wrap="square" lIns="0" tIns="0" rIns="0" bIns="0" rtlCol="0" anchor="ctr"/>
          <a:lstStyle/>
          <a:p>
            <a:pPr indent="0" marL="0">
              <a:buNone/>
            </a:pPr>
            <a:r>
              <a:rPr lang="en-US" sz="2000" b="1" dirty="0">
                <a:solidFill>
                  <a:schemeClr val="tx2"/>
                </a:solidFill>
                <a:latin typeface="Barlow Condensed" pitchFamily="34" charset="0"/>
                <a:ea typeface="Barlow Condensed" pitchFamily="34" charset="-122"/>
                <a:cs typeface="Barlow Condensed" pitchFamily="34" charset="-120"/>
              </a:rPr>
              <a:t>Direction et scolarité</a:t>
            </a:r>
            <a:endParaRPr lang="en-US" sz="2000" dirty="0"/>
          </a:p>
        </p:txBody>
      </p:sp>
      <p:sp>
        <p:nvSpPr>
          <p:cNvPr id="13" name="public-1-texte"/>
          <p:cNvSpPr txBox="1"/>
          <p:nvPr/>
        </p:nvSpPr>
        <p:spPr>
          <a:xfrm>
            <a:off x="804672" y="4343400"/>
            <a:ext cx="2148840" cy="1554480"/>
          </a:xfrm>
          <a:prstGeom prst="rect">
            <a:avLst/>
          </a:prstGeom>
          <a:noFill/>
          <a:ln/>
        </p:spPr>
        <p:txBody>
          <a:bodyPr wrap="square" lIns="0" tIns="0" rIns="0" bIns="0" rtlCol="0" anchor="t"/>
          <a:lstStyle/>
          <a:p>
            <a:pPr indent="0" marL="0">
              <a:buNone/>
            </a:pPr>
            <a:r>
              <a:rPr lang="en-US" sz="1400" dirty="0">
                <a:solidFill>
                  <a:schemeClr val="tx1"/>
                </a:solidFill>
                <a:latin typeface="Barlow" pitchFamily="34" charset="0"/>
                <a:ea typeface="Barlow" pitchFamily="34" charset="-122"/>
                <a:cs typeface="Barlow" pitchFamily="34" charset="-120"/>
              </a:rPr>
              <a:t>Le planning du semestre proposé automatiquement, les conflits signalés, le suivi des heures en un coup d'œil.</a:t>
            </a:r>
            <a:endParaRPr lang="en-US" sz="1400" dirty="0"/>
          </a:p>
        </p:txBody>
      </p:sp>
      <p:sp>
        <p:nvSpPr>
          <p:cNvPr id="14" name="public-2-carte"/>
          <p:cNvSpPr/>
          <p:nvPr/>
        </p:nvSpPr>
        <p:spPr>
          <a:xfrm>
            <a:off x="3367735" y="2834640"/>
            <a:ext cx="2606040" cy="3154680"/>
          </a:xfrm>
          <a:prstGeom prst="roundRect">
            <a:avLst>
              <a:gd name="adj" fmla="val 4211"/>
            </a:avLst>
          </a:prstGeom>
          <a:solidFill>
            <a:schemeClr val="bg2"/>
          </a:solidFill>
          <a:ln w="12700">
            <a:solidFill>
              <a:schemeClr val="bg2"/>
            </a:solidFill>
            <a:prstDash val="solid"/>
          </a:ln>
        </p:spPr>
      </p:sp>
      <p:sp>
        <p:nvSpPr>
          <p:cNvPr id="15" name="public-2-rond"/>
          <p:cNvSpPr/>
          <p:nvPr/>
        </p:nvSpPr>
        <p:spPr>
          <a:xfrm>
            <a:off x="3623767" y="3108960"/>
            <a:ext cx="603504" cy="603504"/>
          </a:xfrm>
          <a:prstGeom prst="ellipse">
            <a:avLst/>
          </a:prstGeom>
          <a:solidFill>
            <a:schemeClr val="tx2"/>
          </a:solidFill>
          <a:ln w="12700">
            <a:solidFill>
              <a:schemeClr val="tx2"/>
            </a:solidFill>
            <a:prstDash val="solid"/>
          </a:ln>
        </p:spPr>
      </p:sp>
      <p:pic>
        <p:nvPicPr>
          <p:cNvPr id="16" name="public-2-icone" descr="preencoded.png">    </p:cNvPr>
          <p:cNvPicPr>
            <a:picLocks noChangeAspect="1"/>
          </p:cNvPicPr>
          <p:nvPr/>
        </p:nvPicPr>
        <p:blipFill>
          <a:blip r:embed="rId2"/>
          <a:stretch>
            <a:fillRect/>
          </a:stretch>
        </p:blipFill>
        <p:spPr>
          <a:xfrm>
            <a:off x="3768608" y="3253801"/>
            <a:ext cx="313822" cy="313822"/>
          </a:xfrm>
          <a:prstGeom prst="rect">
            <a:avLst/>
          </a:prstGeom>
        </p:spPr>
      </p:pic>
      <p:sp>
        <p:nvSpPr>
          <p:cNvPr id="17" name="public-2-titre"/>
          <p:cNvSpPr txBox="1"/>
          <p:nvPr/>
        </p:nvSpPr>
        <p:spPr>
          <a:xfrm>
            <a:off x="3623767" y="3858768"/>
            <a:ext cx="2148840" cy="411480"/>
          </a:xfrm>
          <a:prstGeom prst="rect">
            <a:avLst/>
          </a:prstGeom>
          <a:noFill/>
          <a:ln/>
        </p:spPr>
        <p:txBody>
          <a:bodyPr wrap="square" lIns="0" tIns="0" rIns="0" bIns="0" rtlCol="0" anchor="ctr"/>
          <a:lstStyle/>
          <a:p>
            <a:pPr indent="0" marL="0">
              <a:buNone/>
            </a:pPr>
            <a:r>
              <a:rPr lang="en-US" sz="2000" b="1" dirty="0">
                <a:solidFill>
                  <a:schemeClr val="tx2"/>
                </a:solidFill>
                <a:latin typeface="Barlow Condensed" pitchFamily="34" charset="0"/>
                <a:ea typeface="Barlow Condensed" pitchFamily="34" charset="-122"/>
                <a:cs typeface="Barlow Condensed" pitchFamily="34" charset="-120"/>
              </a:rPr>
              <a:t>Enseignants</a:t>
            </a:r>
            <a:endParaRPr lang="en-US" sz="2000" dirty="0"/>
          </a:p>
        </p:txBody>
      </p:sp>
      <p:sp>
        <p:nvSpPr>
          <p:cNvPr id="18" name="public-2-texte"/>
          <p:cNvSpPr txBox="1"/>
          <p:nvPr/>
        </p:nvSpPr>
        <p:spPr>
          <a:xfrm>
            <a:off x="3623767" y="4343400"/>
            <a:ext cx="2148840" cy="1554480"/>
          </a:xfrm>
          <a:prstGeom prst="rect">
            <a:avLst/>
          </a:prstGeom>
          <a:noFill/>
          <a:ln/>
        </p:spPr>
        <p:txBody>
          <a:bodyPr wrap="square" lIns="0" tIns="0" rIns="0" bIns="0" rtlCol="0" anchor="t"/>
          <a:lstStyle/>
          <a:p>
            <a:pPr indent="0" marL="0">
              <a:buNone/>
            </a:pPr>
            <a:r>
              <a:rPr lang="en-US" sz="1400" dirty="0">
                <a:solidFill>
                  <a:schemeClr val="tx1"/>
                </a:solidFill>
                <a:latin typeface="Barlow" pitchFamily="34" charset="0"/>
                <a:ea typeface="Barlow" pitchFamily="34" charset="-122"/>
                <a:cs typeface="Barlow" pitchFamily="34" charset="-120"/>
              </a:rPr>
              <a:t>Leurs cours, leurs supports, leurs quiz et leurs demandes de report au même endroit.</a:t>
            </a:r>
            <a:endParaRPr lang="en-US" sz="1400" dirty="0"/>
          </a:p>
        </p:txBody>
      </p:sp>
      <p:sp>
        <p:nvSpPr>
          <p:cNvPr id="19" name="public-3-carte"/>
          <p:cNvSpPr/>
          <p:nvPr/>
        </p:nvSpPr>
        <p:spPr>
          <a:xfrm>
            <a:off x="6186830" y="2834640"/>
            <a:ext cx="2606040" cy="3154680"/>
          </a:xfrm>
          <a:prstGeom prst="roundRect">
            <a:avLst>
              <a:gd name="adj" fmla="val 4211"/>
            </a:avLst>
          </a:prstGeom>
          <a:solidFill>
            <a:schemeClr val="bg2"/>
          </a:solidFill>
          <a:ln w="12700">
            <a:solidFill>
              <a:schemeClr val="bg2"/>
            </a:solidFill>
            <a:prstDash val="solid"/>
          </a:ln>
        </p:spPr>
      </p:sp>
      <p:sp>
        <p:nvSpPr>
          <p:cNvPr id="20" name="public-3-rond"/>
          <p:cNvSpPr/>
          <p:nvPr/>
        </p:nvSpPr>
        <p:spPr>
          <a:xfrm>
            <a:off x="6442862" y="3108960"/>
            <a:ext cx="603504" cy="603504"/>
          </a:xfrm>
          <a:prstGeom prst="ellipse">
            <a:avLst/>
          </a:prstGeom>
          <a:solidFill>
            <a:schemeClr val="tx2"/>
          </a:solidFill>
          <a:ln w="12700">
            <a:solidFill>
              <a:schemeClr val="tx2"/>
            </a:solidFill>
            <a:prstDash val="solid"/>
          </a:ln>
        </p:spPr>
      </p:sp>
      <p:pic>
        <p:nvPicPr>
          <p:cNvPr id="21" name="public-3-icone" descr="preencoded.png">    </p:cNvPr>
          <p:cNvPicPr>
            <a:picLocks noChangeAspect="1"/>
          </p:cNvPicPr>
          <p:nvPr/>
        </p:nvPicPr>
        <p:blipFill>
          <a:blip r:embed="rId3"/>
          <a:stretch>
            <a:fillRect/>
          </a:stretch>
        </p:blipFill>
        <p:spPr>
          <a:xfrm>
            <a:off x="6587703" y="3253801"/>
            <a:ext cx="313822" cy="313822"/>
          </a:xfrm>
          <a:prstGeom prst="rect">
            <a:avLst/>
          </a:prstGeom>
        </p:spPr>
      </p:pic>
      <p:sp>
        <p:nvSpPr>
          <p:cNvPr id="22" name="public-3-titre"/>
          <p:cNvSpPr txBox="1"/>
          <p:nvPr/>
        </p:nvSpPr>
        <p:spPr>
          <a:xfrm>
            <a:off x="6442862" y="3858768"/>
            <a:ext cx="2148840" cy="411480"/>
          </a:xfrm>
          <a:prstGeom prst="rect">
            <a:avLst/>
          </a:prstGeom>
          <a:noFill/>
          <a:ln/>
        </p:spPr>
        <p:txBody>
          <a:bodyPr wrap="square" lIns="0" tIns="0" rIns="0" bIns="0" rtlCol="0" anchor="ctr"/>
          <a:lstStyle/>
          <a:p>
            <a:pPr indent="0" marL="0">
              <a:buNone/>
            </a:pPr>
            <a:r>
              <a:rPr lang="en-US" sz="2000" b="1" dirty="0">
                <a:solidFill>
                  <a:schemeClr val="tx2"/>
                </a:solidFill>
                <a:latin typeface="Barlow Condensed" pitchFamily="34" charset="0"/>
                <a:ea typeface="Barlow Condensed" pitchFamily="34" charset="-122"/>
                <a:cs typeface="Barlow Condensed" pitchFamily="34" charset="-120"/>
              </a:rPr>
              <a:t>Étudiants</a:t>
            </a:r>
            <a:endParaRPr lang="en-US" sz="2000" dirty="0"/>
          </a:p>
        </p:txBody>
      </p:sp>
      <p:sp>
        <p:nvSpPr>
          <p:cNvPr id="23" name="public-3-texte"/>
          <p:cNvSpPr txBox="1"/>
          <p:nvPr/>
        </p:nvSpPr>
        <p:spPr>
          <a:xfrm>
            <a:off x="6442862" y="4343400"/>
            <a:ext cx="2148840" cy="1554480"/>
          </a:xfrm>
          <a:prstGeom prst="rect">
            <a:avLst/>
          </a:prstGeom>
          <a:noFill/>
          <a:ln/>
        </p:spPr>
        <p:txBody>
          <a:bodyPr wrap="square" lIns="0" tIns="0" rIns="0" bIns="0" rtlCol="0" anchor="t"/>
          <a:lstStyle/>
          <a:p>
            <a:pPr indent="0" marL="0">
              <a:buNone/>
            </a:pPr>
            <a:r>
              <a:rPr lang="en-US" sz="1400" dirty="0">
                <a:solidFill>
                  <a:schemeClr val="tx1"/>
                </a:solidFill>
                <a:latin typeface="Barlow" pitchFamily="34" charset="0"/>
                <a:ea typeface="Barlow" pitchFamily="34" charset="-122"/>
                <a:cs typeface="Barlow" pitchFamily="34" charset="-120"/>
              </a:rPr>
              <a:t>Leur journée, leurs cours et leurs résultats dans la poche, en français ou en anglais.</a:t>
            </a:r>
            <a:endParaRPr lang="en-US" sz="1400" dirty="0"/>
          </a:p>
        </p:txBody>
      </p:sp>
      <p:sp>
        <p:nvSpPr>
          <p:cNvPr id="24" name="public-4-carte"/>
          <p:cNvSpPr/>
          <p:nvPr/>
        </p:nvSpPr>
        <p:spPr>
          <a:xfrm>
            <a:off x="9005926" y="2834640"/>
            <a:ext cx="2606040" cy="3154680"/>
          </a:xfrm>
          <a:prstGeom prst="roundRect">
            <a:avLst>
              <a:gd name="adj" fmla="val 4211"/>
            </a:avLst>
          </a:prstGeom>
          <a:solidFill>
            <a:schemeClr val="bg2"/>
          </a:solidFill>
          <a:ln w="12700">
            <a:solidFill>
              <a:schemeClr val="bg2"/>
            </a:solidFill>
            <a:prstDash val="solid"/>
          </a:ln>
        </p:spPr>
      </p:sp>
      <p:sp>
        <p:nvSpPr>
          <p:cNvPr id="25" name="public-4-rond"/>
          <p:cNvSpPr/>
          <p:nvPr/>
        </p:nvSpPr>
        <p:spPr>
          <a:xfrm>
            <a:off x="9261958" y="3108960"/>
            <a:ext cx="603504" cy="603504"/>
          </a:xfrm>
          <a:prstGeom prst="ellipse">
            <a:avLst/>
          </a:prstGeom>
          <a:solidFill>
            <a:schemeClr val="tx2"/>
          </a:solidFill>
          <a:ln w="12700">
            <a:solidFill>
              <a:schemeClr val="tx2"/>
            </a:solidFill>
            <a:prstDash val="solid"/>
          </a:ln>
        </p:spPr>
      </p:sp>
      <p:pic>
        <p:nvPicPr>
          <p:cNvPr id="26" name="public-4-icone" descr="preencoded.png">    </p:cNvPr>
          <p:cNvPicPr>
            <a:picLocks noChangeAspect="1"/>
          </p:cNvPicPr>
          <p:nvPr/>
        </p:nvPicPr>
        <p:blipFill>
          <a:blip r:embed="rId4"/>
          <a:stretch>
            <a:fillRect/>
          </a:stretch>
        </p:blipFill>
        <p:spPr>
          <a:xfrm>
            <a:off x="9406799" y="3253801"/>
            <a:ext cx="313822" cy="313822"/>
          </a:xfrm>
          <a:prstGeom prst="rect">
            <a:avLst/>
          </a:prstGeom>
        </p:spPr>
      </p:pic>
      <p:sp>
        <p:nvSpPr>
          <p:cNvPr id="27" name="public-4-titre"/>
          <p:cNvSpPr txBox="1"/>
          <p:nvPr/>
        </p:nvSpPr>
        <p:spPr>
          <a:xfrm>
            <a:off x="9261958" y="3858768"/>
            <a:ext cx="2148840" cy="411480"/>
          </a:xfrm>
          <a:prstGeom prst="rect">
            <a:avLst/>
          </a:prstGeom>
          <a:noFill/>
          <a:ln/>
        </p:spPr>
        <p:txBody>
          <a:bodyPr wrap="square" lIns="0" tIns="0" rIns="0" bIns="0" rtlCol="0" anchor="ctr"/>
          <a:lstStyle/>
          <a:p>
            <a:pPr indent="0" marL="0">
              <a:buNone/>
            </a:pPr>
            <a:r>
              <a:rPr lang="en-US" sz="2000" b="1" dirty="0">
                <a:solidFill>
                  <a:schemeClr val="tx2"/>
                </a:solidFill>
                <a:latin typeface="Barlow Condensed" pitchFamily="34" charset="0"/>
                <a:ea typeface="Barlow Condensed" pitchFamily="34" charset="-122"/>
                <a:cs typeface="Barlow Condensed" pitchFamily="34" charset="-120"/>
              </a:rPr>
              <a:t>L'école</a:t>
            </a:r>
            <a:endParaRPr lang="en-US" sz="2000" dirty="0"/>
          </a:p>
        </p:txBody>
      </p:sp>
      <p:sp>
        <p:nvSpPr>
          <p:cNvPr id="28" name="public-4-texte"/>
          <p:cNvSpPr txBox="1"/>
          <p:nvPr/>
        </p:nvSpPr>
        <p:spPr>
          <a:xfrm>
            <a:off x="9261958" y="4343400"/>
            <a:ext cx="2148840" cy="1554480"/>
          </a:xfrm>
          <a:prstGeom prst="rect">
            <a:avLst/>
          </a:prstGeom>
          <a:noFill/>
          <a:ln/>
        </p:spPr>
        <p:txBody>
          <a:bodyPr wrap="square" lIns="0" tIns="0" rIns="0" bIns="0" rtlCol="0" anchor="t"/>
          <a:lstStyle/>
          <a:p>
            <a:pPr indent="0" marL="0">
              <a:buNone/>
            </a:pPr>
            <a:r>
              <a:rPr lang="en-US" sz="1400" dirty="0">
                <a:solidFill>
                  <a:schemeClr val="tx1"/>
                </a:solidFill>
                <a:latin typeface="Barlow" pitchFamily="34" charset="0"/>
                <a:ea typeface="Barlow" pitchFamily="34" charset="-122"/>
                <a:cs typeface="Barlow" pitchFamily="34" charset="-120"/>
              </a:rPr>
              <a:t>Une image moderne et des données hébergées et maîtrisées par l'école.</a:t>
            </a:r>
            <a:endParaRPr lang="en-US" sz="14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Barlow Condensed"/>
                <a:ea typeface="Barlow Condensed"/>
                <a:cs typeface="Barlow Condense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nchor="ctr"/>
          <a:lstStyle/>
          <a:p>
            <a:pPr algn="l" indent="0" marL="0">
              <a:buNone/>
            </a:pPr>
            <a:r>
              <a:rPr lang="en-US" sz="4000" b="1" dirty="0">
                <a:solidFill>
                  <a:schemeClr val="bg1"/>
                </a:solidFill>
                <a:latin typeface="Barlow Condensed" pitchFamily="34" charset="0"/>
                <a:ea typeface="Barlow Condensed" pitchFamily="34" charset="-122"/>
                <a:cs typeface="Barlow Condensed" pitchFamily="34" charset="-120"/>
              </a:rPr>
              <a:t>Déjà en ligne, prêt pour un pilote</a:t>
            </a:r>
            <a:endParaRPr lang="en-US" sz="4000" dirty="0"/>
          </a:p>
        </p:txBody>
      </p:sp>
      <p:sp>
        <p:nvSpPr>
          <p:cNvPr id="3" name="disponible-titre"/>
          <p:cNvSpPr txBox="1"/>
          <p:nvPr/>
        </p:nvSpPr>
        <p:spPr>
          <a:xfrm>
            <a:off x="640080" y="1554480"/>
            <a:ext cx="5120640" cy="365760"/>
          </a:xfrm>
          <a:prstGeom prst="rect">
            <a:avLst/>
          </a:prstGeom>
          <a:noFill/>
          <a:ln/>
        </p:spPr>
        <p:txBody>
          <a:bodyPr wrap="square" lIns="0" tIns="0" rIns="0" bIns="0" rtlCol="0" anchor="ctr"/>
          <a:lstStyle/>
          <a:p>
            <a:pPr indent="0" marL="0">
              <a:buNone/>
            </a:pPr>
            <a:r>
              <a:rPr lang="en-US" sz="1600" b="1" spc="300" kern="0" dirty="0">
                <a:solidFill>
                  <a:schemeClr val="accent1"/>
                </a:solidFill>
                <a:latin typeface="Barlow Condensed" pitchFamily="34" charset="0"/>
                <a:ea typeface="Barlow Condensed" pitchFamily="34" charset="-122"/>
                <a:cs typeface="Barlow Condensed" pitchFamily="34" charset="-120"/>
              </a:rPr>
              <a:t>DISPONIBLE AUJOURD'HUI</a:t>
            </a:r>
            <a:endParaRPr lang="en-US" sz="1600" dirty="0"/>
          </a:p>
        </p:txBody>
      </p:sp>
      <p:pic>
        <p:nvPicPr>
          <p:cNvPr id="4" name="disponible-1-coche" descr="preencoded.png">    </p:cNvPr>
          <p:cNvPicPr>
            <a:picLocks noChangeAspect="1"/>
          </p:cNvPicPr>
          <p:nvPr/>
        </p:nvPicPr>
        <p:blipFill>
          <a:blip r:embed="rId1"/>
          <a:stretch>
            <a:fillRect/>
          </a:stretch>
        </p:blipFill>
        <p:spPr>
          <a:xfrm>
            <a:off x="640080" y="2212848"/>
            <a:ext cx="329184" cy="329184"/>
          </a:xfrm>
          <a:prstGeom prst="rect">
            <a:avLst/>
          </a:prstGeom>
        </p:spPr>
      </p:pic>
      <p:sp>
        <p:nvSpPr>
          <p:cNvPr id="5" name="disponible-1"/>
          <p:cNvSpPr txBox="1"/>
          <p:nvPr/>
        </p:nvSpPr>
        <p:spPr>
          <a:xfrm>
            <a:off x="1143000" y="2121408"/>
            <a:ext cx="4754880" cy="502920"/>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Le site web, pour toute l'école</a:t>
            </a:r>
            <a:endParaRPr lang="en-US" sz="1700" dirty="0"/>
          </a:p>
        </p:txBody>
      </p:sp>
      <p:pic>
        <p:nvPicPr>
          <p:cNvPr id="6" name="disponible-2-coche" descr="preencoded.png">    </p:cNvPr>
          <p:cNvPicPr>
            <a:picLocks noChangeAspect="1"/>
          </p:cNvPicPr>
          <p:nvPr/>
        </p:nvPicPr>
        <p:blipFill>
          <a:blip r:embed="rId2"/>
          <a:stretch>
            <a:fillRect/>
          </a:stretch>
        </p:blipFill>
        <p:spPr>
          <a:xfrm>
            <a:off x="640080" y="3017520"/>
            <a:ext cx="329184" cy="329184"/>
          </a:xfrm>
          <a:prstGeom prst="rect">
            <a:avLst/>
          </a:prstGeom>
        </p:spPr>
      </p:pic>
      <p:sp>
        <p:nvSpPr>
          <p:cNvPr id="7" name="disponible-2"/>
          <p:cNvSpPr txBox="1"/>
          <p:nvPr/>
        </p:nvSpPr>
        <p:spPr>
          <a:xfrm>
            <a:off x="1143000" y="2926080"/>
            <a:ext cx="4754880" cy="502920"/>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L'application mobile, sur iPhone et Android</a:t>
            </a:r>
            <a:endParaRPr lang="en-US" sz="1700" dirty="0"/>
          </a:p>
        </p:txBody>
      </p:sp>
      <p:pic>
        <p:nvPicPr>
          <p:cNvPr id="8" name="disponible-3-coche" descr="preencoded.png">    </p:cNvPr>
          <p:cNvPicPr>
            <a:picLocks noChangeAspect="1"/>
          </p:cNvPicPr>
          <p:nvPr/>
        </p:nvPicPr>
        <p:blipFill>
          <a:blip r:embed="rId3"/>
          <a:stretch>
            <a:fillRect/>
          </a:stretch>
        </p:blipFill>
        <p:spPr>
          <a:xfrm>
            <a:off x="640080" y="3822192"/>
            <a:ext cx="329184" cy="329184"/>
          </a:xfrm>
          <a:prstGeom prst="rect">
            <a:avLst/>
          </a:prstGeom>
        </p:spPr>
      </p:pic>
      <p:sp>
        <p:nvSpPr>
          <p:cNvPr id="9" name="disponible-3"/>
          <p:cNvSpPr txBox="1"/>
          <p:nvPr/>
        </p:nvSpPr>
        <p:spPr>
          <a:xfrm>
            <a:off x="1143000" y="3730752"/>
            <a:ext cx="4754880" cy="502920"/>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La bibliothèque de cours</a:t>
            </a:r>
            <a:endParaRPr lang="en-US" sz="1700" dirty="0"/>
          </a:p>
        </p:txBody>
      </p:sp>
      <p:pic>
        <p:nvPicPr>
          <p:cNvPr id="10" name="disponible-4-coche" descr="preencoded.png">    </p:cNvPr>
          <p:cNvPicPr>
            <a:picLocks noChangeAspect="1"/>
          </p:cNvPicPr>
          <p:nvPr/>
        </p:nvPicPr>
        <p:blipFill>
          <a:blip r:embed="rId4"/>
          <a:stretch>
            <a:fillRect/>
          </a:stretch>
        </p:blipFill>
        <p:spPr>
          <a:xfrm>
            <a:off x="640080" y="4626864"/>
            <a:ext cx="329184" cy="329184"/>
          </a:xfrm>
          <a:prstGeom prst="rect">
            <a:avLst/>
          </a:prstGeom>
        </p:spPr>
      </p:pic>
      <p:sp>
        <p:nvSpPr>
          <p:cNvPr id="11" name="disponible-4"/>
          <p:cNvSpPr txBox="1"/>
          <p:nvPr/>
        </p:nvSpPr>
        <p:spPr>
          <a:xfrm>
            <a:off x="1143000" y="4535424"/>
            <a:ext cx="4754880" cy="502920"/>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Les jeux, les quiz et les devoirs notés</a:t>
            </a:r>
            <a:endParaRPr lang="en-US" sz="1700" dirty="0"/>
          </a:p>
        </p:txBody>
      </p:sp>
      <p:sp>
        <p:nvSpPr>
          <p:cNvPr id="12" name="suite-titre"/>
          <p:cNvSpPr txBox="1"/>
          <p:nvPr/>
        </p:nvSpPr>
        <p:spPr>
          <a:xfrm>
            <a:off x="6492240" y="1554480"/>
            <a:ext cx="5029200" cy="365760"/>
          </a:xfrm>
          <a:prstGeom prst="rect">
            <a:avLst/>
          </a:prstGeom>
          <a:noFill/>
          <a:ln/>
        </p:spPr>
        <p:txBody>
          <a:bodyPr wrap="square" lIns="0" tIns="0" rIns="0" bIns="0" rtlCol="0" anchor="ctr"/>
          <a:lstStyle/>
          <a:p>
            <a:pPr indent="0" marL="0">
              <a:buNone/>
            </a:pPr>
            <a:r>
              <a:rPr lang="en-US" sz="1600" b="1" spc="300" kern="0" dirty="0">
                <a:solidFill>
                  <a:schemeClr val="accent1"/>
                </a:solidFill>
                <a:latin typeface="Barlow Condensed" pitchFamily="34" charset="0"/>
                <a:ea typeface="Barlow Condensed" pitchFamily="34" charset="-122"/>
                <a:cs typeface="Barlow Condensed" pitchFamily="34" charset="-120"/>
              </a:rPr>
              <a:t>LA SUITE</a:t>
            </a:r>
            <a:endParaRPr lang="en-US" sz="1600" dirty="0"/>
          </a:p>
        </p:txBody>
      </p:sp>
      <p:sp>
        <p:nvSpPr>
          <p:cNvPr id="13" name="etape-1-rond"/>
          <p:cNvSpPr/>
          <p:nvPr/>
        </p:nvSpPr>
        <p:spPr>
          <a:xfrm>
            <a:off x="6492240" y="2103120"/>
            <a:ext cx="530352" cy="530352"/>
          </a:xfrm>
          <a:prstGeom prst="ellipse">
            <a:avLst/>
          </a:prstGeom>
          <a:solidFill>
            <a:schemeClr val="bg1"/>
          </a:solidFill>
          <a:ln w="12700">
            <a:solidFill>
              <a:schemeClr val="bg1"/>
            </a:solidFill>
            <a:prstDash val="solid"/>
          </a:ln>
        </p:spPr>
      </p:sp>
      <p:sp>
        <p:nvSpPr>
          <p:cNvPr id="14" name="etape-1-numero"/>
          <p:cNvSpPr txBox="1"/>
          <p:nvPr/>
        </p:nvSpPr>
        <p:spPr>
          <a:xfrm>
            <a:off x="6492240" y="2103120"/>
            <a:ext cx="530352" cy="530352"/>
          </a:xfrm>
          <a:prstGeom prst="rect">
            <a:avLst/>
          </a:prstGeom>
          <a:noFill/>
          <a:ln/>
        </p:spPr>
        <p:txBody>
          <a:bodyPr wrap="square" lIns="0" tIns="0" rIns="0" bIns="0" rtlCol="0" anchor="ctr"/>
          <a:lstStyle/>
          <a:p>
            <a:pPr algn="ctr" indent="0" marL="0">
              <a:buNone/>
            </a:pPr>
            <a:r>
              <a:rPr lang="en-US" sz="2200" b="1" dirty="0">
                <a:solidFill>
                  <a:schemeClr val="tx2"/>
                </a:solidFill>
                <a:latin typeface="Barlow Condensed" pitchFamily="34" charset="0"/>
                <a:ea typeface="Barlow Condensed" pitchFamily="34" charset="-122"/>
                <a:cs typeface="Barlow Condensed" pitchFamily="34" charset="-120"/>
              </a:rPr>
              <a:t>1</a:t>
            </a:r>
            <a:endParaRPr lang="en-US" sz="2200" dirty="0"/>
          </a:p>
        </p:txBody>
      </p:sp>
      <p:sp>
        <p:nvSpPr>
          <p:cNvPr id="15" name="etape-1"/>
          <p:cNvSpPr txBox="1"/>
          <p:nvPr/>
        </p:nvSpPr>
        <p:spPr>
          <a:xfrm>
            <a:off x="7223760" y="1993392"/>
            <a:ext cx="4389120" cy="749808"/>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Un pilote d'un semestre, avec une filière</a:t>
            </a:r>
            <a:endParaRPr lang="en-US" sz="1700" dirty="0"/>
          </a:p>
        </p:txBody>
      </p:sp>
      <p:sp>
        <p:nvSpPr>
          <p:cNvPr id="16" name="etape-2-rond"/>
          <p:cNvSpPr/>
          <p:nvPr/>
        </p:nvSpPr>
        <p:spPr>
          <a:xfrm>
            <a:off x="6492240" y="3063240"/>
            <a:ext cx="530352" cy="530352"/>
          </a:xfrm>
          <a:prstGeom prst="ellipse">
            <a:avLst/>
          </a:prstGeom>
          <a:solidFill>
            <a:schemeClr val="bg1"/>
          </a:solidFill>
          <a:ln w="12700">
            <a:solidFill>
              <a:schemeClr val="bg1"/>
            </a:solidFill>
            <a:prstDash val="solid"/>
          </a:ln>
        </p:spPr>
      </p:sp>
      <p:sp>
        <p:nvSpPr>
          <p:cNvPr id="17" name="etape-2-numero"/>
          <p:cNvSpPr txBox="1"/>
          <p:nvPr/>
        </p:nvSpPr>
        <p:spPr>
          <a:xfrm>
            <a:off x="6492240" y="3063240"/>
            <a:ext cx="530352" cy="530352"/>
          </a:xfrm>
          <a:prstGeom prst="rect">
            <a:avLst/>
          </a:prstGeom>
          <a:noFill/>
          <a:ln/>
        </p:spPr>
        <p:txBody>
          <a:bodyPr wrap="square" lIns="0" tIns="0" rIns="0" bIns="0" rtlCol="0" anchor="ctr"/>
          <a:lstStyle/>
          <a:p>
            <a:pPr algn="ctr" indent="0" marL="0">
              <a:buNone/>
            </a:pPr>
            <a:r>
              <a:rPr lang="en-US" sz="2200" b="1" dirty="0">
                <a:solidFill>
                  <a:schemeClr val="tx2"/>
                </a:solidFill>
                <a:latin typeface="Barlow Condensed" pitchFamily="34" charset="0"/>
                <a:ea typeface="Barlow Condensed" pitchFamily="34" charset="-122"/>
                <a:cs typeface="Barlow Condensed" pitchFamily="34" charset="-120"/>
              </a:rPr>
              <a:t>2</a:t>
            </a:r>
            <a:endParaRPr lang="en-US" sz="2200" dirty="0"/>
          </a:p>
        </p:txBody>
      </p:sp>
      <p:sp>
        <p:nvSpPr>
          <p:cNvPr id="18" name="etape-2"/>
          <p:cNvSpPr txBox="1"/>
          <p:nvPr/>
        </p:nvSpPr>
        <p:spPr>
          <a:xfrm>
            <a:off x="7223760" y="2953512"/>
            <a:ext cx="4389120" cy="749808"/>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Les annonces ciblées par filière et par groupe, à la place des envois Gmail</a:t>
            </a:r>
            <a:endParaRPr lang="en-US" sz="1700" dirty="0"/>
          </a:p>
        </p:txBody>
      </p:sp>
      <p:sp>
        <p:nvSpPr>
          <p:cNvPr id="19" name="etape-3-rond"/>
          <p:cNvSpPr/>
          <p:nvPr/>
        </p:nvSpPr>
        <p:spPr>
          <a:xfrm>
            <a:off x="6492240" y="4023360"/>
            <a:ext cx="530352" cy="530352"/>
          </a:xfrm>
          <a:prstGeom prst="ellipse">
            <a:avLst/>
          </a:prstGeom>
          <a:solidFill>
            <a:schemeClr val="bg1"/>
          </a:solidFill>
          <a:ln w="12700">
            <a:solidFill>
              <a:schemeClr val="bg1"/>
            </a:solidFill>
            <a:prstDash val="solid"/>
          </a:ln>
        </p:spPr>
      </p:sp>
      <p:sp>
        <p:nvSpPr>
          <p:cNvPr id="20" name="etape-3-numero"/>
          <p:cNvSpPr txBox="1"/>
          <p:nvPr/>
        </p:nvSpPr>
        <p:spPr>
          <a:xfrm>
            <a:off x="6492240" y="4023360"/>
            <a:ext cx="530352" cy="530352"/>
          </a:xfrm>
          <a:prstGeom prst="rect">
            <a:avLst/>
          </a:prstGeom>
          <a:noFill/>
          <a:ln/>
        </p:spPr>
        <p:txBody>
          <a:bodyPr wrap="square" lIns="0" tIns="0" rIns="0" bIns="0" rtlCol="0" anchor="ctr"/>
          <a:lstStyle/>
          <a:p>
            <a:pPr algn="ctr" indent="0" marL="0">
              <a:buNone/>
            </a:pPr>
            <a:r>
              <a:rPr lang="en-US" sz="2200" b="1" dirty="0">
                <a:solidFill>
                  <a:schemeClr val="tx2"/>
                </a:solidFill>
                <a:latin typeface="Barlow Condensed" pitchFamily="34" charset="0"/>
                <a:ea typeface="Barlow Condensed" pitchFamily="34" charset="-122"/>
                <a:cs typeface="Barlow Condensed" pitchFamily="34" charset="-120"/>
              </a:rPr>
              <a:t>3</a:t>
            </a:r>
            <a:endParaRPr lang="en-US" sz="2200" dirty="0"/>
          </a:p>
        </p:txBody>
      </p:sp>
      <p:sp>
        <p:nvSpPr>
          <p:cNvPr id="21" name="etape-3"/>
          <p:cNvSpPr txBox="1"/>
          <p:nvPr/>
        </p:nvSpPr>
        <p:spPr>
          <a:xfrm>
            <a:off x="7223760" y="3913632"/>
            <a:ext cx="4389120" cy="749808"/>
          </a:xfrm>
          <a:prstGeom prst="rect">
            <a:avLst/>
          </a:prstGeom>
          <a:noFill/>
          <a:ln/>
        </p:spPr>
        <p:txBody>
          <a:bodyPr wrap="square" lIns="0" tIns="0" rIns="0" bIns="0" rtlCol="0" anchor="ctr"/>
          <a:lstStyle/>
          <a:p>
            <a:pPr indent="0" marL="0">
              <a:buNone/>
            </a:pPr>
            <a:r>
              <a:rPr lang="en-US" sz="1700" dirty="0">
                <a:solidFill>
                  <a:schemeClr val="bg1"/>
                </a:solidFill>
                <a:latin typeface="Barlow" pitchFamily="34" charset="0"/>
                <a:ea typeface="Barlow" pitchFamily="34" charset="-122"/>
                <a:cs typeface="Barlow" pitchFamily="34" charset="-120"/>
              </a:rPr>
              <a:t>Toute l'école, puis d'autres établissements</a:t>
            </a:r>
            <a:endParaRPr lang="en-US" sz="1700" dirty="0"/>
          </a:p>
        </p:txBody>
      </p:sp>
      <p:sp>
        <p:nvSpPr>
          <p:cNvPr id="22" name="signature"/>
          <p:cNvSpPr txBox="1"/>
          <p:nvPr/>
        </p:nvSpPr>
        <p:spPr>
          <a:xfrm>
            <a:off x="640080" y="5440680"/>
            <a:ext cx="6858000" cy="548640"/>
          </a:xfrm>
          <a:prstGeom prst="rect">
            <a:avLst/>
          </a:prstGeom>
          <a:noFill/>
          <a:ln/>
        </p:spPr>
        <p:txBody>
          <a:bodyPr wrap="square" lIns="0" tIns="0" rIns="0" bIns="0" rtlCol="0" anchor="ctr"/>
          <a:lstStyle/>
          <a:p>
            <a:pPr indent="0" marL="0">
              <a:buNone/>
            </a:pPr>
            <a:r>
              <a:rPr lang="en-US" sz="3000" b="1" i="1" dirty="0">
                <a:solidFill>
                  <a:schemeClr val="bg1"/>
                </a:solidFill>
                <a:latin typeface="Barlow Condensed" pitchFamily="34" charset="0"/>
                <a:ea typeface="Barlow Condensed" pitchFamily="34" charset="-122"/>
                <a:cs typeface="Barlow Condensed" pitchFamily="34" charset="-120"/>
              </a:rPr>
              <a:t>HESTIM Planner — l'école, à l'heure.</a:t>
            </a:r>
            <a:endParaRPr lang="en-US" sz="3000" dirty="0"/>
          </a:p>
        </p:txBody>
      </p:sp>
      <p:sp>
        <p:nvSpPr>
          <p:cNvPr id="23" name="adresse-fin"/>
          <p:cNvSpPr txBox="1"/>
          <p:nvPr/>
        </p:nvSpPr>
        <p:spPr>
          <a:xfrm>
            <a:off x="7680960" y="5440680"/>
            <a:ext cx="3931920" cy="548640"/>
          </a:xfrm>
          <a:prstGeom prst="rect">
            <a:avLst/>
          </a:prstGeom>
          <a:noFill/>
          <a:ln/>
        </p:spPr>
        <p:txBody>
          <a:bodyPr wrap="square" lIns="0" tIns="0" rIns="0" bIns="0" rtlCol="0" anchor="ctr"/>
          <a:lstStyle/>
          <a:p>
            <a:pPr algn="r" indent="0" marL="0">
              <a:buNone/>
            </a:pPr>
            <a:r>
              <a:rPr lang="en-US" sz="1800" dirty="0">
                <a:solidFill>
                  <a:schemeClr val="bg2"/>
                </a:solidFill>
                <a:latin typeface="Barlow" pitchFamily="34" charset="0"/>
                <a:ea typeface="Barlow" pitchFamily="34" charset="-122"/>
                <a:cs typeface="Barlow" pitchFamily="34" charset="-120"/>
              </a:rPr>
              <a:t>planner.finadmintech.fr</a:t>
            </a:r>
            <a:endParaRPr lang="en-US" sz="1800" dirty="0"/>
          </a:p>
        </p:txBody>
      </p:sp>
      <p:sp>
        <p:nvSpPr>
          <p:cNvPr id="25" name="Slide Number Placeholder 0"/>
          <p:cNvSpPr>
            <a:spLocks noGrp="1"/>
          </p:cNvSpPr>
          <p:nvPr>
            <p:ph type="sldNum" sz="quarter" idx="4294967295"/>
          </p:nvPr>
        </p:nvSpPr>
        <p:spPr>
          <a:xfrm>
            <a:off x="11155680" y="635508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HESTIM Planner">
  <a:themeElements>
    <a:clrScheme name="HESTIM Planner">
      <a:dk1>
        <a:srgbClr val="0D1326"/>
      </a:dk1>
      <a:lt1>
        <a:srgbClr val="FFFFFF"/>
      </a:lt1>
      <a:dk2>
        <a:srgbClr val="001861"/>
      </a:dk2>
      <a:lt2>
        <a:srgbClr val="EEF1F8"/>
      </a:lt2>
      <a:accent1>
        <a:srgbClr val="F26322"/>
      </a:accent1>
      <a:accent2>
        <a:srgbClr val="137D3F"/>
      </a:accent2>
      <a:accent3>
        <a:srgbClr val="DB1F26"/>
      </a:accent3>
      <a:accent4>
        <a:srgbClr val="5F6778"/>
      </a:accent4>
      <a:accent5>
        <a:srgbClr val="DADDE5"/>
      </a:accent5>
      <a:accent6>
        <a:srgbClr val="24397F"/>
      </a:accent6>
      <a:hlink>
        <a:srgbClr val="001861"/>
      </a:hlink>
      <a:folHlink>
        <a:srgbClr val="5F6778"/>
      </a:folHlink>
    </a:clrScheme>
    <a:fontScheme name="HESTIM Planner">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HESTIM Planner — l'école, à l'heure</dc:title>
  <dc:subject>PptxGenJS Presentation</dc:subject>
  <dc:creator>Projet PACTE — HESTIM</dc:creator>
  <cp:lastModifiedBy>Projet PACTE — HESTIM</cp:lastModifiedBy>
  <cp:revision>1</cp:revision>
  <dcterms:created xsi:type="dcterms:W3CDTF">2026-10-06T22:46:44Z</dcterms:created>
  <dcterms:modified xsi:type="dcterms:W3CDTF">2026-10-06T22:46:44Z</dcterms:modified>
</cp:coreProperties>
</file>