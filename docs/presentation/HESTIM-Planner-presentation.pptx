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85ceb5d-d8e5-2c32-6413-d13d06e412e2}">
          <p14:sldIdLst>
            <p14:sldId id="256"/>
          </p14:sldIdLst>
        </p14:section>
        <p14:section name="Le constat" id="{0ea975ae-988d-d4bb-1dd7-f901d6f03fa3}">
          <p14:sldIdLst>
            <p14:sldId id="257"/>
          </p14:sldIdLst>
        </p14:section>
        <p14:section name="L'offre" id="{4bd6e78a-50d3-b733-530c-792eb1e09b7d}">
          <p14:sldIdLst>
            <p14:sldId id="258"/>
            <p14:sldId id="259"/>
          </p14:sldIdLst>
        </p14:section>
        <p14:section name="Les bénéfices" id="{863e12bc-e198-6254-7035-058d26c6fedd}">
          <p14:sldIdLst>
            <p14:sldId id="260"/>
          </p14:sldIdLst>
        </p14:section>
        <p14:section name="La suite" id="{29c394f4-54b5-3e22-9110-7458f0f1ba1d}">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 Bonjour. Une école, ce sont des centaines de cours chaque mois, des salles qui changent, des annonces, des supports, des devoirs, des quiz… et des étudiants qui doivent savoir, à chaque instant, où aller et quoi préparer.
HESTIM Planner réunit tout cela dans une seule application, sur le téléphone de chaque étudiant et sur l'ordinateur de chaque enseignant. Elle est déjà en ligne.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Aujourd'hui, l'école travaille avec cinq outils différents. Les informations partent par Gmail, à tout le monde. L'emploi du temps est envoyé en PDF chaque mois, et il faut le re-télécharger à chaque changement. Les devoirs vivent dans Classroom, les cours dans Moodle, et pour jouer en anglais ou réviser, on passe par des sites extérieurs.
Résultat : l'information arrive en retard, les équipes saisissent la même chose plusieurs fois, et les données de nos étudiants sont éparpillées chez des services externes. »
Si on demande : WhatsApp reste le moyen de joindre les parents (absences, retards de paiement) et certains cas particuliers ; la plateforme ne le remplace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HESTIM Planner remplace cet éparpillement par une seule application, avec un seul compte.
Quatre services. Un emploi du temps vivant : la semaine, le mois, le détail de chaque cours, toujours à jour, et il s'ajoute même à l'agenda du téléphone. Des annonces et des alertes : un cours reporté, une salle qui change, une information pour une filière ou un groupe, et seuls les étudiants concernés sont prévenus. Une bibliothèque : les supports de chaque module, lisibles même sans connexion, avec les retours de stage des anciens et des idées de projets. Et des activités : quiz, devoirs et jeux, choisis par l'enseignant pour vérifier qu'une notion est comprise ou pour s'entraîner. »
Démonstration possible : ouvrir l'application sur le téléphone (onglets Semaine, Bibliothèque puis Activités).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Concrètement, outil par outil. Les informations ne partent plus à tout le monde par Gmail : l'école publie des annonces ciblées, par filière, par groupe ou par classe, et chaque report déclenche une alerte automatique. Le PDF du mois devient un emploi du temps vivant, qui s'ajoute à l'agenda du téléphone, et le PDF officiel reste disponible. Classroom est remplacé par des devoirs en quiz, corrigés tout seuls, ou en fichier à rendre, notés par l'enseignant. Moodle est remplacé par une bibliothèque rangée par module, qu'on lit sur son téléphone, même sans connexion. Et les jeux deviennent des activités choisies par l'enseignant : pas de publicité, pas de compte externe, et l'école garde les résultats. »
Si on demande : WhatsApp reste pour joindre les parents ; l'appel en classe se fait aussi dans l'application, par un QR code que les étudiants scannent.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Ce que chacun y gagne. Pour la direction et la scolarité : l'emploi du temps d'un semestre entier est proposé automatiquement, 2 620 séances placées en 90 secondes, les conflits sont signalés avant qu'ils ne posent problème, et les présences remontent toutes seules.
Pour les enseignants : l'appel se fait en un QR code, et leurs cours, leurs devoirs et leurs activités sont au même endroit. Pour les étudiants : toute leur vie d'école dans la poche, en français ou en anglais. Et pour l'école : une image moderne, et des données qui restent chez 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 Tout ce que je viens de vous montrer est en ligne aujourd'hui : le site, l'application sur iPhone et Android, les annonces, l'agenda, la bibliothèque, les devoirs, les activités et l'appel par QR code.
Nous proposons de commencer par un pilote d'un semestre avec une filière, d'activer les notifications sur le téléphone et de publier l'application sur les stores, puis d'ouvrir la plateforme à toute l'école, et demain à d'autres établissements.
HESTIM Planner, l'école à l'heure. Merci.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018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788920"/>
            <a:ext cx="6583680" cy="1005840"/>
          </a:xfrm>
          <a:prstGeom prst="rect">
            <a:avLst/>
          </a:prstGeom>
          <a:noFill/>
          <a:ln/>
        </p:spPr>
        <p:txBody>
          <a:bodyPr wrap="square" rtlCol="0"/>
          <a:lstStyle>
            <a:lvl1pPr algn="l" indent="0" marL="0">
              <a:buNone/>
              <a:defRPr lang="en-US" sz="6000" b="1" dirty="0">
                <a:solidFill>
                  <a:schemeClr val="bg1"/>
                </a:solidFill>
                <a:latin typeface="Barlow Condensed" pitchFamily="34" charset="0"/>
                <a:ea typeface="Barlow Condensed" pitchFamily="34" charset="-122"/>
                <a:cs typeface="Barlow Condensed"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tx2"/>
                </a:solidFill>
                <a:latin typeface="Barlow Condensed" pitchFamily="34" charset="0"/>
                <a:ea typeface="Barlow Condensed" pitchFamily="34" charset="-122"/>
                <a:cs typeface="Barlow Condensed" pitchFamily="34" charset="-120"/>
              </a:defRPr>
            </a:lvl1pPr>
          </a:lstStyle>
          <a:p>
            <a:pPr algn="l" indent="0" marL="0">
              <a:buNone/>
            </a:pPr>
            <a:endParaRPr lang="en-US" sz="3600" dirty="0"/>
          </a:p>
        </p:txBody>
      </p:sp>
      <p:pic>
        <p:nvPicPr>
          <p:cNvPr id="3" name="Image 0" descr="preencoded.png">    </p:cNvPr>
          <p:cNvPicPr>
            <a:picLocks noChangeAspect="1"/>
          </p:cNvPicPr>
          <p:nvPr/>
        </p:nvPicPr>
        <p:blipFill>
          <a:blip r:embed="rId1"/>
          <a:stretch>
            <a:fillRect/>
          </a:stretch>
        </p:blipFill>
        <p:spPr>
          <a:xfrm>
            <a:off x="548640" y="6382512"/>
            <a:ext cx="237744" cy="237744"/>
          </a:xfrm>
          <a:prstGeom prst="rect">
            <a:avLst/>
          </a:prstGeom>
        </p:spPr>
      </p:pic>
      <p:sp>
        <p:nvSpPr>
          <p:cNvPr id="4" name="Text 0"/>
          <p:cNvSpPr/>
          <p:nvPr/>
        </p:nvSpPr>
        <p:spPr>
          <a:xfrm>
            <a:off x="868680" y="6355080"/>
            <a:ext cx="3657600" cy="292608"/>
          </a:xfrm>
          <a:prstGeom prst="rect">
            <a:avLst/>
          </a:prstGeom>
          <a:noFill/>
          <a:ln/>
        </p:spPr>
        <p:txBody>
          <a:bodyPr wrap="square" lIns="0" tIns="0" rIns="0" bIns="0" rtlCol="0" anchor="ctr"/>
          <a:lstStyle/>
          <a:p>
            <a:pPr indent="0" marL="0">
              <a:buNone/>
            </a:pPr>
            <a:r>
              <a:rPr lang="en-US" sz="1100" b="1" spc="200" kern="0" dirty="0">
                <a:solidFill>
                  <a:schemeClr val="accent4"/>
                </a:solidFill>
                <a:latin typeface="Barlow Condensed" pitchFamily="34" charset="0"/>
                <a:ea typeface="Barlow Condensed" pitchFamily="34" charset="-122"/>
                <a:cs typeface="Barlow Condensed" pitchFamily="34" charset="-120"/>
              </a:rPr>
              <a:t>HESTIM PLANNER</a:t>
            </a:r>
            <a:endParaRPr lang="en-US" sz="11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TURE">
    <p:bg>
      <p:bgPr>
        <a:solidFill>
          <a:srgbClr val="0018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777240"/>
          </a:xfrm>
          <a:prstGeom prst="rect">
            <a:avLst/>
          </a:prstGeom>
          <a:noFill/>
          <a:ln/>
        </p:spPr>
        <p:txBody>
          <a:bodyPr wrap="square" rtlCol="0"/>
          <a:lstStyle>
            <a:lvl1pPr algn="l" indent="0" marL="0">
              <a:buNone/>
              <a:defRPr lang="en-US" sz="4000" b="1" dirty="0">
                <a:solidFill>
                  <a:schemeClr val="bg1"/>
                </a:solidFill>
                <a:latin typeface="Barlow Condensed" pitchFamily="34" charset="0"/>
                <a:ea typeface="Barlow Condensed" pitchFamily="34" charset="-122"/>
                <a:cs typeface="Barlow Condensed"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uile-logo"/>
          <p:cNvSpPr/>
          <p:nvPr/>
        </p:nvSpPr>
        <p:spPr>
          <a:xfrm>
            <a:off x="640080" y="685800"/>
            <a:ext cx="1600200" cy="1600200"/>
          </a:xfrm>
          <a:prstGeom prst="roundRect">
            <a:avLst>
              <a:gd name="adj" fmla="val 12571"/>
            </a:avLst>
          </a:prstGeom>
          <a:solidFill>
            <a:schemeClr val="bg1"/>
          </a:solidFill>
          <a:ln w="12700">
            <a:solidFill>
              <a:schemeClr val="bg1"/>
            </a:solidFill>
            <a:prstDash val="solid"/>
          </a:ln>
        </p:spPr>
      </p:sp>
      <p:pic>
        <p:nvPicPr>
          <p:cNvPr id="3" name="embleme" descr="Emblème HESTIM">    </p:cNvPr>
          <p:cNvPicPr>
            <a:picLocks noChangeAspect="1"/>
          </p:cNvPicPr>
          <p:nvPr/>
        </p:nvPicPr>
        <p:blipFill>
          <a:blip r:embed="rId1"/>
          <a:stretch>
            <a:fillRect/>
          </a:stretch>
        </p:blipFill>
        <p:spPr>
          <a:xfrm>
            <a:off x="841248" y="886968"/>
            <a:ext cx="1197864" cy="1197864"/>
          </a:xfrm>
          <a:prstGeom prst="rect">
            <a:avLst/>
          </a:prstGeom>
        </p:spPr>
      </p:pic>
      <p:sp>
        <p:nvSpPr>
          <p:cNvPr id="4" name="Text 0"/>
          <p:cNvSpPr/>
          <p:nvPr>
            <p:ph idx="100" type="title" hasCustomPrompt="1"/>
          </p:nvPr>
        </p:nvSpPr>
        <p:spPr>
          <a:xfrm>
            <a:off x="640080" y="2788920"/>
            <a:ext cx="6583680" cy="1005840"/>
          </a:xfrm>
          <a:prstGeom prst="rect">
            <a:avLst/>
          </a:prstGeom>
          <a:noFill/>
          <a:ln/>
        </p:spPr>
        <p:txBody>
          <a:bodyPr wrap="square" lIns="0" tIns="0" rIns="0" bIns="0" rtlCol="0" anchor="ctr"/>
          <a:lstStyle/>
          <a:p>
            <a:pPr algn="l" indent="0" marL="0">
              <a:buNone/>
            </a:pPr>
            <a:r>
              <a:rPr lang="en-US" sz="6000" b="1" dirty="0">
                <a:solidFill>
                  <a:schemeClr val="bg1"/>
                </a:solidFill>
                <a:latin typeface="Barlow Condensed" pitchFamily="34" charset="0"/>
                <a:ea typeface="Barlow Condensed" pitchFamily="34" charset="-122"/>
                <a:cs typeface="Barlow Condensed" pitchFamily="34" charset="-120"/>
              </a:rPr>
              <a:t>HESTIM Planner</a:t>
            </a:r>
            <a:endParaRPr lang="en-US" sz="6000" dirty="0"/>
          </a:p>
        </p:txBody>
      </p:sp>
      <p:sp>
        <p:nvSpPr>
          <p:cNvPr id="5" name="accroche"/>
          <p:cNvSpPr txBox="1"/>
          <p:nvPr/>
        </p:nvSpPr>
        <p:spPr>
          <a:xfrm>
            <a:off x="640080" y="3840480"/>
            <a:ext cx="6583680" cy="868680"/>
          </a:xfrm>
          <a:prstGeom prst="rect">
            <a:avLst/>
          </a:prstGeom>
          <a:noFill/>
          <a:ln/>
        </p:spPr>
        <p:txBody>
          <a:bodyPr wrap="square" lIns="0" tIns="0" rIns="0" bIns="0" rtlCol="0" anchor="t"/>
          <a:lstStyle/>
          <a:p>
            <a:pPr indent="0" marL="0">
              <a:buNone/>
            </a:pPr>
            <a:r>
              <a:rPr lang="en-US" sz="2600" dirty="0">
                <a:solidFill>
                  <a:schemeClr val="bg1"/>
                </a:solidFill>
                <a:latin typeface="Barlow" pitchFamily="34" charset="0"/>
                <a:ea typeface="Barlow" pitchFamily="34" charset="-122"/>
                <a:cs typeface="Barlow" pitchFamily="34" charset="-120"/>
              </a:rPr>
              <a:t>Toute la vie de l'école dans une seule application</a:t>
            </a:r>
            <a:endParaRPr lang="en-US" sz="2600" dirty="0"/>
          </a:p>
        </p:txBody>
      </p:sp>
      <p:sp>
        <p:nvSpPr>
          <p:cNvPr id="6" name="services"/>
          <p:cNvSpPr txBox="1"/>
          <p:nvPr/>
        </p:nvSpPr>
        <p:spPr>
          <a:xfrm>
            <a:off x="640080" y="4800600"/>
            <a:ext cx="6583680" cy="411480"/>
          </a:xfrm>
          <a:prstGeom prst="rect">
            <a:avLst/>
          </a:prstGeom>
          <a:noFill/>
          <a:ln/>
        </p:spPr>
        <p:txBody>
          <a:bodyPr wrap="square" lIns="0" tIns="0" rIns="0" bIns="0" rtlCol="0" anchor="ctr"/>
          <a:lstStyle/>
          <a:p>
            <a:pPr indent="0" marL="0">
              <a:buNone/>
            </a:pPr>
            <a:r>
              <a:rPr lang="en-US" sz="2000" b="1" spc="100" kern="0" dirty="0">
                <a:solidFill>
                  <a:schemeClr val="accent1"/>
                </a:solidFill>
                <a:latin typeface="Barlow Condensed" pitchFamily="34" charset="0"/>
                <a:ea typeface="Barlow Condensed" pitchFamily="34" charset="-122"/>
                <a:cs typeface="Barlow Condensed" pitchFamily="34" charset="-120"/>
              </a:rPr>
              <a:t>Emploi du temps · Annonces · Bibliothèque · Activités</a:t>
            </a:r>
            <a:endParaRPr lang="en-US" sz="2000" dirty="0"/>
          </a:p>
        </p:txBody>
      </p:sp>
      <p:sp>
        <p:nvSpPr>
          <p:cNvPr id="7" name="adresse"/>
          <p:cNvSpPr txBox="1"/>
          <p:nvPr/>
        </p:nvSpPr>
        <p:spPr>
          <a:xfrm>
            <a:off x="640080" y="5989320"/>
            <a:ext cx="6583680" cy="365760"/>
          </a:xfrm>
          <a:prstGeom prst="rect">
            <a:avLst/>
          </a:prstGeom>
          <a:noFill/>
          <a:ln/>
        </p:spPr>
        <p:txBody>
          <a:bodyPr wrap="square" lIns="0" tIns="0" rIns="0" bIns="0" rtlCol="0" anchor="ctr"/>
          <a:lstStyle/>
          <a:p>
            <a:pPr indent="0" marL="0">
              <a:buNone/>
            </a:pPr>
            <a:r>
              <a:rPr lang="en-US" sz="1400" dirty="0">
                <a:solidFill>
                  <a:schemeClr val="bg2"/>
                </a:solidFill>
                <a:latin typeface="Barlow" pitchFamily="34" charset="0"/>
                <a:ea typeface="Barlow" pitchFamily="34" charset="-122"/>
                <a:cs typeface="Barlow" pitchFamily="34" charset="-120"/>
              </a:rPr>
              <a:t>En ligne aujourd'hui · planner.finadmintech.fr</a:t>
            </a:r>
            <a:endParaRPr lang="en-US" sz="1400" dirty="0"/>
          </a:p>
        </p:txBody>
      </p:sp>
      <p:sp>
        <p:nvSpPr>
          <p:cNvPr id="8" name="telephone-agenda-cadre"/>
          <p:cNvSpPr/>
          <p:nvPr/>
        </p:nvSpPr>
        <p:spPr>
          <a:xfrm>
            <a:off x="7525512" y="1353312"/>
            <a:ext cx="2164842" cy="4654296"/>
          </a:xfrm>
          <a:prstGeom prst="roundRect">
            <a:avLst>
              <a:gd name="adj" fmla="val 7603"/>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9" name="telephone-agenda" descr="Application : le mois en calendrier, chaque jour avec ses cours en couleur">    </p:cNvPr>
          <p:cNvPicPr>
            <a:picLocks noChangeAspect="1"/>
          </p:cNvPicPr>
          <p:nvPr/>
        </p:nvPicPr>
        <p:blipFill>
          <a:blip r:embed="rId2"/>
          <a:stretch>
            <a:fillRect/>
          </a:stretch>
        </p:blipFill>
        <p:spPr>
          <a:xfrm>
            <a:off x="7589520" y="1417320"/>
            <a:ext cx="2036826" cy="4526280"/>
          </a:xfrm>
          <a:prstGeom prst="rect">
            <a:avLst/>
          </a:prstGeom>
        </p:spPr>
      </p:pic>
      <p:sp>
        <p:nvSpPr>
          <p:cNvPr id="10" name="telephone-tableau-cadre"/>
          <p:cNvSpPr/>
          <p:nvPr/>
        </p:nvSpPr>
        <p:spPr>
          <a:xfrm>
            <a:off x="9079992" y="713232"/>
            <a:ext cx="2494026" cy="5385816"/>
          </a:xfrm>
          <a:prstGeom prst="roundRect">
            <a:avLst>
              <a:gd name="adj" fmla="val 6599"/>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1" name="telephone-tableau" descr="Application : la prochaine séance, sa salle et ses supports de cours">    </p:cNvPr>
          <p:cNvPicPr>
            <a:picLocks noChangeAspect="1"/>
          </p:cNvPicPr>
          <p:nvPr/>
        </p:nvPicPr>
        <p:blipFill>
          <a:blip r:embed="rId3"/>
          <a:stretch>
            <a:fillRect/>
          </a:stretch>
        </p:blipFill>
        <p:spPr>
          <a:xfrm>
            <a:off x="9144000" y="777240"/>
            <a:ext cx="2366010" cy="5257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9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12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12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15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15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Aujourd'hui, l'information de l'école est éparpillée</a:t>
            </a:r>
            <a:endParaRPr lang="en-US" sz="3600" dirty="0"/>
          </a:p>
        </p:txBody>
      </p:sp>
      <p:sp>
        <p:nvSpPr>
          <p:cNvPr id="3" name="outil-1-carte"/>
          <p:cNvSpPr/>
          <p:nvPr/>
        </p:nvSpPr>
        <p:spPr>
          <a:xfrm>
            <a:off x="548640" y="1463040"/>
            <a:ext cx="2240280" cy="1965960"/>
          </a:xfrm>
          <a:prstGeom prst="roundRect">
            <a:avLst>
              <a:gd name="adj" fmla="val 5581"/>
            </a:avLst>
          </a:prstGeom>
          <a:solidFill>
            <a:schemeClr val="bg2"/>
          </a:solidFill>
          <a:ln w="12700">
            <a:solidFill>
              <a:schemeClr val="bg2"/>
            </a:solidFill>
            <a:prstDash val="solid"/>
          </a:ln>
        </p:spPr>
      </p:sp>
      <p:sp>
        <p:nvSpPr>
          <p:cNvPr id="4" name="outil-1-rond"/>
          <p:cNvSpPr/>
          <p:nvPr/>
        </p:nvSpPr>
        <p:spPr>
          <a:xfrm>
            <a:off x="777240" y="1691640"/>
            <a:ext cx="548640" cy="548640"/>
          </a:xfrm>
          <a:prstGeom prst="ellipse">
            <a:avLst/>
          </a:prstGeom>
          <a:solidFill>
            <a:schemeClr val="tx2"/>
          </a:solidFill>
          <a:ln w="12700">
            <a:solidFill>
              <a:schemeClr val="tx2"/>
            </a:solidFill>
            <a:prstDash val="solid"/>
          </a:ln>
        </p:spPr>
      </p:sp>
      <p:pic>
        <p:nvPicPr>
          <p:cNvPr id="5" name="outil-1-icone" descr="preencoded.png">    </p:cNvPr>
          <p:cNvPicPr>
            <a:picLocks noChangeAspect="1"/>
          </p:cNvPicPr>
          <p:nvPr/>
        </p:nvPicPr>
        <p:blipFill>
          <a:blip r:embed="rId1"/>
          <a:stretch>
            <a:fillRect/>
          </a:stretch>
        </p:blipFill>
        <p:spPr>
          <a:xfrm>
            <a:off x="908914" y="1823314"/>
            <a:ext cx="285293" cy="285293"/>
          </a:xfrm>
          <a:prstGeom prst="rect">
            <a:avLst/>
          </a:prstGeom>
        </p:spPr>
      </p:pic>
      <p:sp>
        <p:nvSpPr>
          <p:cNvPr id="6" name="outil-1-nom"/>
          <p:cNvSpPr txBox="1"/>
          <p:nvPr/>
        </p:nvSpPr>
        <p:spPr>
          <a:xfrm>
            <a:off x="77724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Gmail</a:t>
            </a:r>
            <a:endParaRPr lang="en-US" sz="1900" dirty="0"/>
          </a:p>
        </p:txBody>
      </p:sp>
      <p:sp>
        <p:nvSpPr>
          <p:cNvPr id="7" name="outil-1-usage"/>
          <p:cNvSpPr txBox="1"/>
          <p:nvPr/>
        </p:nvSpPr>
        <p:spPr>
          <a:xfrm>
            <a:off x="77724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Annonces et informations envoyées à tout le monde</a:t>
            </a:r>
            <a:endParaRPr lang="en-US" sz="1300" dirty="0"/>
          </a:p>
        </p:txBody>
      </p:sp>
      <p:sp>
        <p:nvSpPr>
          <p:cNvPr id="8" name="outil-2-carte"/>
          <p:cNvSpPr/>
          <p:nvPr/>
        </p:nvSpPr>
        <p:spPr>
          <a:xfrm>
            <a:off x="3017520" y="1463040"/>
            <a:ext cx="2240280" cy="1965960"/>
          </a:xfrm>
          <a:prstGeom prst="roundRect">
            <a:avLst>
              <a:gd name="adj" fmla="val 5581"/>
            </a:avLst>
          </a:prstGeom>
          <a:solidFill>
            <a:schemeClr val="bg2"/>
          </a:solidFill>
          <a:ln w="12700">
            <a:solidFill>
              <a:schemeClr val="bg2"/>
            </a:solidFill>
            <a:prstDash val="solid"/>
          </a:ln>
        </p:spPr>
      </p:sp>
      <p:sp>
        <p:nvSpPr>
          <p:cNvPr id="9" name="outil-2-rond"/>
          <p:cNvSpPr/>
          <p:nvPr/>
        </p:nvSpPr>
        <p:spPr>
          <a:xfrm>
            <a:off x="3246120" y="1691640"/>
            <a:ext cx="548640" cy="548640"/>
          </a:xfrm>
          <a:prstGeom prst="ellipse">
            <a:avLst/>
          </a:prstGeom>
          <a:solidFill>
            <a:schemeClr val="tx2"/>
          </a:solidFill>
          <a:ln w="12700">
            <a:solidFill>
              <a:schemeClr val="tx2"/>
            </a:solidFill>
            <a:prstDash val="solid"/>
          </a:ln>
        </p:spPr>
      </p:sp>
      <p:pic>
        <p:nvPicPr>
          <p:cNvPr id="10" name="outil-2-icone" descr="preencoded.png">    </p:cNvPr>
          <p:cNvPicPr>
            <a:picLocks noChangeAspect="1"/>
          </p:cNvPicPr>
          <p:nvPr/>
        </p:nvPicPr>
        <p:blipFill>
          <a:blip r:embed="rId2"/>
          <a:stretch>
            <a:fillRect/>
          </a:stretch>
        </p:blipFill>
        <p:spPr>
          <a:xfrm>
            <a:off x="3377794" y="1823314"/>
            <a:ext cx="285293" cy="285293"/>
          </a:xfrm>
          <a:prstGeom prst="rect">
            <a:avLst/>
          </a:prstGeom>
        </p:spPr>
      </p:pic>
      <p:sp>
        <p:nvSpPr>
          <p:cNvPr id="11" name="outil-2-nom"/>
          <p:cNvSpPr txBox="1"/>
          <p:nvPr/>
        </p:nvSpPr>
        <p:spPr>
          <a:xfrm>
            <a:off x="324612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PDF par e-mail</a:t>
            </a:r>
            <a:endParaRPr lang="en-US" sz="1900" dirty="0"/>
          </a:p>
        </p:txBody>
      </p:sp>
      <p:sp>
        <p:nvSpPr>
          <p:cNvPr id="12" name="outil-2-usage"/>
          <p:cNvSpPr txBox="1"/>
          <p:nvPr/>
        </p:nvSpPr>
        <p:spPr>
          <a:xfrm>
            <a:off x="324612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L'emploi du temps du mois, à re-télécharger à chaque changement</a:t>
            </a:r>
            <a:endParaRPr lang="en-US" sz="1300" dirty="0"/>
          </a:p>
        </p:txBody>
      </p:sp>
      <p:sp>
        <p:nvSpPr>
          <p:cNvPr id="13" name="outil-3-carte"/>
          <p:cNvSpPr/>
          <p:nvPr/>
        </p:nvSpPr>
        <p:spPr>
          <a:xfrm>
            <a:off x="5486400" y="1463040"/>
            <a:ext cx="2240280" cy="1965960"/>
          </a:xfrm>
          <a:prstGeom prst="roundRect">
            <a:avLst>
              <a:gd name="adj" fmla="val 5581"/>
            </a:avLst>
          </a:prstGeom>
          <a:solidFill>
            <a:schemeClr val="bg2"/>
          </a:solidFill>
          <a:ln w="12700">
            <a:solidFill>
              <a:schemeClr val="bg2"/>
            </a:solidFill>
            <a:prstDash val="solid"/>
          </a:ln>
        </p:spPr>
      </p:sp>
      <p:sp>
        <p:nvSpPr>
          <p:cNvPr id="14" name="outil-3-rond"/>
          <p:cNvSpPr/>
          <p:nvPr/>
        </p:nvSpPr>
        <p:spPr>
          <a:xfrm>
            <a:off x="5715000" y="1691640"/>
            <a:ext cx="548640" cy="548640"/>
          </a:xfrm>
          <a:prstGeom prst="ellipse">
            <a:avLst/>
          </a:prstGeom>
          <a:solidFill>
            <a:schemeClr val="tx2"/>
          </a:solidFill>
          <a:ln w="12700">
            <a:solidFill>
              <a:schemeClr val="tx2"/>
            </a:solidFill>
            <a:prstDash val="solid"/>
          </a:ln>
        </p:spPr>
      </p:sp>
      <p:pic>
        <p:nvPicPr>
          <p:cNvPr id="15" name="outil-3-icone" descr="preencoded.png">    </p:cNvPr>
          <p:cNvPicPr>
            <a:picLocks noChangeAspect="1"/>
          </p:cNvPicPr>
          <p:nvPr/>
        </p:nvPicPr>
        <p:blipFill>
          <a:blip r:embed="rId3"/>
          <a:stretch>
            <a:fillRect/>
          </a:stretch>
        </p:blipFill>
        <p:spPr>
          <a:xfrm>
            <a:off x="5846674" y="1823314"/>
            <a:ext cx="285293" cy="285293"/>
          </a:xfrm>
          <a:prstGeom prst="rect">
            <a:avLst/>
          </a:prstGeom>
        </p:spPr>
      </p:pic>
      <p:sp>
        <p:nvSpPr>
          <p:cNvPr id="16" name="outil-3-nom"/>
          <p:cNvSpPr txBox="1"/>
          <p:nvPr/>
        </p:nvSpPr>
        <p:spPr>
          <a:xfrm>
            <a:off x="571500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Google Classroom</a:t>
            </a:r>
            <a:endParaRPr lang="en-US" sz="1900" dirty="0"/>
          </a:p>
        </p:txBody>
      </p:sp>
      <p:sp>
        <p:nvSpPr>
          <p:cNvPr id="17" name="outil-3-usage"/>
          <p:cNvSpPr txBox="1"/>
          <p:nvPr/>
        </p:nvSpPr>
        <p:spPr>
          <a:xfrm>
            <a:off x="571500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Devoirs et échanges avec les enseignants</a:t>
            </a:r>
            <a:endParaRPr lang="en-US" sz="1300" dirty="0"/>
          </a:p>
        </p:txBody>
      </p:sp>
      <p:sp>
        <p:nvSpPr>
          <p:cNvPr id="18" name="outil-4-carte"/>
          <p:cNvSpPr/>
          <p:nvPr/>
        </p:nvSpPr>
        <p:spPr>
          <a:xfrm>
            <a:off x="1783080" y="3657600"/>
            <a:ext cx="2240280" cy="1965960"/>
          </a:xfrm>
          <a:prstGeom prst="roundRect">
            <a:avLst>
              <a:gd name="adj" fmla="val 5581"/>
            </a:avLst>
          </a:prstGeom>
          <a:solidFill>
            <a:schemeClr val="bg2"/>
          </a:solidFill>
          <a:ln w="12700">
            <a:solidFill>
              <a:schemeClr val="bg2"/>
            </a:solidFill>
            <a:prstDash val="solid"/>
          </a:ln>
        </p:spPr>
      </p:sp>
      <p:sp>
        <p:nvSpPr>
          <p:cNvPr id="19" name="outil-4-rond"/>
          <p:cNvSpPr/>
          <p:nvPr/>
        </p:nvSpPr>
        <p:spPr>
          <a:xfrm>
            <a:off x="2011680" y="3886200"/>
            <a:ext cx="548640" cy="548640"/>
          </a:xfrm>
          <a:prstGeom prst="ellipse">
            <a:avLst/>
          </a:prstGeom>
          <a:solidFill>
            <a:schemeClr val="tx2"/>
          </a:solidFill>
          <a:ln w="12700">
            <a:solidFill>
              <a:schemeClr val="tx2"/>
            </a:solidFill>
            <a:prstDash val="solid"/>
          </a:ln>
        </p:spPr>
      </p:sp>
      <p:pic>
        <p:nvPicPr>
          <p:cNvPr id="20" name="outil-4-icone" descr="preencoded.png">    </p:cNvPr>
          <p:cNvPicPr>
            <a:picLocks noChangeAspect="1"/>
          </p:cNvPicPr>
          <p:nvPr/>
        </p:nvPicPr>
        <p:blipFill>
          <a:blip r:embed="rId4"/>
          <a:stretch>
            <a:fillRect/>
          </a:stretch>
        </p:blipFill>
        <p:spPr>
          <a:xfrm>
            <a:off x="2143354" y="4017874"/>
            <a:ext cx="285293" cy="285293"/>
          </a:xfrm>
          <a:prstGeom prst="rect">
            <a:avLst/>
          </a:prstGeom>
        </p:spPr>
      </p:pic>
      <p:sp>
        <p:nvSpPr>
          <p:cNvPr id="21" name="outil-4-nom"/>
          <p:cNvSpPr txBox="1"/>
          <p:nvPr/>
        </p:nvSpPr>
        <p:spPr>
          <a:xfrm>
            <a:off x="2011680" y="452628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Moodle</a:t>
            </a:r>
            <a:endParaRPr lang="en-US" sz="1900" dirty="0"/>
          </a:p>
        </p:txBody>
      </p:sp>
      <p:sp>
        <p:nvSpPr>
          <p:cNvPr id="22" name="outil-4-usage"/>
          <p:cNvSpPr txBox="1"/>
          <p:nvPr/>
        </p:nvSpPr>
        <p:spPr>
          <a:xfrm>
            <a:off x="2011680" y="489204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Cours et supports en ligne</a:t>
            </a:r>
            <a:endParaRPr lang="en-US" sz="1300" dirty="0"/>
          </a:p>
        </p:txBody>
      </p:sp>
      <p:sp>
        <p:nvSpPr>
          <p:cNvPr id="23" name="outil-5-carte"/>
          <p:cNvSpPr/>
          <p:nvPr/>
        </p:nvSpPr>
        <p:spPr>
          <a:xfrm>
            <a:off x="4251960" y="3657600"/>
            <a:ext cx="2240280" cy="1965960"/>
          </a:xfrm>
          <a:prstGeom prst="roundRect">
            <a:avLst>
              <a:gd name="adj" fmla="val 5581"/>
            </a:avLst>
          </a:prstGeom>
          <a:solidFill>
            <a:schemeClr val="bg2"/>
          </a:solidFill>
          <a:ln w="12700">
            <a:solidFill>
              <a:schemeClr val="bg2"/>
            </a:solidFill>
            <a:prstDash val="solid"/>
          </a:ln>
        </p:spPr>
      </p:sp>
      <p:sp>
        <p:nvSpPr>
          <p:cNvPr id="24" name="outil-5-rond"/>
          <p:cNvSpPr/>
          <p:nvPr/>
        </p:nvSpPr>
        <p:spPr>
          <a:xfrm>
            <a:off x="4480560" y="3886200"/>
            <a:ext cx="548640" cy="548640"/>
          </a:xfrm>
          <a:prstGeom prst="ellipse">
            <a:avLst/>
          </a:prstGeom>
          <a:solidFill>
            <a:schemeClr val="tx2"/>
          </a:solidFill>
          <a:ln w="12700">
            <a:solidFill>
              <a:schemeClr val="tx2"/>
            </a:solidFill>
            <a:prstDash val="solid"/>
          </a:ln>
        </p:spPr>
      </p:sp>
      <p:pic>
        <p:nvPicPr>
          <p:cNvPr id="25" name="outil-5-icone" descr="preencoded.png">    </p:cNvPr>
          <p:cNvPicPr>
            <a:picLocks noChangeAspect="1"/>
          </p:cNvPicPr>
          <p:nvPr/>
        </p:nvPicPr>
        <p:blipFill>
          <a:blip r:embed="rId5"/>
          <a:stretch>
            <a:fillRect/>
          </a:stretch>
        </p:blipFill>
        <p:spPr>
          <a:xfrm>
            <a:off x="4612234" y="4017874"/>
            <a:ext cx="285293" cy="285293"/>
          </a:xfrm>
          <a:prstGeom prst="rect">
            <a:avLst/>
          </a:prstGeom>
        </p:spPr>
      </p:pic>
      <p:sp>
        <p:nvSpPr>
          <p:cNvPr id="26" name="outil-5-nom"/>
          <p:cNvSpPr txBox="1"/>
          <p:nvPr/>
        </p:nvSpPr>
        <p:spPr>
          <a:xfrm>
            <a:off x="4480560" y="452628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Sites de jeux</a:t>
            </a:r>
            <a:endParaRPr lang="en-US" sz="1900" dirty="0"/>
          </a:p>
        </p:txBody>
      </p:sp>
      <p:sp>
        <p:nvSpPr>
          <p:cNvPr id="27" name="outil-5-usage"/>
          <p:cNvSpPr txBox="1"/>
          <p:nvPr/>
        </p:nvSpPr>
        <p:spPr>
          <a:xfrm>
            <a:off x="4480560" y="489204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Quiz et jeux externes, en anglais et dans d'autres matières</a:t>
            </a:r>
            <a:endParaRPr lang="en-US" sz="1300" dirty="0"/>
          </a:p>
        </p:txBody>
      </p:sp>
      <p:sp>
        <p:nvSpPr>
          <p:cNvPr id="28" name="consequences-panneau"/>
          <p:cNvSpPr/>
          <p:nvPr/>
        </p:nvSpPr>
        <p:spPr>
          <a:xfrm>
            <a:off x="8092440" y="1463040"/>
            <a:ext cx="3547872" cy="4160520"/>
          </a:xfrm>
          <a:prstGeom prst="roundRect">
            <a:avLst>
              <a:gd name="adj" fmla="val 3093"/>
            </a:avLst>
          </a:prstGeom>
          <a:solidFill>
            <a:schemeClr val="tx2"/>
          </a:solidFill>
          <a:ln w="12700">
            <a:solidFill>
              <a:schemeClr val="tx2"/>
            </a:solidFill>
            <a:prstDash val="solid"/>
          </a:ln>
        </p:spPr>
      </p:sp>
      <p:sp>
        <p:nvSpPr>
          <p:cNvPr id="29" name="consequences-titre"/>
          <p:cNvSpPr txBox="1"/>
          <p:nvPr/>
        </p:nvSpPr>
        <p:spPr>
          <a:xfrm>
            <a:off x="8366760" y="1691640"/>
            <a:ext cx="2999232" cy="457200"/>
          </a:xfrm>
          <a:prstGeom prst="rect">
            <a:avLst/>
          </a:prstGeom>
          <a:noFill/>
          <a:ln/>
        </p:spPr>
        <p:txBody>
          <a:bodyPr wrap="square" lIns="0" tIns="0" rIns="0" bIns="0" rtlCol="0" anchor="ctr"/>
          <a:lstStyle/>
          <a:p>
            <a:pPr indent="0" marL="0">
              <a:buNone/>
            </a:pPr>
            <a:r>
              <a:rPr lang="en-US" sz="2200" b="1" dirty="0">
                <a:solidFill>
                  <a:schemeClr val="accent1"/>
                </a:solidFill>
                <a:latin typeface="Barlow Condensed" pitchFamily="34" charset="0"/>
                <a:ea typeface="Barlow Condensed" pitchFamily="34" charset="-122"/>
                <a:cs typeface="Barlow Condensed" pitchFamily="34" charset="-120"/>
              </a:rPr>
              <a:t>5 outils qui ne se parlent pas</a:t>
            </a:r>
            <a:endParaRPr lang="en-US" sz="2200" dirty="0"/>
          </a:p>
        </p:txBody>
      </p:sp>
      <p:pic>
        <p:nvPicPr>
          <p:cNvPr id="30" name="consequence-1-icone" descr="preencoded.png">    </p:cNvPr>
          <p:cNvPicPr>
            <a:picLocks noChangeAspect="1"/>
          </p:cNvPicPr>
          <p:nvPr/>
        </p:nvPicPr>
        <p:blipFill>
          <a:blip r:embed="rId6"/>
          <a:stretch>
            <a:fillRect/>
          </a:stretch>
        </p:blipFill>
        <p:spPr>
          <a:xfrm>
            <a:off x="8366760" y="2423160"/>
            <a:ext cx="347472" cy="347472"/>
          </a:xfrm>
          <a:prstGeom prst="rect">
            <a:avLst/>
          </a:prstGeom>
        </p:spPr>
      </p:pic>
      <p:sp>
        <p:nvSpPr>
          <p:cNvPr id="31" name="consequence-1"/>
          <p:cNvSpPr txBox="1"/>
          <p:nvPr/>
        </p:nvSpPr>
        <p:spPr>
          <a:xfrm>
            <a:off x="8869680" y="2377440"/>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L'information arrive tard : un report se découvre devant une salle vide.</a:t>
            </a:r>
            <a:endParaRPr lang="en-US" sz="1500" dirty="0"/>
          </a:p>
        </p:txBody>
      </p:sp>
      <p:pic>
        <p:nvPicPr>
          <p:cNvPr id="32" name="consequence-2-icone" descr="preencoded.png">    </p:cNvPr>
          <p:cNvPicPr>
            <a:picLocks noChangeAspect="1"/>
          </p:cNvPicPr>
          <p:nvPr/>
        </p:nvPicPr>
        <p:blipFill>
          <a:blip r:embed="rId7"/>
          <a:stretch>
            <a:fillRect/>
          </a:stretch>
        </p:blipFill>
        <p:spPr>
          <a:xfrm>
            <a:off x="8366760" y="3447288"/>
            <a:ext cx="347472" cy="347472"/>
          </a:xfrm>
          <a:prstGeom prst="rect">
            <a:avLst/>
          </a:prstGeom>
        </p:spPr>
      </p:pic>
      <p:sp>
        <p:nvSpPr>
          <p:cNvPr id="33" name="consequence-2"/>
          <p:cNvSpPr txBox="1"/>
          <p:nvPr/>
        </p:nvSpPr>
        <p:spPr>
          <a:xfrm>
            <a:off x="8869680" y="3401568"/>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Les équipes saisissent et renvoient la même information plusieurs fois.</a:t>
            </a:r>
            <a:endParaRPr lang="en-US" sz="1500" dirty="0"/>
          </a:p>
        </p:txBody>
      </p:sp>
      <p:pic>
        <p:nvPicPr>
          <p:cNvPr id="34" name="consequence-3-icone" descr="preencoded.png">    </p:cNvPr>
          <p:cNvPicPr>
            <a:picLocks noChangeAspect="1"/>
          </p:cNvPicPr>
          <p:nvPr/>
        </p:nvPicPr>
        <p:blipFill>
          <a:blip r:embed="rId8"/>
          <a:stretch>
            <a:fillRect/>
          </a:stretch>
        </p:blipFill>
        <p:spPr>
          <a:xfrm>
            <a:off x="8366760" y="4471416"/>
            <a:ext cx="347472" cy="347472"/>
          </a:xfrm>
          <a:prstGeom prst="rect">
            <a:avLst/>
          </a:prstGeom>
        </p:spPr>
      </p:pic>
      <p:sp>
        <p:nvSpPr>
          <p:cNvPr id="35" name="consequence-3"/>
          <p:cNvSpPr txBox="1"/>
          <p:nvPr/>
        </p:nvSpPr>
        <p:spPr>
          <a:xfrm>
            <a:off x="8869680" y="4425696"/>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Les données des étudiants sont dispersées chez des services externes.</a:t>
            </a:r>
            <a:endParaRPr lang="en-US" sz="15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3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3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9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9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9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9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9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12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120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12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12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12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0" presetID="10" presetClass="entr" presetSubtype="0" fill="hold" grpId="0" nodeType="withEffect">
                                  <p:stCondLst>
                                    <p:cond delay="15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par>
                                <p:cTn id="83" presetID="10" presetClass="entr" presetSubtype="0" fill="hold" grpId="0" nodeType="withEffect">
                                  <p:stCondLst>
                                    <p:cond delay="150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500"/>
                                        <p:tgtEl>
                                          <p:spTgt spid="29"/>
                                        </p:tgtEl>
                                      </p:cBhvr>
                                    </p:animEffect>
                                  </p:childTnLst>
                                </p:cTn>
                              </p:par>
                              <p:par>
                                <p:cTn id="86" presetID="10" presetClass="entr" presetSubtype="0" fill="hold" grpId="0" nodeType="withEffect">
                                  <p:stCondLst>
                                    <p:cond delay="180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500"/>
                                        <p:tgtEl>
                                          <p:spTgt spid="30"/>
                                        </p:tgtEl>
                                      </p:cBhvr>
                                    </p:animEffect>
                                  </p:childTnLst>
                                </p:cTn>
                              </p:par>
                              <p:par>
                                <p:cTn id="89" presetID="10" presetClass="entr" presetSubtype="0" fill="hold" grpId="0" nodeType="withEffect">
                                  <p:stCondLst>
                                    <p:cond delay="18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2" presetID="10" presetClass="entr" presetSubtype="0" fill="hold" grpId="0" nodeType="withEffect">
                                  <p:stCondLst>
                                    <p:cond delay="21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grpId="0" nodeType="withEffect">
                                  <p:stCondLst>
                                    <p:cond delay="210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8" presetID="10" presetClass="entr" presetSubtype="0" fill="hold" grpId="0" nodeType="withEffect">
                                  <p:stCondLst>
                                    <p:cond delay="240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1" presetID="10" presetClass="entr" presetSubtype="0" fill="hold" grpId="0" nodeType="withEffect">
                                  <p:stCondLst>
                                    <p:cond delay="240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3"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Une seule application, quatre services</a:t>
            </a:r>
            <a:endParaRPr lang="en-US" sz="3600" dirty="0"/>
          </a:p>
        </p:txBody>
      </p:sp>
      <p:sp>
        <p:nvSpPr>
          <p:cNvPr id="3" name="sous-titre"/>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Barlow" pitchFamily="34" charset="0"/>
                <a:ea typeface="Barlow" pitchFamily="34" charset="-122"/>
                <a:cs typeface="Barlow" pitchFamily="34" charset="-120"/>
              </a:rPr>
              <a:t>Un seul compte école, sur le téléphone et sur l'ordinateur</a:t>
            </a:r>
            <a:endParaRPr lang="en-US" sz="1600" dirty="0"/>
          </a:p>
        </p:txBody>
      </p:sp>
      <p:sp>
        <p:nvSpPr>
          <p:cNvPr id="4" name="service-1-capture-cadre"/>
          <p:cNvSpPr/>
          <p:nvPr/>
        </p:nvSpPr>
        <p:spPr>
          <a:xfrm>
            <a:off x="1052703"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5" name="service-1-capture" descr="Emploi du temps vivant : Toujours à jour, et dans l'agenda du téléphone ou Google Agenda.">    </p:cNvPr>
          <p:cNvPicPr>
            <a:picLocks noChangeAspect="1"/>
          </p:cNvPicPr>
          <p:nvPr/>
        </p:nvPicPr>
        <p:blipFill>
          <a:blip r:embed="rId1"/>
          <a:stretch>
            <a:fillRect/>
          </a:stretch>
        </p:blipFill>
        <p:spPr>
          <a:xfrm>
            <a:off x="1116711" y="1691640"/>
            <a:ext cx="1378458" cy="3063240"/>
          </a:xfrm>
          <a:prstGeom prst="rect">
            <a:avLst/>
          </a:prstGeom>
        </p:spPr>
      </p:pic>
      <p:sp>
        <p:nvSpPr>
          <p:cNvPr id="6" name="service-1-titre"/>
          <p:cNvSpPr txBox="1"/>
          <p:nvPr/>
        </p:nvSpPr>
        <p:spPr>
          <a:xfrm>
            <a:off x="548640"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Emploi du temps vivant</a:t>
            </a:r>
            <a:endParaRPr lang="en-US" sz="2000" dirty="0"/>
          </a:p>
        </p:txBody>
      </p:sp>
      <p:sp>
        <p:nvSpPr>
          <p:cNvPr id="7" name="service-1-texte"/>
          <p:cNvSpPr txBox="1"/>
          <p:nvPr/>
        </p:nvSpPr>
        <p:spPr>
          <a:xfrm>
            <a:off x="548640"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Toujours à jour, et dans l'agenda du téléphone ou Google Agenda.</a:t>
            </a:r>
            <a:endParaRPr lang="en-US" sz="1300" dirty="0"/>
          </a:p>
        </p:txBody>
      </p:sp>
      <p:sp>
        <p:nvSpPr>
          <p:cNvPr id="8" name="service-2-capture-cadre"/>
          <p:cNvSpPr/>
          <p:nvPr/>
        </p:nvSpPr>
        <p:spPr>
          <a:xfrm>
            <a:off x="3902888"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9" name="service-2-capture" descr="Annonces et alertes : Un report, une salle qui change, une annonce : seuls les concernés sont prévenus.">    </p:cNvPr>
          <p:cNvPicPr>
            <a:picLocks noChangeAspect="1"/>
          </p:cNvPicPr>
          <p:nvPr/>
        </p:nvPicPr>
        <p:blipFill>
          <a:blip r:embed="rId2"/>
          <a:stretch>
            <a:fillRect/>
          </a:stretch>
        </p:blipFill>
        <p:spPr>
          <a:xfrm>
            <a:off x="3966896" y="1691640"/>
            <a:ext cx="1378458" cy="3063240"/>
          </a:xfrm>
          <a:prstGeom prst="rect">
            <a:avLst/>
          </a:prstGeom>
        </p:spPr>
      </p:pic>
      <p:sp>
        <p:nvSpPr>
          <p:cNvPr id="10" name="service-2-titre"/>
          <p:cNvSpPr txBox="1"/>
          <p:nvPr/>
        </p:nvSpPr>
        <p:spPr>
          <a:xfrm>
            <a:off x="3398825"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Annonces et alertes</a:t>
            </a:r>
            <a:endParaRPr lang="en-US" sz="2000" dirty="0"/>
          </a:p>
        </p:txBody>
      </p:sp>
      <p:sp>
        <p:nvSpPr>
          <p:cNvPr id="11" name="service-2-texte"/>
          <p:cNvSpPr txBox="1"/>
          <p:nvPr/>
        </p:nvSpPr>
        <p:spPr>
          <a:xfrm>
            <a:off x="3398825"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Un report, une salle qui change, une annonce : seuls les concernés sont prévenus.</a:t>
            </a:r>
            <a:endParaRPr lang="en-US" sz="1300" dirty="0"/>
          </a:p>
        </p:txBody>
      </p:sp>
      <p:sp>
        <p:nvSpPr>
          <p:cNvPr id="12" name="service-3-capture-cadre"/>
          <p:cNvSpPr/>
          <p:nvPr/>
        </p:nvSpPr>
        <p:spPr>
          <a:xfrm>
            <a:off x="6753073"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3" name="service-3-capture" descr="Bibliothèque : Supports par module, lisibles même hors ligne, retours de stage et idées de projets.">    </p:cNvPr>
          <p:cNvPicPr>
            <a:picLocks noChangeAspect="1"/>
          </p:cNvPicPr>
          <p:nvPr/>
        </p:nvPicPr>
        <p:blipFill>
          <a:blip r:embed="rId3"/>
          <a:stretch>
            <a:fillRect/>
          </a:stretch>
        </p:blipFill>
        <p:spPr>
          <a:xfrm>
            <a:off x="6817081" y="1691640"/>
            <a:ext cx="1378458" cy="3063240"/>
          </a:xfrm>
          <a:prstGeom prst="rect">
            <a:avLst/>
          </a:prstGeom>
        </p:spPr>
      </p:pic>
      <p:sp>
        <p:nvSpPr>
          <p:cNvPr id="14" name="service-3-titre"/>
          <p:cNvSpPr txBox="1"/>
          <p:nvPr/>
        </p:nvSpPr>
        <p:spPr>
          <a:xfrm>
            <a:off x="6249010"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Bibliothèque</a:t>
            </a:r>
            <a:endParaRPr lang="en-US" sz="2000" dirty="0"/>
          </a:p>
        </p:txBody>
      </p:sp>
      <p:sp>
        <p:nvSpPr>
          <p:cNvPr id="15" name="service-3-texte"/>
          <p:cNvSpPr txBox="1"/>
          <p:nvPr/>
        </p:nvSpPr>
        <p:spPr>
          <a:xfrm>
            <a:off x="6249010"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Supports par module, lisibles même hors ligne, retours de stage et idées de projets.</a:t>
            </a:r>
            <a:endParaRPr lang="en-US" sz="1300" dirty="0"/>
          </a:p>
        </p:txBody>
      </p:sp>
      <p:sp>
        <p:nvSpPr>
          <p:cNvPr id="16" name="service-4-capture-cadre"/>
          <p:cNvSpPr/>
          <p:nvPr/>
        </p:nvSpPr>
        <p:spPr>
          <a:xfrm>
            <a:off x="9603257"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7" name="service-4-capture" descr="Activités : Quiz, devoirs et jeux choisis par l'enseignant pour vérifier ou s'entraîner.">    </p:cNvPr>
          <p:cNvPicPr>
            <a:picLocks noChangeAspect="1"/>
          </p:cNvPicPr>
          <p:nvPr/>
        </p:nvPicPr>
        <p:blipFill>
          <a:blip r:embed="rId4"/>
          <a:stretch>
            <a:fillRect/>
          </a:stretch>
        </p:blipFill>
        <p:spPr>
          <a:xfrm>
            <a:off x="9667265" y="1691640"/>
            <a:ext cx="1378458" cy="3063240"/>
          </a:xfrm>
          <a:prstGeom prst="rect">
            <a:avLst/>
          </a:prstGeom>
        </p:spPr>
      </p:pic>
      <p:sp>
        <p:nvSpPr>
          <p:cNvPr id="18" name="service-4-titre"/>
          <p:cNvSpPr txBox="1"/>
          <p:nvPr/>
        </p:nvSpPr>
        <p:spPr>
          <a:xfrm>
            <a:off x="9099194"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Activités</a:t>
            </a:r>
            <a:endParaRPr lang="en-US" sz="2000" dirty="0"/>
          </a:p>
        </p:txBody>
      </p:sp>
      <p:sp>
        <p:nvSpPr>
          <p:cNvPr id="19" name="service-4-texte"/>
          <p:cNvSpPr txBox="1"/>
          <p:nvPr/>
        </p:nvSpPr>
        <p:spPr>
          <a:xfrm>
            <a:off x="9099194"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Quiz, devoirs et jeux choisis par l'enseignant pour vérifier ou s'entraîner.</a:t>
            </a:r>
            <a:endParaRPr lang="en-US" sz="13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6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9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9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9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12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12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12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12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Ce que la plateforme remplace</a:t>
            </a:r>
            <a:endParaRPr lang="en-US" sz="3600" dirty="0"/>
          </a:p>
        </p:txBody>
      </p:sp>
      <p:sp>
        <p:nvSpPr>
          <p:cNvPr id="3" name="entete-avant"/>
          <p:cNvSpPr txBox="1"/>
          <p:nvPr/>
        </p:nvSpPr>
        <p:spPr>
          <a:xfrm>
            <a:off x="548640" y="1188720"/>
            <a:ext cx="3291840" cy="274320"/>
          </a:xfrm>
          <a:prstGeom prst="rect">
            <a:avLst/>
          </a:prstGeom>
          <a:noFill/>
          <a:ln/>
        </p:spPr>
        <p:txBody>
          <a:bodyPr wrap="square" lIns="0" tIns="0" rIns="0" bIns="0" rtlCol="0" anchor="ctr"/>
          <a:lstStyle/>
          <a:p>
            <a:pPr indent="0" marL="0">
              <a:buNone/>
            </a:pPr>
            <a:r>
              <a:rPr lang="en-US" sz="1300" b="1" spc="300" kern="0" dirty="0">
                <a:solidFill>
                  <a:schemeClr val="accent4"/>
                </a:solidFill>
                <a:latin typeface="Barlow Condensed" pitchFamily="34" charset="0"/>
                <a:ea typeface="Barlow Condensed" pitchFamily="34" charset="-122"/>
                <a:cs typeface="Barlow Condensed" pitchFamily="34" charset="-120"/>
              </a:rPr>
              <a:t>AUJOURD'HUI</a:t>
            </a:r>
            <a:endParaRPr lang="en-US" sz="1300" dirty="0"/>
          </a:p>
        </p:txBody>
      </p:sp>
      <p:sp>
        <p:nvSpPr>
          <p:cNvPr id="4" name="entete-apres"/>
          <p:cNvSpPr txBox="1"/>
          <p:nvPr/>
        </p:nvSpPr>
        <p:spPr>
          <a:xfrm>
            <a:off x="4617720" y="1188720"/>
            <a:ext cx="7022592" cy="274320"/>
          </a:xfrm>
          <a:prstGeom prst="rect">
            <a:avLst/>
          </a:prstGeom>
          <a:noFill/>
          <a:ln/>
        </p:spPr>
        <p:txBody>
          <a:bodyPr wrap="square" lIns="0" tIns="0" rIns="0" bIns="0" rtlCol="0" anchor="ctr"/>
          <a:lstStyle/>
          <a:p>
            <a:pPr indent="0" marL="0">
              <a:buNone/>
            </a:pPr>
            <a:r>
              <a:rPr lang="en-US" sz="1300" b="1" spc="300" kern="0" dirty="0">
                <a:solidFill>
                  <a:schemeClr val="accent2"/>
                </a:solidFill>
                <a:latin typeface="Barlow Condensed" pitchFamily="34" charset="0"/>
                <a:ea typeface="Barlow Condensed" pitchFamily="34" charset="-122"/>
                <a:cs typeface="Barlow Condensed" pitchFamily="34" charset="-120"/>
              </a:rPr>
              <a:t>AVEC HESTIM PLANNER</a:t>
            </a:r>
            <a:endParaRPr lang="en-US" sz="1300" dirty="0"/>
          </a:p>
        </p:txBody>
      </p:sp>
      <p:sp>
        <p:nvSpPr>
          <p:cNvPr id="5" name="avant-1-fond"/>
          <p:cNvSpPr/>
          <p:nvPr/>
        </p:nvSpPr>
        <p:spPr>
          <a:xfrm>
            <a:off x="548640" y="1572768"/>
            <a:ext cx="3291840" cy="731520"/>
          </a:xfrm>
          <a:prstGeom prst="roundRect">
            <a:avLst>
              <a:gd name="adj" fmla="val 12500"/>
            </a:avLst>
          </a:prstGeom>
          <a:solidFill>
            <a:schemeClr val="bg2"/>
          </a:solidFill>
          <a:ln w="12700">
            <a:solidFill>
              <a:schemeClr val="bg2"/>
            </a:solidFill>
            <a:prstDash val="solid"/>
          </a:ln>
        </p:spPr>
      </p:sp>
      <p:sp>
        <p:nvSpPr>
          <p:cNvPr id="6" name="avant-1"/>
          <p:cNvSpPr txBox="1"/>
          <p:nvPr/>
        </p:nvSpPr>
        <p:spPr>
          <a:xfrm>
            <a:off x="777240" y="1572768"/>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Gmail</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informations</a:t>
            </a:r>
            <a:endParaRPr lang="en-US" sz="1800" dirty="0"/>
          </a:p>
        </p:txBody>
      </p:sp>
      <p:pic>
        <p:nvPicPr>
          <p:cNvPr id="7" name="fleche-1" descr="preencoded.png">    </p:cNvPr>
          <p:cNvPicPr>
            <a:picLocks noChangeAspect="1"/>
          </p:cNvPicPr>
          <p:nvPr/>
        </p:nvPicPr>
        <p:blipFill>
          <a:blip r:embed="rId1"/>
          <a:stretch>
            <a:fillRect/>
          </a:stretch>
        </p:blipFill>
        <p:spPr>
          <a:xfrm>
            <a:off x="4041648" y="1783080"/>
            <a:ext cx="310896" cy="310896"/>
          </a:xfrm>
          <a:prstGeom prst="rect">
            <a:avLst/>
          </a:prstGeom>
        </p:spPr>
      </p:pic>
      <p:sp>
        <p:nvSpPr>
          <p:cNvPr id="8" name="apres-1-rond"/>
          <p:cNvSpPr/>
          <p:nvPr/>
        </p:nvSpPr>
        <p:spPr>
          <a:xfrm>
            <a:off x="4617720" y="1746504"/>
            <a:ext cx="384048" cy="384048"/>
          </a:xfrm>
          <a:prstGeom prst="ellipse">
            <a:avLst/>
          </a:prstGeom>
          <a:solidFill>
            <a:schemeClr val="accent2"/>
          </a:solidFill>
          <a:ln w="12700">
            <a:solidFill>
              <a:schemeClr val="accent2"/>
            </a:solidFill>
            <a:prstDash val="solid"/>
          </a:ln>
        </p:spPr>
      </p:sp>
      <p:pic>
        <p:nvPicPr>
          <p:cNvPr id="9" name="apres-1-icone" descr="preencoded.png">    </p:cNvPr>
          <p:cNvPicPr>
            <a:picLocks noChangeAspect="1"/>
          </p:cNvPicPr>
          <p:nvPr/>
        </p:nvPicPr>
        <p:blipFill>
          <a:blip r:embed="rId2"/>
          <a:stretch>
            <a:fillRect/>
          </a:stretch>
        </p:blipFill>
        <p:spPr>
          <a:xfrm>
            <a:off x="4709892" y="1838676"/>
            <a:ext cx="199705" cy="199705"/>
          </a:xfrm>
          <a:prstGeom prst="rect">
            <a:avLst/>
          </a:prstGeom>
        </p:spPr>
      </p:pic>
      <p:sp>
        <p:nvSpPr>
          <p:cNvPr id="10" name="apres-1"/>
          <p:cNvSpPr txBox="1"/>
          <p:nvPr/>
        </p:nvSpPr>
        <p:spPr>
          <a:xfrm>
            <a:off x="5166360" y="1572768"/>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Des annonces ciblées</a:t>
            </a:r>
            <a:pPr indent="0" marL="0">
              <a:buNone/>
            </a:pPr>
            <a:r>
              <a:rPr lang="en-US" sz="1500" dirty="0">
                <a:solidFill>
                  <a:schemeClr val="tx1"/>
                </a:solidFill>
                <a:latin typeface="Barlow" pitchFamily="34" charset="0"/>
                <a:ea typeface="Barlow" pitchFamily="34" charset="-122"/>
                <a:cs typeface="Barlow" pitchFamily="34" charset="-120"/>
              </a:rPr>
              <a:t> (filière, groupe, classe) et une alerte automatique à chaque report, sur le téléphone des seuls concernés.</a:t>
            </a:r>
            <a:endParaRPr lang="en-US" sz="1500" dirty="0"/>
          </a:p>
        </p:txBody>
      </p:sp>
      <p:sp>
        <p:nvSpPr>
          <p:cNvPr id="11" name="avant-2-fond"/>
          <p:cNvSpPr/>
          <p:nvPr/>
        </p:nvSpPr>
        <p:spPr>
          <a:xfrm>
            <a:off x="548640" y="2459736"/>
            <a:ext cx="3291840" cy="731520"/>
          </a:xfrm>
          <a:prstGeom prst="roundRect">
            <a:avLst>
              <a:gd name="adj" fmla="val 12500"/>
            </a:avLst>
          </a:prstGeom>
          <a:solidFill>
            <a:schemeClr val="bg2"/>
          </a:solidFill>
          <a:ln w="12700">
            <a:solidFill>
              <a:schemeClr val="bg2"/>
            </a:solidFill>
            <a:prstDash val="solid"/>
          </a:ln>
        </p:spPr>
      </p:sp>
      <p:sp>
        <p:nvSpPr>
          <p:cNvPr id="12" name="avant-2"/>
          <p:cNvSpPr txBox="1"/>
          <p:nvPr/>
        </p:nvSpPr>
        <p:spPr>
          <a:xfrm>
            <a:off x="777240" y="2459736"/>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PDF par e-mail</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l'emploi du temps</a:t>
            </a:r>
            <a:endParaRPr lang="en-US" sz="1800" dirty="0"/>
          </a:p>
        </p:txBody>
      </p:sp>
      <p:pic>
        <p:nvPicPr>
          <p:cNvPr id="13" name="fleche-2" descr="preencoded.png">    </p:cNvPr>
          <p:cNvPicPr>
            <a:picLocks noChangeAspect="1"/>
          </p:cNvPicPr>
          <p:nvPr/>
        </p:nvPicPr>
        <p:blipFill>
          <a:blip r:embed="rId3"/>
          <a:stretch>
            <a:fillRect/>
          </a:stretch>
        </p:blipFill>
        <p:spPr>
          <a:xfrm>
            <a:off x="4041648" y="2670048"/>
            <a:ext cx="310896" cy="310896"/>
          </a:xfrm>
          <a:prstGeom prst="rect">
            <a:avLst/>
          </a:prstGeom>
        </p:spPr>
      </p:pic>
      <p:sp>
        <p:nvSpPr>
          <p:cNvPr id="14" name="apres-2-rond"/>
          <p:cNvSpPr/>
          <p:nvPr/>
        </p:nvSpPr>
        <p:spPr>
          <a:xfrm>
            <a:off x="4617720" y="2633472"/>
            <a:ext cx="384048" cy="384048"/>
          </a:xfrm>
          <a:prstGeom prst="ellipse">
            <a:avLst/>
          </a:prstGeom>
          <a:solidFill>
            <a:schemeClr val="accent2"/>
          </a:solidFill>
          <a:ln w="12700">
            <a:solidFill>
              <a:schemeClr val="accent2"/>
            </a:solidFill>
            <a:prstDash val="solid"/>
          </a:ln>
        </p:spPr>
      </p:sp>
      <p:pic>
        <p:nvPicPr>
          <p:cNvPr id="15" name="apres-2-icone" descr="preencoded.png">    </p:cNvPr>
          <p:cNvPicPr>
            <a:picLocks noChangeAspect="1"/>
          </p:cNvPicPr>
          <p:nvPr/>
        </p:nvPicPr>
        <p:blipFill>
          <a:blip r:embed="rId4"/>
          <a:stretch>
            <a:fillRect/>
          </a:stretch>
        </p:blipFill>
        <p:spPr>
          <a:xfrm>
            <a:off x="4709892" y="2725644"/>
            <a:ext cx="199705" cy="199705"/>
          </a:xfrm>
          <a:prstGeom prst="rect">
            <a:avLst/>
          </a:prstGeom>
        </p:spPr>
      </p:pic>
      <p:sp>
        <p:nvSpPr>
          <p:cNvPr id="16" name="apres-2"/>
          <p:cNvSpPr txBox="1"/>
          <p:nvPr/>
        </p:nvSpPr>
        <p:spPr>
          <a:xfrm>
            <a:off x="5166360" y="2459736"/>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Un emploi du temps vivant</a:t>
            </a:r>
            <a:pPr indent="0" marL="0">
              <a:buNone/>
            </a:pPr>
            <a:r>
              <a:rPr lang="en-US" sz="1500" dirty="0">
                <a:solidFill>
                  <a:schemeClr val="tx1"/>
                </a:solidFill>
                <a:latin typeface="Barlow" pitchFamily="34" charset="0"/>
                <a:ea typeface="Barlow" pitchFamily="34" charset="-122"/>
                <a:cs typeface="Barlow" pitchFamily="34" charset="-120"/>
              </a:rPr>
              <a:t>, ajouté à l'agenda du téléphone ; le PDF officiel du mois reste disponible.</a:t>
            </a:r>
            <a:endParaRPr lang="en-US" sz="1500" dirty="0"/>
          </a:p>
        </p:txBody>
      </p:sp>
      <p:sp>
        <p:nvSpPr>
          <p:cNvPr id="17" name="avant-3-fond"/>
          <p:cNvSpPr/>
          <p:nvPr/>
        </p:nvSpPr>
        <p:spPr>
          <a:xfrm>
            <a:off x="548640" y="3346704"/>
            <a:ext cx="3291840" cy="731520"/>
          </a:xfrm>
          <a:prstGeom prst="roundRect">
            <a:avLst>
              <a:gd name="adj" fmla="val 12500"/>
            </a:avLst>
          </a:prstGeom>
          <a:solidFill>
            <a:schemeClr val="bg2"/>
          </a:solidFill>
          <a:ln w="12700">
            <a:solidFill>
              <a:schemeClr val="bg2"/>
            </a:solidFill>
            <a:prstDash val="solid"/>
          </a:ln>
        </p:spPr>
      </p:sp>
      <p:sp>
        <p:nvSpPr>
          <p:cNvPr id="18" name="avant-3"/>
          <p:cNvSpPr txBox="1"/>
          <p:nvPr/>
        </p:nvSpPr>
        <p:spPr>
          <a:xfrm>
            <a:off x="777240" y="3346704"/>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Classroom</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devoirs</a:t>
            </a:r>
            <a:endParaRPr lang="en-US" sz="1800" dirty="0"/>
          </a:p>
        </p:txBody>
      </p:sp>
      <p:pic>
        <p:nvPicPr>
          <p:cNvPr id="19" name="fleche-3" descr="preencoded.png">    </p:cNvPr>
          <p:cNvPicPr>
            <a:picLocks noChangeAspect="1"/>
          </p:cNvPicPr>
          <p:nvPr/>
        </p:nvPicPr>
        <p:blipFill>
          <a:blip r:embed="rId5"/>
          <a:stretch>
            <a:fillRect/>
          </a:stretch>
        </p:blipFill>
        <p:spPr>
          <a:xfrm>
            <a:off x="4041648" y="3557016"/>
            <a:ext cx="310896" cy="310896"/>
          </a:xfrm>
          <a:prstGeom prst="rect">
            <a:avLst/>
          </a:prstGeom>
        </p:spPr>
      </p:pic>
      <p:sp>
        <p:nvSpPr>
          <p:cNvPr id="20" name="apres-3-rond"/>
          <p:cNvSpPr/>
          <p:nvPr/>
        </p:nvSpPr>
        <p:spPr>
          <a:xfrm>
            <a:off x="4617720" y="3520440"/>
            <a:ext cx="384048" cy="384048"/>
          </a:xfrm>
          <a:prstGeom prst="ellipse">
            <a:avLst/>
          </a:prstGeom>
          <a:solidFill>
            <a:schemeClr val="accent2"/>
          </a:solidFill>
          <a:ln w="12700">
            <a:solidFill>
              <a:schemeClr val="accent2"/>
            </a:solidFill>
            <a:prstDash val="solid"/>
          </a:ln>
        </p:spPr>
      </p:sp>
      <p:pic>
        <p:nvPicPr>
          <p:cNvPr id="21" name="apres-3-icone" descr="preencoded.png">    </p:cNvPr>
          <p:cNvPicPr>
            <a:picLocks noChangeAspect="1"/>
          </p:cNvPicPr>
          <p:nvPr/>
        </p:nvPicPr>
        <p:blipFill>
          <a:blip r:embed="rId6"/>
          <a:stretch>
            <a:fillRect/>
          </a:stretch>
        </p:blipFill>
        <p:spPr>
          <a:xfrm>
            <a:off x="4709892" y="3612612"/>
            <a:ext cx="199705" cy="199705"/>
          </a:xfrm>
          <a:prstGeom prst="rect">
            <a:avLst/>
          </a:prstGeom>
        </p:spPr>
      </p:pic>
      <p:sp>
        <p:nvSpPr>
          <p:cNvPr id="22" name="apres-3"/>
          <p:cNvSpPr txBox="1"/>
          <p:nvPr/>
        </p:nvSpPr>
        <p:spPr>
          <a:xfrm>
            <a:off x="5166360" y="3346704"/>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Des devoirs en quiz corrigés tout seuls</a:t>
            </a:r>
            <a:pPr indent="0" marL="0">
              <a:buNone/>
            </a:pPr>
            <a:r>
              <a:rPr lang="en-US" sz="1500" dirty="0">
                <a:solidFill>
                  <a:schemeClr val="tx1"/>
                </a:solidFill>
                <a:latin typeface="Barlow" pitchFamily="34" charset="0"/>
                <a:ea typeface="Barlow" pitchFamily="34" charset="-122"/>
                <a:cs typeface="Barlow" pitchFamily="34" charset="-120"/>
              </a:rPr>
              <a:t> ou en fichier à rendre, notés et commentés par l'enseignant.</a:t>
            </a:r>
            <a:endParaRPr lang="en-US" sz="1500" dirty="0"/>
          </a:p>
        </p:txBody>
      </p:sp>
      <p:sp>
        <p:nvSpPr>
          <p:cNvPr id="23" name="avant-4-fond"/>
          <p:cNvSpPr/>
          <p:nvPr/>
        </p:nvSpPr>
        <p:spPr>
          <a:xfrm>
            <a:off x="548640" y="4233672"/>
            <a:ext cx="3291840" cy="731520"/>
          </a:xfrm>
          <a:prstGeom prst="roundRect">
            <a:avLst>
              <a:gd name="adj" fmla="val 12500"/>
            </a:avLst>
          </a:prstGeom>
          <a:solidFill>
            <a:schemeClr val="bg2"/>
          </a:solidFill>
          <a:ln w="12700">
            <a:solidFill>
              <a:schemeClr val="bg2"/>
            </a:solidFill>
            <a:prstDash val="solid"/>
          </a:ln>
        </p:spPr>
      </p:sp>
      <p:sp>
        <p:nvSpPr>
          <p:cNvPr id="24" name="avant-4"/>
          <p:cNvSpPr txBox="1"/>
          <p:nvPr/>
        </p:nvSpPr>
        <p:spPr>
          <a:xfrm>
            <a:off x="777240" y="4233672"/>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Moodle</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cours</a:t>
            </a:r>
            <a:endParaRPr lang="en-US" sz="1800" dirty="0"/>
          </a:p>
        </p:txBody>
      </p:sp>
      <p:pic>
        <p:nvPicPr>
          <p:cNvPr id="25" name="fleche-4" descr="preencoded.png">    </p:cNvPr>
          <p:cNvPicPr>
            <a:picLocks noChangeAspect="1"/>
          </p:cNvPicPr>
          <p:nvPr/>
        </p:nvPicPr>
        <p:blipFill>
          <a:blip r:embed="rId7"/>
          <a:stretch>
            <a:fillRect/>
          </a:stretch>
        </p:blipFill>
        <p:spPr>
          <a:xfrm>
            <a:off x="4041648" y="4443984"/>
            <a:ext cx="310896" cy="310896"/>
          </a:xfrm>
          <a:prstGeom prst="rect">
            <a:avLst/>
          </a:prstGeom>
        </p:spPr>
      </p:pic>
      <p:sp>
        <p:nvSpPr>
          <p:cNvPr id="26" name="apres-4-rond"/>
          <p:cNvSpPr/>
          <p:nvPr/>
        </p:nvSpPr>
        <p:spPr>
          <a:xfrm>
            <a:off x="4617720" y="4407408"/>
            <a:ext cx="384048" cy="384048"/>
          </a:xfrm>
          <a:prstGeom prst="ellipse">
            <a:avLst/>
          </a:prstGeom>
          <a:solidFill>
            <a:schemeClr val="accent2"/>
          </a:solidFill>
          <a:ln w="12700">
            <a:solidFill>
              <a:schemeClr val="accent2"/>
            </a:solidFill>
            <a:prstDash val="solid"/>
          </a:ln>
        </p:spPr>
      </p:sp>
      <p:pic>
        <p:nvPicPr>
          <p:cNvPr id="27" name="apres-4-icone" descr="preencoded.png">    </p:cNvPr>
          <p:cNvPicPr>
            <a:picLocks noChangeAspect="1"/>
          </p:cNvPicPr>
          <p:nvPr/>
        </p:nvPicPr>
        <p:blipFill>
          <a:blip r:embed="rId8"/>
          <a:stretch>
            <a:fillRect/>
          </a:stretch>
        </p:blipFill>
        <p:spPr>
          <a:xfrm>
            <a:off x="4709892" y="4499580"/>
            <a:ext cx="199705" cy="199705"/>
          </a:xfrm>
          <a:prstGeom prst="rect">
            <a:avLst/>
          </a:prstGeom>
        </p:spPr>
      </p:pic>
      <p:sp>
        <p:nvSpPr>
          <p:cNvPr id="28" name="apres-4"/>
          <p:cNvSpPr txBox="1"/>
          <p:nvPr/>
        </p:nvSpPr>
        <p:spPr>
          <a:xfrm>
            <a:off x="5166360" y="4233672"/>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Une bibliothèque rangée par module</a:t>
            </a:r>
            <a:pPr indent="0" marL="0">
              <a:buNone/>
            </a:pPr>
            <a:r>
              <a:rPr lang="en-US" sz="1500" dirty="0">
                <a:solidFill>
                  <a:schemeClr val="tx1"/>
                </a:solidFill>
                <a:latin typeface="Barlow" pitchFamily="34" charset="0"/>
                <a:ea typeface="Barlow" pitchFamily="34" charset="-122"/>
                <a:cs typeface="Barlow" pitchFamily="34" charset="-120"/>
              </a:rPr>
              <a:t> : recherche, lecture sur téléphone, même hors ligne.</a:t>
            </a:r>
            <a:endParaRPr lang="en-US" sz="1500" dirty="0"/>
          </a:p>
        </p:txBody>
      </p:sp>
      <p:sp>
        <p:nvSpPr>
          <p:cNvPr id="29" name="avant-5-fond"/>
          <p:cNvSpPr/>
          <p:nvPr/>
        </p:nvSpPr>
        <p:spPr>
          <a:xfrm>
            <a:off x="548640" y="5120640"/>
            <a:ext cx="3291840" cy="731520"/>
          </a:xfrm>
          <a:prstGeom prst="roundRect">
            <a:avLst>
              <a:gd name="adj" fmla="val 12500"/>
            </a:avLst>
          </a:prstGeom>
          <a:solidFill>
            <a:schemeClr val="bg2"/>
          </a:solidFill>
          <a:ln w="12700">
            <a:solidFill>
              <a:schemeClr val="bg2"/>
            </a:solidFill>
            <a:prstDash val="solid"/>
          </a:ln>
        </p:spPr>
      </p:sp>
      <p:sp>
        <p:nvSpPr>
          <p:cNvPr id="30" name="avant-5"/>
          <p:cNvSpPr txBox="1"/>
          <p:nvPr/>
        </p:nvSpPr>
        <p:spPr>
          <a:xfrm>
            <a:off x="777240" y="5120640"/>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Sites de jeux externes</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réviser en jouant</a:t>
            </a:r>
            <a:endParaRPr lang="en-US" sz="1800" dirty="0"/>
          </a:p>
        </p:txBody>
      </p:sp>
      <p:pic>
        <p:nvPicPr>
          <p:cNvPr id="31" name="fleche-5" descr="preencoded.png">    </p:cNvPr>
          <p:cNvPicPr>
            <a:picLocks noChangeAspect="1"/>
          </p:cNvPicPr>
          <p:nvPr/>
        </p:nvPicPr>
        <p:blipFill>
          <a:blip r:embed="rId9"/>
          <a:stretch>
            <a:fillRect/>
          </a:stretch>
        </p:blipFill>
        <p:spPr>
          <a:xfrm>
            <a:off x="4041648" y="5330952"/>
            <a:ext cx="310896" cy="310896"/>
          </a:xfrm>
          <a:prstGeom prst="rect">
            <a:avLst/>
          </a:prstGeom>
        </p:spPr>
      </p:pic>
      <p:sp>
        <p:nvSpPr>
          <p:cNvPr id="32" name="apres-5-rond"/>
          <p:cNvSpPr/>
          <p:nvPr/>
        </p:nvSpPr>
        <p:spPr>
          <a:xfrm>
            <a:off x="4617720" y="5294376"/>
            <a:ext cx="384048" cy="384048"/>
          </a:xfrm>
          <a:prstGeom prst="ellipse">
            <a:avLst/>
          </a:prstGeom>
          <a:solidFill>
            <a:schemeClr val="accent2"/>
          </a:solidFill>
          <a:ln w="12700">
            <a:solidFill>
              <a:schemeClr val="accent2"/>
            </a:solidFill>
            <a:prstDash val="solid"/>
          </a:ln>
        </p:spPr>
      </p:sp>
      <p:pic>
        <p:nvPicPr>
          <p:cNvPr id="33" name="apres-5-icone" descr="preencoded.png">    </p:cNvPr>
          <p:cNvPicPr>
            <a:picLocks noChangeAspect="1"/>
          </p:cNvPicPr>
          <p:nvPr/>
        </p:nvPicPr>
        <p:blipFill>
          <a:blip r:embed="rId10"/>
          <a:stretch>
            <a:fillRect/>
          </a:stretch>
        </p:blipFill>
        <p:spPr>
          <a:xfrm>
            <a:off x="4709892" y="5386548"/>
            <a:ext cx="199705" cy="199705"/>
          </a:xfrm>
          <a:prstGeom prst="rect">
            <a:avLst/>
          </a:prstGeom>
        </p:spPr>
      </p:pic>
      <p:sp>
        <p:nvSpPr>
          <p:cNvPr id="34" name="apres-5"/>
          <p:cNvSpPr txBox="1"/>
          <p:nvPr/>
        </p:nvSpPr>
        <p:spPr>
          <a:xfrm>
            <a:off x="5166360" y="5120640"/>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Des activités choisies par l'enseignant</a:t>
            </a:r>
            <a:pPr indent="0" marL="0">
              <a:buNone/>
            </a:pPr>
            <a:r>
              <a:rPr lang="en-US" sz="1500" dirty="0">
                <a:solidFill>
                  <a:schemeClr val="tx1"/>
                </a:solidFill>
                <a:latin typeface="Barlow" pitchFamily="34" charset="0"/>
                <a:ea typeface="Barlow" pitchFamily="34" charset="-122"/>
                <a:cs typeface="Barlow" pitchFamily="34" charset="-120"/>
              </a:rPr>
              <a:t> : sans publicité ni compte externe, résultats conservés par l'école.</a:t>
            </a:r>
            <a:endParaRPr lang="en-US" sz="15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9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9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9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9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9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12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12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12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12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12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12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15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150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15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15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15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0" presetID="10" presetClass="entr" presetSubtype="0" fill="hold" grpId="0" nodeType="withEffect">
                                  <p:stCondLst>
                                    <p:cond delay="15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par>
                                <p:cTn id="83" presetID="10" presetClass="entr" presetSubtype="0" fill="hold" grpId="0" nodeType="withEffect">
                                  <p:stCondLst>
                                    <p:cond delay="1800"/>
                                  </p:stCondLst>
                                  <p:childTnLst>
                                    <p:set>
                                      <p:cBhvr>
                                        <p:cTn id="84" dur="1" fill="hold">
                                          <p:stCondLst>
                                            <p:cond delay="0"/>
                                          </p:stCondLst>
                                        </p:cTn>
                                        <p:tgtEl>
                                          <p:spTgt spid="29"/>
                                        </p:tgtEl>
                                        <p:attrNameLst>
                                          <p:attrName>style.visibility</p:attrName>
                                        </p:attrNameLst>
                                      </p:cBhvr>
                                      <p:to>
                                        <p:strVal val="visible"/>
                                      </p:to>
                                    </p:set>
                                    <p:animEffect transition="in" filter="fade">
                                      <p:cBhvr>
                                        <p:cTn id="85" dur="500"/>
                                        <p:tgtEl>
                                          <p:spTgt spid="29"/>
                                        </p:tgtEl>
                                      </p:cBhvr>
                                    </p:animEffect>
                                  </p:childTnLst>
                                </p:cTn>
                              </p:par>
                              <p:par>
                                <p:cTn id="86" presetID="10" presetClass="entr" presetSubtype="0" fill="hold" grpId="0" nodeType="withEffect">
                                  <p:stCondLst>
                                    <p:cond delay="1800"/>
                                  </p:stCondLst>
                                  <p:childTnLst>
                                    <p:set>
                                      <p:cBhvr>
                                        <p:cTn id="87" dur="1" fill="hold">
                                          <p:stCondLst>
                                            <p:cond delay="0"/>
                                          </p:stCondLst>
                                        </p:cTn>
                                        <p:tgtEl>
                                          <p:spTgt spid="30"/>
                                        </p:tgtEl>
                                        <p:attrNameLst>
                                          <p:attrName>style.visibility</p:attrName>
                                        </p:attrNameLst>
                                      </p:cBhvr>
                                      <p:to>
                                        <p:strVal val="visible"/>
                                      </p:to>
                                    </p:set>
                                    <p:animEffect transition="in" filter="fade">
                                      <p:cBhvr>
                                        <p:cTn id="88" dur="500"/>
                                        <p:tgtEl>
                                          <p:spTgt spid="30"/>
                                        </p:tgtEl>
                                      </p:cBhvr>
                                    </p:animEffect>
                                  </p:childTnLst>
                                </p:cTn>
                              </p:par>
                              <p:par>
                                <p:cTn id="89" presetID="10" presetClass="entr" presetSubtype="0" fill="hold" grpId="0" nodeType="withEffect">
                                  <p:stCondLst>
                                    <p:cond delay="1800"/>
                                  </p:stCondLst>
                                  <p:childTnLst>
                                    <p:set>
                                      <p:cBhvr>
                                        <p:cTn id="90" dur="1" fill="hold">
                                          <p:stCondLst>
                                            <p:cond delay="0"/>
                                          </p:stCondLst>
                                        </p:cTn>
                                        <p:tgtEl>
                                          <p:spTgt spid="31"/>
                                        </p:tgtEl>
                                        <p:attrNameLst>
                                          <p:attrName>style.visibility</p:attrName>
                                        </p:attrNameLst>
                                      </p:cBhvr>
                                      <p:to>
                                        <p:strVal val="visible"/>
                                      </p:to>
                                    </p:set>
                                    <p:animEffect transition="in" filter="fade">
                                      <p:cBhvr>
                                        <p:cTn id="91" dur="500"/>
                                        <p:tgtEl>
                                          <p:spTgt spid="31"/>
                                        </p:tgtEl>
                                      </p:cBhvr>
                                    </p:animEffect>
                                  </p:childTnLst>
                                </p:cTn>
                              </p:par>
                              <p:par>
                                <p:cTn id="92" presetID="10" presetClass="entr" presetSubtype="0" fill="hold" grpId="0" nodeType="withEffect">
                                  <p:stCondLst>
                                    <p:cond delay="180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grpId="0" nodeType="withEffect">
                                  <p:stCondLst>
                                    <p:cond delay="180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8" presetID="10" presetClass="entr" presetSubtype="0" fill="hold" grpId="0" nodeType="withEffect">
                                  <p:stCondLst>
                                    <p:cond delay="180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P spid="10" grpId="0" animBg="1"/>
      <p:bldP spid="11" grpId="0" animBg="1"/>
      <p:bldP spid="12" grpId="0" animBg="1"/>
      <p:bldP spid="14" grpId="0" animBg="1"/>
      <p:bldP spid="16" grpId="0" animBg="1"/>
      <p:bldP spid="17" grpId="0" animBg="1"/>
      <p:bldP spid="18" grpId="0" animBg="1"/>
      <p:bldP spid="20" grpId="0" animBg="1"/>
      <p:bldP spid="22" grpId="0" animBg="1"/>
      <p:bldP spid="23" grpId="0" animBg="1"/>
      <p:bldP spid="24" grpId="0" animBg="1"/>
      <p:bldP spid="26" grpId="0" animBg="1"/>
      <p:bldP spid="28" grpId="0" animBg="1"/>
      <p:bldP spid="29" grpId="0" animBg="1"/>
      <p:bldP spid="30" grpId="0" animBg="1"/>
      <p:bldP spid="32" grpId="0" animBg="1"/>
      <p:bldP spid="3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Ce que chacun y gagne</a:t>
            </a:r>
            <a:endParaRPr lang="en-US" sz="3600" dirty="0"/>
          </a:p>
        </p:txBody>
      </p:sp>
      <p:sp>
        <p:nvSpPr>
          <p:cNvPr id="3" name="chiffre-1"/>
          <p:cNvSpPr txBox="1"/>
          <p:nvPr/>
        </p:nvSpPr>
        <p:spPr>
          <a:xfrm>
            <a:off x="548640" y="1188720"/>
            <a:ext cx="3474720" cy="822960"/>
          </a:xfrm>
          <a:prstGeom prst="rect">
            <a:avLst/>
          </a:prstGeom>
          <a:noFill/>
          <a:ln/>
        </p:spPr>
        <p:txBody>
          <a:bodyPr wrap="square" lIns="0" tIns="0" rIns="0" bIns="0" rtlCol="0" anchor="ctr"/>
          <a:lstStyle/>
          <a:p>
            <a:pPr indent="0" marL="0">
              <a:buNone/>
            </a:pPr>
            <a:r>
              <a:rPr lang="en-US" sz="5400" b="1" dirty="0">
                <a:solidFill>
                  <a:schemeClr val="accent1"/>
                </a:solidFill>
                <a:latin typeface="Barlow Condensed" pitchFamily="34" charset="0"/>
                <a:ea typeface="Barlow Condensed" pitchFamily="34" charset="-122"/>
                <a:cs typeface="Barlow Condensed" pitchFamily="34" charset="-120"/>
              </a:rPr>
              <a:t>90 s</a:t>
            </a:r>
            <a:endParaRPr lang="en-US" sz="5400" dirty="0"/>
          </a:p>
        </p:txBody>
      </p:sp>
      <p:sp>
        <p:nvSpPr>
          <p:cNvPr id="4" name="chiffre-1-legende"/>
          <p:cNvSpPr txBox="1"/>
          <p:nvPr/>
        </p:nvSpPr>
        <p:spPr>
          <a:xfrm>
            <a:off x="548640" y="2011680"/>
            <a:ext cx="3474720" cy="548640"/>
          </a:xfrm>
          <a:prstGeom prst="rect">
            <a:avLst/>
          </a:prstGeom>
          <a:noFill/>
          <a:ln/>
        </p:spPr>
        <p:txBody>
          <a:bodyPr wrap="square" lIns="0" tIns="0" rIns="0" bIns="0" rtlCol="0" anchor="t"/>
          <a:lstStyle/>
          <a:p>
            <a:pPr indent="0" marL="0">
              <a:buNone/>
            </a:pPr>
            <a:r>
              <a:rPr lang="en-US" sz="1400" dirty="0">
                <a:solidFill>
                  <a:schemeClr val="accent4"/>
                </a:solidFill>
                <a:latin typeface="Barlow" pitchFamily="34" charset="0"/>
                <a:ea typeface="Barlow" pitchFamily="34" charset="-122"/>
                <a:cs typeface="Barlow" pitchFamily="34" charset="-120"/>
              </a:rPr>
              <a:t>pour proposer l'emploi du temps d'un semestre entier (2 620 séances)</a:t>
            </a:r>
            <a:endParaRPr lang="en-US" sz="1400" dirty="0"/>
          </a:p>
        </p:txBody>
      </p:sp>
      <p:sp>
        <p:nvSpPr>
          <p:cNvPr id="5" name="chiffre-2"/>
          <p:cNvSpPr txBox="1"/>
          <p:nvPr/>
        </p:nvSpPr>
        <p:spPr>
          <a:xfrm>
            <a:off x="4325112" y="1188720"/>
            <a:ext cx="3474720" cy="822960"/>
          </a:xfrm>
          <a:prstGeom prst="rect">
            <a:avLst/>
          </a:prstGeom>
          <a:noFill/>
          <a:ln/>
        </p:spPr>
        <p:txBody>
          <a:bodyPr wrap="square" lIns="0" tIns="0" rIns="0" bIns="0" rtlCol="0" anchor="ctr"/>
          <a:lstStyle/>
          <a:p>
            <a:pPr indent="0" marL="0">
              <a:buNone/>
            </a:pPr>
            <a:r>
              <a:rPr lang="en-US" sz="5400" b="1" dirty="0">
                <a:solidFill>
                  <a:schemeClr val="tx2"/>
                </a:solidFill>
                <a:latin typeface="Barlow Condensed" pitchFamily="34" charset="0"/>
                <a:ea typeface="Barlow Condensed" pitchFamily="34" charset="-122"/>
                <a:cs typeface="Barlow Condensed" pitchFamily="34" charset="-120"/>
              </a:rPr>
              <a:t>1</a:t>
            </a:r>
            <a:endParaRPr lang="en-US" sz="5400" dirty="0"/>
          </a:p>
        </p:txBody>
      </p:sp>
      <p:sp>
        <p:nvSpPr>
          <p:cNvPr id="6" name="chiffre-2-legende"/>
          <p:cNvSpPr txBox="1"/>
          <p:nvPr/>
        </p:nvSpPr>
        <p:spPr>
          <a:xfrm>
            <a:off x="4325112" y="2011680"/>
            <a:ext cx="3474720" cy="548640"/>
          </a:xfrm>
          <a:prstGeom prst="rect">
            <a:avLst/>
          </a:prstGeom>
          <a:noFill/>
          <a:ln/>
        </p:spPr>
        <p:txBody>
          <a:bodyPr wrap="square" lIns="0" tIns="0" rIns="0" bIns="0" rtlCol="0" anchor="t"/>
          <a:lstStyle/>
          <a:p>
            <a:pPr indent="0" marL="0">
              <a:buNone/>
            </a:pPr>
            <a:r>
              <a:rPr lang="en-US" sz="1400" dirty="0">
                <a:solidFill>
                  <a:schemeClr val="accent4"/>
                </a:solidFill>
                <a:latin typeface="Barlow" pitchFamily="34" charset="0"/>
                <a:ea typeface="Barlow" pitchFamily="34" charset="-122"/>
                <a:cs typeface="Barlow" pitchFamily="34" charset="-120"/>
              </a:rPr>
              <a:t>compte et une application, au lieu de cinq outils</a:t>
            </a:r>
            <a:endParaRPr lang="en-US" sz="1400" dirty="0"/>
          </a:p>
        </p:txBody>
      </p:sp>
      <p:sp>
        <p:nvSpPr>
          <p:cNvPr id="7" name="chiffre-3"/>
          <p:cNvSpPr txBox="1"/>
          <p:nvPr/>
        </p:nvSpPr>
        <p:spPr>
          <a:xfrm>
            <a:off x="8101584" y="1188720"/>
            <a:ext cx="3474720" cy="822960"/>
          </a:xfrm>
          <a:prstGeom prst="rect">
            <a:avLst/>
          </a:prstGeom>
          <a:noFill/>
          <a:ln/>
        </p:spPr>
        <p:txBody>
          <a:bodyPr wrap="square" lIns="0" tIns="0" rIns="0" bIns="0" rtlCol="0" anchor="ctr"/>
          <a:lstStyle/>
          <a:p>
            <a:pPr indent="0" marL="0">
              <a:buNone/>
            </a:pPr>
            <a:r>
              <a:rPr lang="en-US" sz="5400" b="1" dirty="0">
                <a:solidFill>
                  <a:schemeClr val="tx2"/>
                </a:solidFill>
                <a:latin typeface="Barlow Condensed" pitchFamily="34" charset="0"/>
                <a:ea typeface="Barlow Condensed" pitchFamily="34" charset="-122"/>
                <a:cs typeface="Barlow Condensed" pitchFamily="34" charset="-120"/>
              </a:rPr>
              <a:t>0</a:t>
            </a:r>
            <a:endParaRPr lang="en-US" sz="5400" dirty="0"/>
          </a:p>
        </p:txBody>
      </p:sp>
      <p:sp>
        <p:nvSpPr>
          <p:cNvPr id="8" name="chiffre-3-legende"/>
          <p:cNvSpPr txBox="1"/>
          <p:nvPr/>
        </p:nvSpPr>
        <p:spPr>
          <a:xfrm>
            <a:off x="8101584" y="2011680"/>
            <a:ext cx="3474720" cy="548640"/>
          </a:xfrm>
          <a:prstGeom prst="rect">
            <a:avLst/>
          </a:prstGeom>
          <a:noFill/>
          <a:ln/>
        </p:spPr>
        <p:txBody>
          <a:bodyPr wrap="square" lIns="0" tIns="0" rIns="0" bIns="0" rtlCol="0" anchor="t"/>
          <a:lstStyle/>
          <a:p>
            <a:pPr indent="0" marL="0">
              <a:buNone/>
            </a:pPr>
            <a:r>
              <a:rPr lang="en-US" sz="1400" dirty="0">
                <a:solidFill>
                  <a:schemeClr val="accent4"/>
                </a:solidFill>
                <a:latin typeface="Barlow" pitchFamily="34" charset="0"/>
                <a:ea typeface="Barlow" pitchFamily="34" charset="-122"/>
                <a:cs typeface="Barlow" pitchFamily="34" charset="-120"/>
              </a:rPr>
              <a:t>publicité ni compte externe pour les jeux et les quiz</a:t>
            </a:r>
            <a:endParaRPr lang="en-US" sz="1400" dirty="0"/>
          </a:p>
        </p:txBody>
      </p:sp>
      <p:sp>
        <p:nvSpPr>
          <p:cNvPr id="9" name="public-1-carte"/>
          <p:cNvSpPr/>
          <p:nvPr/>
        </p:nvSpPr>
        <p:spPr>
          <a:xfrm>
            <a:off x="548640" y="2834640"/>
            <a:ext cx="2606040" cy="3154680"/>
          </a:xfrm>
          <a:prstGeom prst="roundRect">
            <a:avLst>
              <a:gd name="adj" fmla="val 4211"/>
            </a:avLst>
          </a:prstGeom>
          <a:solidFill>
            <a:schemeClr val="bg2"/>
          </a:solidFill>
          <a:ln w="12700">
            <a:solidFill>
              <a:schemeClr val="bg2"/>
            </a:solidFill>
            <a:prstDash val="solid"/>
          </a:ln>
        </p:spPr>
      </p:sp>
      <p:sp>
        <p:nvSpPr>
          <p:cNvPr id="10" name="public-1-rond"/>
          <p:cNvSpPr/>
          <p:nvPr/>
        </p:nvSpPr>
        <p:spPr>
          <a:xfrm>
            <a:off x="804672" y="3108960"/>
            <a:ext cx="603504" cy="603504"/>
          </a:xfrm>
          <a:prstGeom prst="ellipse">
            <a:avLst/>
          </a:prstGeom>
          <a:solidFill>
            <a:schemeClr val="tx2"/>
          </a:solidFill>
          <a:ln w="12700">
            <a:solidFill>
              <a:schemeClr val="tx2"/>
            </a:solidFill>
            <a:prstDash val="solid"/>
          </a:ln>
        </p:spPr>
      </p:sp>
      <p:pic>
        <p:nvPicPr>
          <p:cNvPr id="11" name="public-1-icone" descr="preencoded.png">    </p:cNvPr>
          <p:cNvPicPr>
            <a:picLocks noChangeAspect="1"/>
          </p:cNvPicPr>
          <p:nvPr/>
        </p:nvPicPr>
        <p:blipFill>
          <a:blip r:embed="rId1"/>
          <a:stretch>
            <a:fillRect/>
          </a:stretch>
        </p:blipFill>
        <p:spPr>
          <a:xfrm>
            <a:off x="949513" y="3253801"/>
            <a:ext cx="313822" cy="313822"/>
          </a:xfrm>
          <a:prstGeom prst="rect">
            <a:avLst/>
          </a:prstGeom>
        </p:spPr>
      </p:pic>
      <p:sp>
        <p:nvSpPr>
          <p:cNvPr id="12" name="public-1-titre"/>
          <p:cNvSpPr txBox="1"/>
          <p:nvPr/>
        </p:nvSpPr>
        <p:spPr>
          <a:xfrm>
            <a:off x="804672" y="385876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Direction et scolarité</a:t>
            </a:r>
            <a:endParaRPr lang="en-US" sz="2000" dirty="0"/>
          </a:p>
        </p:txBody>
      </p:sp>
      <p:sp>
        <p:nvSpPr>
          <p:cNvPr id="13" name="public-1-texte"/>
          <p:cNvSpPr txBox="1"/>
          <p:nvPr/>
        </p:nvSpPr>
        <p:spPr>
          <a:xfrm>
            <a:off x="804672" y="434340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 planning du semestre proposé automatiquement, les conflits signalés, les heures et les présences suivies en un coup d'œil.</a:t>
            </a:r>
            <a:endParaRPr lang="en-US" sz="1400" dirty="0"/>
          </a:p>
        </p:txBody>
      </p:sp>
      <p:sp>
        <p:nvSpPr>
          <p:cNvPr id="14" name="public-2-carte"/>
          <p:cNvSpPr/>
          <p:nvPr/>
        </p:nvSpPr>
        <p:spPr>
          <a:xfrm>
            <a:off x="3367735" y="2834640"/>
            <a:ext cx="2606040" cy="3154680"/>
          </a:xfrm>
          <a:prstGeom prst="roundRect">
            <a:avLst>
              <a:gd name="adj" fmla="val 4211"/>
            </a:avLst>
          </a:prstGeom>
          <a:solidFill>
            <a:schemeClr val="bg2"/>
          </a:solidFill>
          <a:ln w="12700">
            <a:solidFill>
              <a:schemeClr val="bg2"/>
            </a:solidFill>
            <a:prstDash val="solid"/>
          </a:ln>
        </p:spPr>
      </p:sp>
      <p:sp>
        <p:nvSpPr>
          <p:cNvPr id="15" name="public-2-rond"/>
          <p:cNvSpPr/>
          <p:nvPr/>
        </p:nvSpPr>
        <p:spPr>
          <a:xfrm>
            <a:off x="3623767" y="3108960"/>
            <a:ext cx="603504" cy="603504"/>
          </a:xfrm>
          <a:prstGeom prst="ellipse">
            <a:avLst/>
          </a:prstGeom>
          <a:solidFill>
            <a:schemeClr val="tx2"/>
          </a:solidFill>
          <a:ln w="12700">
            <a:solidFill>
              <a:schemeClr val="tx2"/>
            </a:solidFill>
            <a:prstDash val="solid"/>
          </a:ln>
        </p:spPr>
      </p:sp>
      <p:pic>
        <p:nvPicPr>
          <p:cNvPr id="16" name="public-2-icone" descr="preencoded.png">    </p:cNvPr>
          <p:cNvPicPr>
            <a:picLocks noChangeAspect="1"/>
          </p:cNvPicPr>
          <p:nvPr/>
        </p:nvPicPr>
        <p:blipFill>
          <a:blip r:embed="rId2"/>
          <a:stretch>
            <a:fillRect/>
          </a:stretch>
        </p:blipFill>
        <p:spPr>
          <a:xfrm>
            <a:off x="3768608" y="3253801"/>
            <a:ext cx="313822" cy="313822"/>
          </a:xfrm>
          <a:prstGeom prst="rect">
            <a:avLst/>
          </a:prstGeom>
        </p:spPr>
      </p:pic>
      <p:sp>
        <p:nvSpPr>
          <p:cNvPr id="17" name="public-2-titre"/>
          <p:cNvSpPr txBox="1"/>
          <p:nvPr/>
        </p:nvSpPr>
        <p:spPr>
          <a:xfrm>
            <a:off x="3623767" y="385876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Enseignants</a:t>
            </a:r>
            <a:endParaRPr lang="en-US" sz="2000" dirty="0"/>
          </a:p>
        </p:txBody>
      </p:sp>
      <p:sp>
        <p:nvSpPr>
          <p:cNvPr id="18" name="public-2-texte"/>
          <p:cNvSpPr txBox="1"/>
          <p:nvPr/>
        </p:nvSpPr>
        <p:spPr>
          <a:xfrm>
            <a:off x="3623767" y="434340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Leurs cours, l'appel en un QR code, leurs devoirs et leurs activités au même endroit.</a:t>
            </a:r>
            <a:endParaRPr lang="en-US" sz="1400" dirty="0"/>
          </a:p>
        </p:txBody>
      </p:sp>
      <p:sp>
        <p:nvSpPr>
          <p:cNvPr id="19" name="public-3-carte"/>
          <p:cNvSpPr/>
          <p:nvPr/>
        </p:nvSpPr>
        <p:spPr>
          <a:xfrm>
            <a:off x="6186830" y="2834640"/>
            <a:ext cx="2606040" cy="3154680"/>
          </a:xfrm>
          <a:prstGeom prst="roundRect">
            <a:avLst>
              <a:gd name="adj" fmla="val 4211"/>
            </a:avLst>
          </a:prstGeom>
          <a:solidFill>
            <a:schemeClr val="bg2"/>
          </a:solidFill>
          <a:ln w="12700">
            <a:solidFill>
              <a:schemeClr val="bg2"/>
            </a:solidFill>
            <a:prstDash val="solid"/>
          </a:ln>
        </p:spPr>
      </p:sp>
      <p:sp>
        <p:nvSpPr>
          <p:cNvPr id="20" name="public-3-rond"/>
          <p:cNvSpPr/>
          <p:nvPr/>
        </p:nvSpPr>
        <p:spPr>
          <a:xfrm>
            <a:off x="6442862" y="3108960"/>
            <a:ext cx="603504" cy="603504"/>
          </a:xfrm>
          <a:prstGeom prst="ellipse">
            <a:avLst/>
          </a:prstGeom>
          <a:solidFill>
            <a:schemeClr val="tx2"/>
          </a:solidFill>
          <a:ln w="12700">
            <a:solidFill>
              <a:schemeClr val="tx2"/>
            </a:solidFill>
            <a:prstDash val="solid"/>
          </a:ln>
        </p:spPr>
      </p:sp>
      <p:pic>
        <p:nvPicPr>
          <p:cNvPr id="21" name="public-3-icone" descr="preencoded.png">    </p:cNvPr>
          <p:cNvPicPr>
            <a:picLocks noChangeAspect="1"/>
          </p:cNvPicPr>
          <p:nvPr/>
        </p:nvPicPr>
        <p:blipFill>
          <a:blip r:embed="rId3"/>
          <a:stretch>
            <a:fillRect/>
          </a:stretch>
        </p:blipFill>
        <p:spPr>
          <a:xfrm>
            <a:off x="6587703" y="3253801"/>
            <a:ext cx="313822" cy="313822"/>
          </a:xfrm>
          <a:prstGeom prst="rect">
            <a:avLst/>
          </a:prstGeom>
        </p:spPr>
      </p:pic>
      <p:sp>
        <p:nvSpPr>
          <p:cNvPr id="22" name="public-3-titre"/>
          <p:cNvSpPr txBox="1"/>
          <p:nvPr/>
        </p:nvSpPr>
        <p:spPr>
          <a:xfrm>
            <a:off x="6442862" y="385876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Étudiants</a:t>
            </a:r>
            <a:endParaRPr lang="en-US" sz="2000" dirty="0"/>
          </a:p>
        </p:txBody>
      </p:sp>
      <p:sp>
        <p:nvSpPr>
          <p:cNvPr id="23" name="public-3-texte"/>
          <p:cNvSpPr txBox="1"/>
          <p:nvPr/>
        </p:nvSpPr>
        <p:spPr>
          <a:xfrm>
            <a:off x="6442862" y="434340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Leur journée, leurs cours et leurs résultats dans la poche, en français ou en anglais.</a:t>
            </a:r>
            <a:endParaRPr lang="en-US" sz="1400" dirty="0"/>
          </a:p>
        </p:txBody>
      </p:sp>
      <p:sp>
        <p:nvSpPr>
          <p:cNvPr id="24" name="public-4-carte"/>
          <p:cNvSpPr/>
          <p:nvPr/>
        </p:nvSpPr>
        <p:spPr>
          <a:xfrm>
            <a:off x="9005926" y="2834640"/>
            <a:ext cx="2606040" cy="3154680"/>
          </a:xfrm>
          <a:prstGeom prst="roundRect">
            <a:avLst>
              <a:gd name="adj" fmla="val 4211"/>
            </a:avLst>
          </a:prstGeom>
          <a:solidFill>
            <a:schemeClr val="bg2"/>
          </a:solidFill>
          <a:ln w="12700">
            <a:solidFill>
              <a:schemeClr val="bg2"/>
            </a:solidFill>
            <a:prstDash val="solid"/>
          </a:ln>
        </p:spPr>
      </p:sp>
      <p:sp>
        <p:nvSpPr>
          <p:cNvPr id="25" name="public-4-rond"/>
          <p:cNvSpPr/>
          <p:nvPr/>
        </p:nvSpPr>
        <p:spPr>
          <a:xfrm>
            <a:off x="9261958" y="3108960"/>
            <a:ext cx="603504" cy="603504"/>
          </a:xfrm>
          <a:prstGeom prst="ellipse">
            <a:avLst/>
          </a:prstGeom>
          <a:solidFill>
            <a:schemeClr val="tx2"/>
          </a:solidFill>
          <a:ln w="12700">
            <a:solidFill>
              <a:schemeClr val="tx2"/>
            </a:solidFill>
            <a:prstDash val="solid"/>
          </a:ln>
        </p:spPr>
      </p:sp>
      <p:pic>
        <p:nvPicPr>
          <p:cNvPr id="26" name="public-4-icone" descr="preencoded.png">    </p:cNvPr>
          <p:cNvPicPr>
            <a:picLocks noChangeAspect="1"/>
          </p:cNvPicPr>
          <p:nvPr/>
        </p:nvPicPr>
        <p:blipFill>
          <a:blip r:embed="rId4"/>
          <a:stretch>
            <a:fillRect/>
          </a:stretch>
        </p:blipFill>
        <p:spPr>
          <a:xfrm>
            <a:off x="9406799" y="3253801"/>
            <a:ext cx="313822" cy="313822"/>
          </a:xfrm>
          <a:prstGeom prst="rect">
            <a:avLst/>
          </a:prstGeom>
        </p:spPr>
      </p:pic>
      <p:sp>
        <p:nvSpPr>
          <p:cNvPr id="27" name="public-4-titre"/>
          <p:cNvSpPr txBox="1"/>
          <p:nvPr/>
        </p:nvSpPr>
        <p:spPr>
          <a:xfrm>
            <a:off x="9261958" y="385876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L'école</a:t>
            </a:r>
            <a:endParaRPr lang="en-US" sz="2000" dirty="0"/>
          </a:p>
        </p:txBody>
      </p:sp>
      <p:sp>
        <p:nvSpPr>
          <p:cNvPr id="28" name="public-4-texte"/>
          <p:cNvSpPr txBox="1"/>
          <p:nvPr/>
        </p:nvSpPr>
        <p:spPr>
          <a:xfrm>
            <a:off x="9261958" y="434340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Une image moderne et des données hébergées et maîtrisées par l'école.</a:t>
            </a:r>
            <a:endParaRPr lang="en-US" sz="14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6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9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9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12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12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12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12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12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15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15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15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15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15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par>
                                <p:cTn id="68" presetID="10" presetClass="entr" presetSubtype="0" fill="hold" grpId="0" nodeType="withEffect">
                                  <p:stCondLst>
                                    <p:cond delay="180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1" presetID="10" presetClass="entr" presetSubtype="0" fill="hold" grpId="0" nodeType="withEffect">
                                  <p:stCondLst>
                                    <p:cond delay="18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18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180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0" presetID="10" presetClass="entr" presetSubtype="0" fill="hold" grpId="0" nodeType="withEffect">
                                  <p:stCondLst>
                                    <p:cond delay="180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777240"/>
          </a:xfrm>
          <a:prstGeom prst="rect">
            <a:avLst/>
          </a:prstGeom>
          <a:noFill/>
          <a:ln/>
        </p:spPr>
        <p:txBody>
          <a:bodyPr wrap="square" lIns="0" tIns="0" rIns="0" bIns="0" rtlCol="0" anchor="ctr"/>
          <a:lstStyle/>
          <a:p>
            <a:pPr algn="l" indent="0" marL="0">
              <a:buNone/>
            </a:pPr>
            <a:r>
              <a:rPr lang="en-US" sz="4000" b="1" dirty="0">
                <a:solidFill>
                  <a:schemeClr val="bg1"/>
                </a:solidFill>
                <a:latin typeface="Barlow Condensed" pitchFamily="34" charset="0"/>
                <a:ea typeface="Barlow Condensed" pitchFamily="34" charset="-122"/>
                <a:cs typeface="Barlow Condensed" pitchFamily="34" charset="-120"/>
              </a:rPr>
              <a:t>Déjà en ligne, prêt pour un pilote</a:t>
            </a:r>
            <a:endParaRPr lang="en-US" sz="4000" dirty="0"/>
          </a:p>
        </p:txBody>
      </p:sp>
      <p:sp>
        <p:nvSpPr>
          <p:cNvPr id="3" name="disponible-titre"/>
          <p:cNvSpPr txBox="1"/>
          <p:nvPr/>
        </p:nvSpPr>
        <p:spPr>
          <a:xfrm>
            <a:off x="640080" y="1554480"/>
            <a:ext cx="5120640" cy="365760"/>
          </a:xfrm>
          <a:prstGeom prst="rect">
            <a:avLst/>
          </a:prstGeom>
          <a:noFill/>
          <a:ln/>
        </p:spPr>
        <p:txBody>
          <a:bodyPr wrap="square" lIns="0" tIns="0" rIns="0" bIns="0" rtlCol="0" anchor="ctr"/>
          <a:lstStyle/>
          <a:p>
            <a:pPr indent="0" marL="0">
              <a:buNone/>
            </a:pPr>
            <a:r>
              <a:rPr lang="en-US" sz="1600" b="1" spc="300" kern="0" dirty="0">
                <a:solidFill>
                  <a:schemeClr val="accent1"/>
                </a:solidFill>
                <a:latin typeface="Barlow Condensed" pitchFamily="34" charset="0"/>
                <a:ea typeface="Barlow Condensed" pitchFamily="34" charset="-122"/>
                <a:cs typeface="Barlow Condensed" pitchFamily="34" charset="-120"/>
              </a:rPr>
              <a:t>DISPONIBLE AUJOURD'HUI</a:t>
            </a:r>
            <a:endParaRPr lang="en-US" sz="1600" dirty="0"/>
          </a:p>
        </p:txBody>
      </p:sp>
      <p:pic>
        <p:nvPicPr>
          <p:cNvPr id="4" name="disponible-1-coche" descr="preencoded.png">    </p:cNvPr>
          <p:cNvPicPr>
            <a:picLocks noChangeAspect="1"/>
          </p:cNvPicPr>
          <p:nvPr/>
        </p:nvPicPr>
        <p:blipFill>
          <a:blip r:embed="rId1"/>
          <a:stretch>
            <a:fillRect/>
          </a:stretch>
        </p:blipFill>
        <p:spPr>
          <a:xfrm>
            <a:off x="640080" y="2212848"/>
            <a:ext cx="329184" cy="329184"/>
          </a:xfrm>
          <a:prstGeom prst="rect">
            <a:avLst/>
          </a:prstGeom>
        </p:spPr>
      </p:pic>
      <p:sp>
        <p:nvSpPr>
          <p:cNvPr id="5" name="disponible-1"/>
          <p:cNvSpPr txBox="1"/>
          <p:nvPr/>
        </p:nvSpPr>
        <p:spPr>
          <a:xfrm>
            <a:off x="1143000" y="2121408"/>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 site web et l'application iPhone et Android</a:t>
            </a:r>
            <a:endParaRPr lang="en-US" sz="1700" dirty="0"/>
          </a:p>
        </p:txBody>
      </p:sp>
      <p:pic>
        <p:nvPicPr>
          <p:cNvPr id="6" name="disponible-2-coche" descr="preencoded.png">    </p:cNvPr>
          <p:cNvPicPr>
            <a:picLocks noChangeAspect="1"/>
          </p:cNvPicPr>
          <p:nvPr/>
        </p:nvPicPr>
        <p:blipFill>
          <a:blip r:embed="rId2"/>
          <a:stretch>
            <a:fillRect/>
          </a:stretch>
        </p:blipFill>
        <p:spPr>
          <a:xfrm>
            <a:off x="640080" y="3017520"/>
            <a:ext cx="329184" cy="329184"/>
          </a:xfrm>
          <a:prstGeom prst="rect">
            <a:avLst/>
          </a:prstGeom>
        </p:spPr>
      </p:pic>
      <p:sp>
        <p:nvSpPr>
          <p:cNvPr id="7" name="disponible-2"/>
          <p:cNvSpPr txBox="1"/>
          <p:nvPr/>
        </p:nvSpPr>
        <p:spPr>
          <a:xfrm>
            <a:off x="1143000" y="2926080"/>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Les annonces ciblées et l'agenda synchronisé</a:t>
            </a:r>
            <a:endParaRPr lang="en-US" sz="1700" dirty="0"/>
          </a:p>
        </p:txBody>
      </p:sp>
      <p:pic>
        <p:nvPicPr>
          <p:cNvPr id="8" name="disponible-3-coche" descr="preencoded.png">    </p:cNvPr>
          <p:cNvPicPr>
            <a:picLocks noChangeAspect="1"/>
          </p:cNvPicPr>
          <p:nvPr/>
        </p:nvPicPr>
        <p:blipFill>
          <a:blip r:embed="rId3"/>
          <a:stretch>
            <a:fillRect/>
          </a:stretch>
        </p:blipFill>
        <p:spPr>
          <a:xfrm>
            <a:off x="640080" y="3822192"/>
            <a:ext cx="329184" cy="329184"/>
          </a:xfrm>
          <a:prstGeom prst="rect">
            <a:avLst/>
          </a:prstGeom>
        </p:spPr>
      </p:pic>
      <p:sp>
        <p:nvSpPr>
          <p:cNvPr id="9" name="disponible-3"/>
          <p:cNvSpPr txBox="1"/>
          <p:nvPr/>
        </p:nvSpPr>
        <p:spPr>
          <a:xfrm>
            <a:off x="1143000" y="3730752"/>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La bibliothèque, les devoirs et les activités</a:t>
            </a:r>
            <a:endParaRPr lang="en-US" sz="1700" dirty="0"/>
          </a:p>
        </p:txBody>
      </p:sp>
      <p:pic>
        <p:nvPicPr>
          <p:cNvPr id="10" name="disponible-4-coche" descr="preencoded.png">    </p:cNvPr>
          <p:cNvPicPr>
            <a:picLocks noChangeAspect="1"/>
          </p:cNvPicPr>
          <p:nvPr/>
        </p:nvPicPr>
        <p:blipFill>
          <a:blip r:embed="rId4"/>
          <a:stretch>
            <a:fillRect/>
          </a:stretch>
        </p:blipFill>
        <p:spPr>
          <a:xfrm>
            <a:off x="640080" y="4626864"/>
            <a:ext cx="329184" cy="329184"/>
          </a:xfrm>
          <a:prstGeom prst="rect">
            <a:avLst/>
          </a:prstGeom>
        </p:spPr>
      </p:pic>
      <p:sp>
        <p:nvSpPr>
          <p:cNvPr id="11" name="disponible-4"/>
          <p:cNvSpPr txBox="1"/>
          <p:nvPr/>
        </p:nvSpPr>
        <p:spPr>
          <a:xfrm>
            <a:off x="1143000" y="4535424"/>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L'appel en classe par QR code</a:t>
            </a:r>
            <a:endParaRPr lang="en-US" sz="1700" dirty="0"/>
          </a:p>
        </p:txBody>
      </p:sp>
      <p:sp>
        <p:nvSpPr>
          <p:cNvPr id="12" name="suite-titre"/>
          <p:cNvSpPr txBox="1"/>
          <p:nvPr/>
        </p:nvSpPr>
        <p:spPr>
          <a:xfrm>
            <a:off x="6492240" y="1554480"/>
            <a:ext cx="5029200" cy="365760"/>
          </a:xfrm>
          <a:prstGeom prst="rect">
            <a:avLst/>
          </a:prstGeom>
          <a:noFill/>
          <a:ln/>
        </p:spPr>
        <p:txBody>
          <a:bodyPr wrap="square" lIns="0" tIns="0" rIns="0" bIns="0" rtlCol="0" anchor="ctr"/>
          <a:lstStyle/>
          <a:p>
            <a:pPr indent="0" marL="0">
              <a:buNone/>
            </a:pPr>
            <a:r>
              <a:rPr lang="en-US" sz="1600" b="1" spc="300" kern="0" dirty="0">
                <a:solidFill>
                  <a:schemeClr val="accent1"/>
                </a:solidFill>
                <a:latin typeface="Barlow Condensed" pitchFamily="34" charset="0"/>
                <a:ea typeface="Barlow Condensed" pitchFamily="34" charset="-122"/>
                <a:cs typeface="Barlow Condensed" pitchFamily="34" charset="-120"/>
              </a:rPr>
              <a:t>LA SUITE</a:t>
            </a:r>
            <a:endParaRPr lang="en-US" sz="1600" dirty="0"/>
          </a:p>
        </p:txBody>
      </p:sp>
      <p:sp>
        <p:nvSpPr>
          <p:cNvPr id="13" name="etape-1-rond"/>
          <p:cNvSpPr/>
          <p:nvPr/>
        </p:nvSpPr>
        <p:spPr>
          <a:xfrm>
            <a:off x="6492240" y="2103120"/>
            <a:ext cx="530352" cy="530352"/>
          </a:xfrm>
          <a:prstGeom prst="ellipse">
            <a:avLst/>
          </a:prstGeom>
          <a:solidFill>
            <a:schemeClr val="bg1"/>
          </a:solidFill>
          <a:ln w="12700">
            <a:solidFill>
              <a:schemeClr val="bg1"/>
            </a:solidFill>
            <a:prstDash val="solid"/>
          </a:ln>
        </p:spPr>
      </p:sp>
      <p:sp>
        <p:nvSpPr>
          <p:cNvPr id="14" name="etape-1-numero"/>
          <p:cNvSpPr txBox="1"/>
          <p:nvPr/>
        </p:nvSpPr>
        <p:spPr>
          <a:xfrm>
            <a:off x="6492240" y="210312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1</a:t>
            </a:r>
            <a:endParaRPr lang="en-US" sz="2200" dirty="0"/>
          </a:p>
        </p:txBody>
      </p:sp>
      <p:sp>
        <p:nvSpPr>
          <p:cNvPr id="15" name="etape-1"/>
          <p:cNvSpPr txBox="1"/>
          <p:nvPr/>
        </p:nvSpPr>
        <p:spPr>
          <a:xfrm>
            <a:off x="7223760" y="199339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Un pilote d'un semestre, avec une filière</a:t>
            </a:r>
            <a:endParaRPr lang="en-US" sz="1700" dirty="0"/>
          </a:p>
        </p:txBody>
      </p:sp>
      <p:sp>
        <p:nvSpPr>
          <p:cNvPr id="16" name="etape-2-rond"/>
          <p:cNvSpPr/>
          <p:nvPr/>
        </p:nvSpPr>
        <p:spPr>
          <a:xfrm>
            <a:off x="6492240" y="3063240"/>
            <a:ext cx="530352" cy="530352"/>
          </a:xfrm>
          <a:prstGeom prst="ellipse">
            <a:avLst/>
          </a:prstGeom>
          <a:solidFill>
            <a:schemeClr val="bg1"/>
          </a:solidFill>
          <a:ln w="12700">
            <a:solidFill>
              <a:schemeClr val="bg1"/>
            </a:solidFill>
            <a:prstDash val="solid"/>
          </a:ln>
        </p:spPr>
      </p:sp>
      <p:sp>
        <p:nvSpPr>
          <p:cNvPr id="17" name="etape-2-numero"/>
          <p:cNvSpPr txBox="1"/>
          <p:nvPr/>
        </p:nvSpPr>
        <p:spPr>
          <a:xfrm>
            <a:off x="6492240" y="306324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2</a:t>
            </a:r>
            <a:endParaRPr lang="en-US" sz="2200" dirty="0"/>
          </a:p>
        </p:txBody>
      </p:sp>
      <p:sp>
        <p:nvSpPr>
          <p:cNvPr id="18" name="etape-2"/>
          <p:cNvSpPr txBox="1"/>
          <p:nvPr/>
        </p:nvSpPr>
        <p:spPr>
          <a:xfrm>
            <a:off x="7223760" y="295351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Les notifications sur le téléphone et la publication sur les stores</a:t>
            </a:r>
            <a:endParaRPr lang="en-US" sz="1700" dirty="0"/>
          </a:p>
        </p:txBody>
      </p:sp>
      <p:sp>
        <p:nvSpPr>
          <p:cNvPr id="19" name="etape-3-rond"/>
          <p:cNvSpPr/>
          <p:nvPr/>
        </p:nvSpPr>
        <p:spPr>
          <a:xfrm>
            <a:off x="6492240" y="4023360"/>
            <a:ext cx="530352" cy="530352"/>
          </a:xfrm>
          <a:prstGeom prst="ellipse">
            <a:avLst/>
          </a:prstGeom>
          <a:solidFill>
            <a:schemeClr val="bg1"/>
          </a:solidFill>
          <a:ln w="12700">
            <a:solidFill>
              <a:schemeClr val="bg1"/>
            </a:solidFill>
            <a:prstDash val="solid"/>
          </a:ln>
        </p:spPr>
      </p:sp>
      <p:sp>
        <p:nvSpPr>
          <p:cNvPr id="20" name="etape-3-numero"/>
          <p:cNvSpPr txBox="1"/>
          <p:nvPr/>
        </p:nvSpPr>
        <p:spPr>
          <a:xfrm>
            <a:off x="6492240" y="402336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3</a:t>
            </a:r>
            <a:endParaRPr lang="en-US" sz="2200" dirty="0"/>
          </a:p>
        </p:txBody>
      </p:sp>
      <p:sp>
        <p:nvSpPr>
          <p:cNvPr id="21" name="etape-3"/>
          <p:cNvSpPr txBox="1"/>
          <p:nvPr/>
        </p:nvSpPr>
        <p:spPr>
          <a:xfrm>
            <a:off x="7223760" y="391363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Toute l'école, puis d'autres établissements</a:t>
            </a:r>
            <a:endParaRPr lang="en-US" sz="1700" dirty="0"/>
          </a:p>
        </p:txBody>
      </p:sp>
      <p:sp>
        <p:nvSpPr>
          <p:cNvPr id="22" name="signature"/>
          <p:cNvSpPr txBox="1"/>
          <p:nvPr/>
        </p:nvSpPr>
        <p:spPr>
          <a:xfrm>
            <a:off x="640080" y="5440680"/>
            <a:ext cx="6858000" cy="548640"/>
          </a:xfrm>
          <a:prstGeom prst="rect">
            <a:avLst/>
          </a:prstGeom>
          <a:noFill/>
          <a:ln/>
        </p:spPr>
        <p:txBody>
          <a:bodyPr wrap="square" lIns="0" tIns="0" rIns="0" bIns="0" rtlCol="0" anchor="ctr"/>
          <a:lstStyle/>
          <a:p>
            <a:pPr indent="0" marL="0">
              <a:buNone/>
            </a:pPr>
            <a:r>
              <a:rPr lang="en-US" sz="3000" b="1" i="1" dirty="0">
                <a:solidFill>
                  <a:schemeClr val="bg1"/>
                </a:solidFill>
                <a:latin typeface="Barlow Condensed" pitchFamily="34" charset="0"/>
                <a:ea typeface="Barlow Condensed" pitchFamily="34" charset="-122"/>
                <a:cs typeface="Barlow Condensed" pitchFamily="34" charset="-120"/>
              </a:rPr>
              <a:t>HESTIM Planner, l'école à l'heure.</a:t>
            </a:r>
            <a:endParaRPr lang="en-US" sz="3000" dirty="0"/>
          </a:p>
        </p:txBody>
      </p:sp>
      <p:sp>
        <p:nvSpPr>
          <p:cNvPr id="23" name="adresse-fin"/>
          <p:cNvSpPr txBox="1"/>
          <p:nvPr/>
        </p:nvSpPr>
        <p:spPr>
          <a:xfrm>
            <a:off x="7680960" y="5440680"/>
            <a:ext cx="3931920" cy="548640"/>
          </a:xfrm>
          <a:prstGeom prst="rect">
            <a:avLst/>
          </a:prstGeom>
          <a:noFill/>
          <a:ln/>
        </p:spPr>
        <p:txBody>
          <a:bodyPr wrap="square" lIns="0" tIns="0" rIns="0" bIns="0" rtlCol="0" anchor="ctr"/>
          <a:lstStyle/>
          <a:p>
            <a:pPr algn="r" indent="0" marL="0">
              <a:buNone/>
            </a:pPr>
            <a:r>
              <a:rPr lang="en-US" sz="1800" dirty="0">
                <a:solidFill>
                  <a:schemeClr val="bg2"/>
                </a:solidFill>
                <a:latin typeface="Barlow" pitchFamily="34" charset="0"/>
                <a:ea typeface="Barlow" pitchFamily="34" charset="-122"/>
                <a:cs typeface="Barlow" pitchFamily="34" charset="-120"/>
              </a:rPr>
              <a:t>planner.finadmintech.fr</a:t>
            </a:r>
            <a:endParaRPr lang="en-US" sz="18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3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6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12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1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15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18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180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180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210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21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21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24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240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24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270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300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theme/theme1.xml><?xml version="1.0" encoding="utf-8"?>
<a:theme xmlns:a="http://schemas.openxmlformats.org/drawingml/2006/main" name="HESTIM Planner">
  <a:themeElements>
    <a:clrScheme name="HESTIM Planner">
      <a:dk1>
        <a:srgbClr val="0D1326"/>
      </a:dk1>
      <a:lt1>
        <a:srgbClr val="FFFFFF"/>
      </a:lt1>
      <a:dk2>
        <a:srgbClr val="001861"/>
      </a:dk2>
      <a:lt2>
        <a:srgbClr val="EEF1F8"/>
      </a:lt2>
      <a:accent1>
        <a:srgbClr val="F26322"/>
      </a:accent1>
      <a:accent2>
        <a:srgbClr val="137D3F"/>
      </a:accent2>
      <a:accent3>
        <a:srgbClr val="DB1F26"/>
      </a:accent3>
      <a:accent4>
        <a:srgbClr val="5F6778"/>
      </a:accent4>
      <a:accent5>
        <a:srgbClr val="DADDE5"/>
      </a:accent5>
      <a:accent6>
        <a:srgbClr val="24397F"/>
      </a:accent6>
      <a:hlink>
        <a:srgbClr val="001861"/>
      </a:hlink>
      <a:folHlink>
        <a:srgbClr val="5F6778"/>
      </a:folHlink>
    </a:clrScheme>
    <a:fontScheme name="HESTIM Planner">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HESTIM Planner, l'école à l'heure</dc:title>
  <dc:subject>PptxGenJS Presentation</dc:subject>
  <dc:creator>Projet PACTE, HESTIM</dc:creator>
  <cp:lastModifiedBy>Projet PACTE, HESTIM</cp:lastModifiedBy>
  <cp:revision>1</cp:revision>
  <dcterms:created xsi:type="dcterms:W3CDTF">2026-10-08T09:47:00Z</dcterms:created>
  <dcterms:modified xsi:type="dcterms:W3CDTF">2026-10-08T09:47:00Z</dcterms:modified>
</cp:coreProperties>
</file>