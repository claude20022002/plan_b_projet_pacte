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embeddedFontLst>
    <p:embeddedFont>
      <p:font typeface="Barlow" panose="00000500000000000000" pitchFamily="2" charset="0"/>
      <p:regular r:id="rId6"/>
      <p:bold r:id="rId7"/>
    </p:embeddedFont>
    <p:embeddedFont>
      <p:font typeface="Barlow Condensed" panose="00000806000000000000" pitchFamily="2" charset="0"/>
      <p:bold r:id="rId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heme" Target="theme/theme1.xml"/><Relationship Id="rId5" Type="http://schemas.openxmlformats.org/officeDocument/2006/relationships/notesMaster" Target="notesMasters/notesMaster1.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976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1:10 · Le problème (après la vidéo d'ouverture).
« Chaque mois, HESTIM publie un nouvel emploi du temps. Il est préparé à la main, dans des tableurs, puis envoyé en PDF. Quand un cours est reporté, l'information circule par WhatsApp, et certains l'apprennent devant une salle vide.
Les supports de cours sont éparpillés entre Drive et les groupes de discussion. Les quiz passent par des sites extérieurs, Kahoot ou Wooclap, et les résultats sont perdus.
Bref : tout existe, mais rien ne se parle.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2:25 · La solution (et la démo).
« HESTIM Planner réunit tout cela dans une seule plateforme.
Un : le semestre se construit tout seul. Un solveur d'optimisation, Timefold, place les cours en respectant toutes les règles de l'école : disponibilités des enseignants, salles, campus Gandhi et Stendhal, pause du vendredi, Ramadan. Sur le serveur en ligne, il a déployé 2 620 séances et placé 261 enseignements en 90 secondes, et il signale lui-même ce qui reste à arbitrer.
Deux : chacun voit sa journée en temps réel. L'écran s'inspire des panneaux d'aéroport : la prochaine séance, la salle, et les changements en orange. Sur mobile, l'étudiant est prévenu au moindre report.
Trois : une seule connexion pour tout. Les supports du cours s'ouvrent depuis la séance, et l'enseignant lance un quiz en un clic : ses étudiants sont prévenus et rejoignent la partie sans saisir de code. »
Si le temps le permet (20 s) : montrer l'écran Jeux sur le téléphone, ou ouvrir planner.finadmintech.fr en direct.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 – 3:00 · Ce que ça change.
« Pour la scolarité, des heures gagnées chaque mois et un emploi du temps sans conflit. Pour les enseignants, un service suivi et des quiz intégrés. Pour les étudiants, la bonne information, au bon moment, dans leur poche.
Le projet est en ligne aujourd'hui, à l'adresse planner.finadmintech.fr. Il est construit comme une vraie plateforme : six services qui se parlent, une connexion unique sécurisée, et plus de 440 tests automatiques.
HESTIM Planner : l'école, à l'heure. Merci.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NNEAU">
    <p:bg>
      <p:bgPr>
        <a:solidFill>
          <a:srgbClr val="0B0B0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600200" y="384048"/>
            <a:ext cx="9966960" cy="822960"/>
          </a:xfrm>
          <a:prstGeom prst="rect">
            <a:avLst/>
          </a:prstGeom>
          <a:noFill/>
          <a:ln/>
        </p:spPr>
        <p:txBody>
          <a:bodyPr wrap="square" rtlCol="0"/>
          <a:lstStyle>
            <a:lvl1pPr marL="0" indent="0" algn="l">
              <a:buNone/>
              <a:defRPr lang="en-US" sz="4000" b="1" dirty="0">
                <a:solidFill>
                  <a:schemeClr val="bg1"/>
                </a:solidFill>
                <a:latin typeface="Barlow Condensed" pitchFamily="34" charset="0"/>
                <a:ea typeface="Barlow Condensed" pitchFamily="34" charset="-122"/>
                <a:cs typeface="Barlow Condensed" pitchFamily="34" charset="-120"/>
              </a:defRPr>
            </a:lvl1pPr>
          </a:lstStyle>
          <a:p>
            <a:pPr marL="0" indent="0" algn="l">
              <a:buNone/>
            </a:pPr>
            <a:endParaRPr lang="en-US" sz="40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marL="0" indent="0">
              <a:buNone/>
            </a:pPr>
            <a:r>
              <a:rPr lang="en-US" sz="1100" kern="0" spc="200" dirty="0">
                <a:solidFill>
                  <a:schemeClr val="bg2"/>
                </a:solidFill>
                <a:latin typeface="Barlow Condensed" pitchFamily="34" charset="0"/>
                <a:ea typeface="Barlow Condensed" pitchFamily="34" charset="-122"/>
                <a:cs typeface="Barlow Condensed" pitchFamily="34" charset="-120"/>
              </a:rPr>
              <a:t>HESTIM PLANNER · planner.finadmintech.fr</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latin typeface="Barlow Condensed"/>
                <a:ea typeface="Barlow Condensed"/>
                <a:cs typeface="Barlow Condensed"/>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latin typeface="Barlow Condensed"/>
                <a:ea typeface="Barlow Condensed"/>
                <a:cs typeface="Barlow Condensed"/>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numero-case-0"/>
          <p:cNvSpPr/>
          <p:nvPr/>
        </p:nvSpPr>
        <p:spPr>
          <a:xfrm>
            <a:off x="548640" y="539496"/>
            <a:ext cx="384048" cy="512064"/>
          </a:xfrm>
          <a:prstGeom prst="roundRect">
            <a:avLst>
              <a:gd name="adj" fmla="val 9524"/>
            </a:avLst>
          </a:prstGeom>
          <a:solidFill>
            <a:schemeClr val="accent4"/>
          </a:solidFill>
          <a:ln w="12700">
            <a:solidFill>
              <a:schemeClr val="accent4"/>
            </a:solidFill>
            <a:prstDash val="solid"/>
          </a:ln>
        </p:spPr>
      </p:sp>
      <p:sp>
        <p:nvSpPr>
          <p:cNvPr id="3" name="numero-lettre-0"/>
          <p:cNvSpPr txBox="1"/>
          <p:nvPr/>
        </p:nvSpPr>
        <p:spPr>
          <a:xfrm>
            <a:off x="548640" y="539496"/>
            <a:ext cx="384048" cy="512064"/>
          </a:xfrm>
          <a:prstGeom prst="rect">
            <a:avLst/>
          </a:prstGeom>
          <a:noFill/>
          <a:ln/>
        </p:spPr>
        <p:txBody>
          <a:bodyPr wrap="square" lIns="0" tIns="0" rIns="0" bIns="0" rtlCol="0" anchor="ctr"/>
          <a:lstStyle/>
          <a:p>
            <a:pPr marL="0" indent="0" algn="ctr">
              <a:buNone/>
            </a:pPr>
            <a:r>
              <a:rPr lang="en-US" sz="2600" b="1" dirty="0">
                <a:solidFill>
                  <a:schemeClr val="bg1"/>
                </a:solidFill>
                <a:latin typeface="Barlow Condensed" pitchFamily="34" charset="0"/>
                <a:ea typeface="Barlow Condensed" pitchFamily="34" charset="-122"/>
                <a:cs typeface="Barlow Condensed" pitchFamily="34" charset="-120"/>
              </a:rPr>
              <a:t>0</a:t>
            </a:r>
            <a:endParaRPr lang="en-US" sz="2600" dirty="0"/>
          </a:p>
        </p:txBody>
      </p:sp>
      <p:sp>
        <p:nvSpPr>
          <p:cNvPr id="4" name="numero-charniere-0"/>
          <p:cNvSpPr/>
          <p:nvPr/>
        </p:nvSpPr>
        <p:spPr>
          <a:xfrm>
            <a:off x="548640" y="795528"/>
            <a:ext cx="384048" cy="0"/>
          </a:xfrm>
          <a:prstGeom prst="line">
            <a:avLst/>
          </a:prstGeom>
          <a:noFill/>
          <a:ln w="12700">
            <a:solidFill>
              <a:srgbClr val="000000"/>
            </a:solidFill>
            <a:prstDash val="solid"/>
          </a:ln>
        </p:spPr>
      </p:sp>
      <p:sp>
        <p:nvSpPr>
          <p:cNvPr id="5" name="numero-case-1"/>
          <p:cNvSpPr/>
          <p:nvPr/>
        </p:nvSpPr>
        <p:spPr>
          <a:xfrm>
            <a:off x="978408" y="539496"/>
            <a:ext cx="384048" cy="512064"/>
          </a:xfrm>
          <a:prstGeom prst="roundRect">
            <a:avLst>
              <a:gd name="adj" fmla="val 9524"/>
            </a:avLst>
          </a:prstGeom>
          <a:solidFill>
            <a:schemeClr val="accent4"/>
          </a:solidFill>
          <a:ln w="12700">
            <a:solidFill>
              <a:schemeClr val="accent4"/>
            </a:solidFill>
            <a:prstDash val="solid"/>
          </a:ln>
        </p:spPr>
      </p:sp>
      <p:sp>
        <p:nvSpPr>
          <p:cNvPr id="6" name="numero-lettre-1"/>
          <p:cNvSpPr txBox="1"/>
          <p:nvPr/>
        </p:nvSpPr>
        <p:spPr>
          <a:xfrm>
            <a:off x="978408" y="539496"/>
            <a:ext cx="384048" cy="512064"/>
          </a:xfrm>
          <a:prstGeom prst="rect">
            <a:avLst/>
          </a:prstGeom>
          <a:noFill/>
          <a:ln/>
        </p:spPr>
        <p:txBody>
          <a:bodyPr wrap="square" lIns="0" tIns="0" rIns="0" bIns="0" rtlCol="0" anchor="ctr"/>
          <a:lstStyle/>
          <a:p>
            <a:pPr marL="0" indent="0" algn="ctr">
              <a:buNone/>
            </a:pPr>
            <a:r>
              <a:rPr lang="en-US" sz="2600" b="1" dirty="0">
                <a:solidFill>
                  <a:schemeClr val="bg1"/>
                </a:solidFill>
                <a:latin typeface="Barlow Condensed" pitchFamily="34" charset="0"/>
                <a:ea typeface="Barlow Condensed" pitchFamily="34" charset="-122"/>
                <a:cs typeface="Barlow Condensed" pitchFamily="34" charset="-120"/>
              </a:rPr>
              <a:t>1</a:t>
            </a:r>
            <a:endParaRPr lang="en-US" sz="2600" dirty="0"/>
          </a:p>
        </p:txBody>
      </p:sp>
      <p:sp>
        <p:nvSpPr>
          <p:cNvPr id="7" name="numero-charniere-1"/>
          <p:cNvSpPr/>
          <p:nvPr/>
        </p:nvSpPr>
        <p:spPr>
          <a:xfrm>
            <a:off x="978408" y="795528"/>
            <a:ext cx="384048" cy="0"/>
          </a:xfrm>
          <a:prstGeom prst="line">
            <a:avLst/>
          </a:prstGeom>
          <a:noFill/>
          <a:ln w="12700">
            <a:solidFill>
              <a:srgbClr val="000000"/>
            </a:solidFill>
            <a:prstDash val="solid"/>
          </a:ln>
        </p:spPr>
      </p:sp>
      <p:sp>
        <p:nvSpPr>
          <p:cNvPr id="8" name="Text 0"/>
          <p:cNvSpPr>
            <a:spLocks noGrp="1"/>
          </p:cNvSpPr>
          <p:nvPr>
            <p:ph type="title" idx="100" hasCustomPrompt="1"/>
          </p:nvPr>
        </p:nvSpPr>
        <p:spPr>
          <a:xfrm>
            <a:off x="1600200" y="384048"/>
            <a:ext cx="9966960" cy="822960"/>
          </a:xfrm>
          <a:prstGeom prst="rect">
            <a:avLst/>
          </a:prstGeom>
          <a:noFill/>
          <a:ln/>
        </p:spPr>
        <p:txBody>
          <a:bodyPr wrap="square" lIns="0" tIns="0" rIns="0" bIns="0" rtlCol="0" anchor="ctr"/>
          <a:lstStyle/>
          <a:p>
            <a:pPr marL="0" indent="0" algn="l">
              <a:buNone/>
            </a:pPr>
            <a:r>
              <a:rPr lang="en-US" sz="4000" b="1" dirty="0">
                <a:solidFill>
                  <a:schemeClr val="bg1"/>
                </a:solidFill>
                <a:latin typeface="Barlow Condensed" pitchFamily="34" charset="0"/>
                <a:ea typeface="Barlow Condensed" pitchFamily="34" charset="-122"/>
                <a:cs typeface="Barlow Condensed" pitchFamily="34" charset="-120"/>
              </a:rPr>
              <a:t>Tout existe. Rien ne se parle</a:t>
            </a:r>
            <a:endParaRPr lang="en-US" sz="4000" dirty="0"/>
          </a:p>
        </p:txBody>
      </p:sp>
      <p:sp>
        <p:nvSpPr>
          <p:cNvPr id="9" name="panneau-cadre"/>
          <p:cNvSpPr/>
          <p:nvPr/>
        </p:nvSpPr>
        <p:spPr>
          <a:xfrm>
            <a:off x="548640" y="1600200"/>
            <a:ext cx="6675120" cy="4206240"/>
          </a:xfrm>
          <a:prstGeom prst="roundRect">
            <a:avLst>
              <a:gd name="adj" fmla="val 1304"/>
            </a:avLst>
          </a:prstGeom>
          <a:solidFill>
            <a:srgbClr val="121214"/>
          </a:solidFill>
          <a:ln w="38100">
            <a:solidFill>
              <a:schemeClr val="tx2"/>
            </a:solidFill>
            <a:prstDash val="solid"/>
          </a:ln>
        </p:spPr>
      </p:sp>
      <p:sp>
        <p:nvSpPr>
          <p:cNvPr id="10" name="Text 8"/>
          <p:cNvSpPr txBox="1"/>
          <p:nvPr/>
        </p:nvSpPr>
        <p:spPr>
          <a:xfrm>
            <a:off x="822960" y="1801368"/>
            <a:ext cx="192024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Barlow Condensed" pitchFamily="34" charset="0"/>
                <a:ea typeface="Barlow Condensed" pitchFamily="34" charset="-122"/>
                <a:cs typeface="Barlow Condensed" pitchFamily="34" charset="-120"/>
              </a:rPr>
              <a:t>SUJET</a:t>
            </a:r>
            <a:endParaRPr lang="en-US" sz="1200" dirty="0"/>
          </a:p>
        </p:txBody>
      </p:sp>
      <p:sp>
        <p:nvSpPr>
          <p:cNvPr id="11" name="Text 9"/>
          <p:cNvSpPr txBox="1"/>
          <p:nvPr/>
        </p:nvSpPr>
        <p:spPr>
          <a:xfrm>
            <a:off x="2834640" y="1801368"/>
            <a:ext cx="265176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Barlow Condensed" pitchFamily="34" charset="0"/>
                <a:ea typeface="Barlow Condensed" pitchFamily="34" charset="-122"/>
                <a:cs typeface="Barlow Condensed" pitchFamily="34" charset="-120"/>
              </a:rPr>
              <a:t>AUJOURD'HUI</a:t>
            </a:r>
            <a:endParaRPr lang="en-US" sz="1200" dirty="0"/>
          </a:p>
        </p:txBody>
      </p:sp>
      <p:sp>
        <p:nvSpPr>
          <p:cNvPr id="12" name="Text 10"/>
          <p:cNvSpPr txBox="1"/>
          <p:nvPr/>
        </p:nvSpPr>
        <p:spPr>
          <a:xfrm>
            <a:off x="5532120" y="1801368"/>
            <a:ext cx="1463040" cy="320040"/>
          </a:xfrm>
          <a:prstGeom prst="rect">
            <a:avLst/>
          </a:prstGeom>
          <a:noFill/>
          <a:ln/>
        </p:spPr>
        <p:txBody>
          <a:bodyPr wrap="square" lIns="0" tIns="0" rIns="0" bIns="0" rtlCol="0" anchor="ctr"/>
          <a:lstStyle/>
          <a:p>
            <a:pPr marL="0" indent="0" algn="r">
              <a:buNone/>
            </a:pPr>
            <a:r>
              <a:rPr lang="en-US" sz="1200" b="1" kern="0" spc="300" dirty="0">
                <a:solidFill>
                  <a:schemeClr val="bg2"/>
                </a:solidFill>
                <a:latin typeface="Barlow Condensed" pitchFamily="34" charset="0"/>
                <a:ea typeface="Barlow Condensed" pitchFamily="34" charset="-122"/>
                <a:cs typeface="Barlow Condensed" pitchFamily="34" charset="-120"/>
              </a:rPr>
              <a:t>STATUT</a:t>
            </a:r>
            <a:endParaRPr lang="en-US" sz="1200" dirty="0"/>
          </a:p>
        </p:txBody>
      </p:sp>
      <p:sp>
        <p:nvSpPr>
          <p:cNvPr id="13" name="Shape 11"/>
          <p:cNvSpPr/>
          <p:nvPr/>
        </p:nvSpPr>
        <p:spPr>
          <a:xfrm>
            <a:off x="777240" y="2286000"/>
            <a:ext cx="6217920" cy="0"/>
          </a:xfrm>
          <a:prstGeom prst="line">
            <a:avLst/>
          </a:prstGeom>
          <a:noFill/>
          <a:ln w="12700">
            <a:solidFill>
              <a:schemeClr val="accent5"/>
            </a:solidFill>
            <a:prstDash val="solid"/>
          </a:ln>
        </p:spPr>
      </p:sp>
      <p:sp>
        <p:nvSpPr>
          <p:cNvPr id="14" name="Text 12"/>
          <p:cNvSpPr txBox="1"/>
          <p:nvPr/>
        </p:nvSpPr>
        <p:spPr>
          <a:xfrm>
            <a:off x="822960" y="2395728"/>
            <a:ext cx="2011680" cy="594360"/>
          </a:xfrm>
          <a:prstGeom prst="rect">
            <a:avLst/>
          </a:prstGeom>
          <a:noFill/>
          <a:ln/>
        </p:spPr>
        <p:txBody>
          <a:bodyPr wrap="square" lIns="0" tIns="0" rIns="0" bIns="0" rtlCol="0" anchor="ctr"/>
          <a:lstStyle/>
          <a:p>
            <a:pPr marL="0" indent="0">
              <a:buNone/>
            </a:pPr>
            <a:r>
              <a:rPr lang="en-US" sz="1700" b="1" dirty="0">
                <a:solidFill>
                  <a:schemeClr val="bg1"/>
                </a:solidFill>
                <a:latin typeface="Barlow Condensed" pitchFamily="34" charset="0"/>
                <a:ea typeface="Barlow Condensed" pitchFamily="34" charset="-122"/>
                <a:cs typeface="Barlow Condensed" pitchFamily="34" charset="-120"/>
              </a:rPr>
              <a:t>EMPLOI DU TEMPS</a:t>
            </a:r>
            <a:endParaRPr lang="en-US" sz="1700" dirty="0"/>
          </a:p>
        </p:txBody>
      </p:sp>
      <p:sp>
        <p:nvSpPr>
          <p:cNvPr id="15" name="Text 13"/>
          <p:cNvSpPr txBox="1"/>
          <p:nvPr/>
        </p:nvSpPr>
        <p:spPr>
          <a:xfrm>
            <a:off x="2834640" y="2395728"/>
            <a:ext cx="2697480" cy="594360"/>
          </a:xfrm>
          <a:prstGeom prst="rect">
            <a:avLst/>
          </a:prstGeom>
          <a:noFill/>
          <a:ln/>
        </p:spPr>
        <p:txBody>
          <a:bodyPr wrap="square" lIns="0" tIns="0" rIns="0" bIns="0" rtlCol="0" anchor="ctr"/>
          <a:lstStyle/>
          <a:p>
            <a:pPr marL="0" indent="0">
              <a:buNone/>
            </a:pPr>
            <a:r>
              <a:rPr lang="en-US" sz="1400" dirty="0">
                <a:solidFill>
                  <a:schemeClr val="bg2"/>
                </a:solidFill>
                <a:latin typeface="Barlow" pitchFamily="34" charset="0"/>
                <a:ea typeface="Barlow" pitchFamily="34" charset="-122"/>
                <a:cs typeface="Barlow" pitchFamily="34" charset="-120"/>
              </a:rPr>
              <a:t>Tableur, puis PDF, chaque mois</a:t>
            </a:r>
            <a:endParaRPr lang="en-US" sz="1400" dirty="0"/>
          </a:p>
        </p:txBody>
      </p:sp>
      <p:sp>
        <p:nvSpPr>
          <p:cNvPr id="16" name="Text 14"/>
          <p:cNvSpPr txBox="1"/>
          <p:nvPr/>
        </p:nvSpPr>
        <p:spPr>
          <a:xfrm>
            <a:off x="5349240" y="2395728"/>
            <a:ext cx="1645920" cy="594360"/>
          </a:xfrm>
          <a:prstGeom prst="rect">
            <a:avLst/>
          </a:prstGeom>
          <a:noFill/>
          <a:ln/>
        </p:spPr>
        <p:txBody>
          <a:bodyPr wrap="square" lIns="0" tIns="0" rIns="0" bIns="0" rtlCol="0" anchor="ctr"/>
          <a:lstStyle/>
          <a:p>
            <a:pPr marL="0" indent="0" algn="r">
              <a:buNone/>
            </a:pPr>
            <a:r>
              <a:rPr lang="en-US" sz="1500" b="1" kern="0" spc="100" dirty="0">
                <a:solidFill>
                  <a:schemeClr val="accent2"/>
                </a:solidFill>
                <a:latin typeface="Barlow Condensed" pitchFamily="34" charset="0"/>
                <a:ea typeface="Barlow Condensed" pitchFamily="34" charset="-122"/>
                <a:cs typeface="Barlow Condensed" pitchFamily="34" charset="-120"/>
              </a:rPr>
              <a:t>EN RETARD</a:t>
            </a:r>
            <a:endParaRPr lang="en-US" sz="1500" dirty="0"/>
          </a:p>
        </p:txBody>
      </p:sp>
      <p:sp>
        <p:nvSpPr>
          <p:cNvPr id="17" name="Shape 15"/>
          <p:cNvSpPr/>
          <p:nvPr/>
        </p:nvSpPr>
        <p:spPr>
          <a:xfrm>
            <a:off x="777240" y="3136392"/>
            <a:ext cx="6217920" cy="0"/>
          </a:xfrm>
          <a:prstGeom prst="line">
            <a:avLst/>
          </a:prstGeom>
          <a:noFill/>
          <a:ln w="12700">
            <a:solidFill>
              <a:schemeClr val="accent5"/>
            </a:solidFill>
            <a:prstDash val="solid"/>
          </a:ln>
        </p:spPr>
      </p:sp>
      <p:sp>
        <p:nvSpPr>
          <p:cNvPr id="18" name="Text 16"/>
          <p:cNvSpPr txBox="1"/>
          <p:nvPr/>
        </p:nvSpPr>
        <p:spPr>
          <a:xfrm>
            <a:off x="822960" y="3246120"/>
            <a:ext cx="2011680" cy="594360"/>
          </a:xfrm>
          <a:prstGeom prst="rect">
            <a:avLst/>
          </a:prstGeom>
          <a:noFill/>
          <a:ln/>
        </p:spPr>
        <p:txBody>
          <a:bodyPr wrap="square" lIns="0" tIns="0" rIns="0" bIns="0" rtlCol="0" anchor="ctr"/>
          <a:lstStyle/>
          <a:p>
            <a:pPr marL="0" indent="0">
              <a:buNone/>
            </a:pPr>
            <a:r>
              <a:rPr lang="en-US" sz="1700" b="1" dirty="0">
                <a:solidFill>
                  <a:schemeClr val="bg1"/>
                </a:solidFill>
                <a:latin typeface="Barlow Condensed" pitchFamily="34" charset="0"/>
                <a:ea typeface="Barlow Condensed" pitchFamily="34" charset="-122"/>
                <a:cs typeface="Barlow Condensed" pitchFamily="34" charset="-120"/>
              </a:rPr>
              <a:t>REPORTS DE COURS</a:t>
            </a:r>
            <a:endParaRPr lang="en-US" sz="1700" dirty="0"/>
          </a:p>
        </p:txBody>
      </p:sp>
      <p:sp>
        <p:nvSpPr>
          <p:cNvPr id="19" name="Text 17"/>
          <p:cNvSpPr txBox="1"/>
          <p:nvPr/>
        </p:nvSpPr>
        <p:spPr>
          <a:xfrm>
            <a:off x="2834640" y="3246120"/>
            <a:ext cx="2697480" cy="594360"/>
          </a:xfrm>
          <a:prstGeom prst="rect">
            <a:avLst/>
          </a:prstGeom>
          <a:noFill/>
          <a:ln/>
        </p:spPr>
        <p:txBody>
          <a:bodyPr wrap="square" lIns="0" tIns="0" rIns="0" bIns="0" rtlCol="0" anchor="ctr"/>
          <a:lstStyle/>
          <a:p>
            <a:pPr marL="0" indent="0">
              <a:buNone/>
            </a:pPr>
            <a:r>
              <a:rPr lang="en-US" sz="1400" dirty="0">
                <a:solidFill>
                  <a:schemeClr val="bg2"/>
                </a:solidFill>
                <a:latin typeface="Barlow" pitchFamily="34" charset="0"/>
                <a:ea typeface="Barlow" pitchFamily="34" charset="-122"/>
                <a:cs typeface="Barlow" pitchFamily="34" charset="-120"/>
              </a:rPr>
              <a:t>Messages WhatsApp</a:t>
            </a:r>
            <a:endParaRPr lang="en-US" sz="1400" dirty="0"/>
          </a:p>
        </p:txBody>
      </p:sp>
      <p:sp>
        <p:nvSpPr>
          <p:cNvPr id="20" name="Text 18"/>
          <p:cNvSpPr txBox="1"/>
          <p:nvPr/>
        </p:nvSpPr>
        <p:spPr>
          <a:xfrm>
            <a:off x="5349240" y="3246120"/>
            <a:ext cx="1645920" cy="594360"/>
          </a:xfrm>
          <a:prstGeom prst="rect">
            <a:avLst/>
          </a:prstGeom>
          <a:noFill/>
          <a:ln/>
        </p:spPr>
        <p:txBody>
          <a:bodyPr wrap="square" lIns="0" tIns="0" rIns="0" bIns="0" rtlCol="0" anchor="ctr"/>
          <a:lstStyle/>
          <a:p>
            <a:pPr marL="0" indent="0" algn="r">
              <a:buNone/>
            </a:pPr>
            <a:r>
              <a:rPr lang="en-US" sz="1500" b="1" kern="0" spc="100" dirty="0">
                <a:solidFill>
                  <a:schemeClr val="accent2"/>
                </a:solidFill>
                <a:latin typeface="Barlow Condensed" pitchFamily="34" charset="0"/>
                <a:ea typeface="Barlow Condensed" pitchFamily="34" charset="-122"/>
                <a:cs typeface="Barlow Condensed" pitchFamily="34" charset="-120"/>
              </a:rPr>
              <a:t>EN RETARD</a:t>
            </a:r>
            <a:endParaRPr lang="en-US" sz="1500" dirty="0"/>
          </a:p>
        </p:txBody>
      </p:sp>
      <p:sp>
        <p:nvSpPr>
          <p:cNvPr id="21" name="Shape 19"/>
          <p:cNvSpPr/>
          <p:nvPr/>
        </p:nvSpPr>
        <p:spPr>
          <a:xfrm>
            <a:off x="777240" y="3986784"/>
            <a:ext cx="6217920" cy="0"/>
          </a:xfrm>
          <a:prstGeom prst="line">
            <a:avLst/>
          </a:prstGeom>
          <a:noFill/>
          <a:ln w="12700">
            <a:solidFill>
              <a:schemeClr val="accent5"/>
            </a:solidFill>
            <a:prstDash val="solid"/>
          </a:ln>
        </p:spPr>
      </p:sp>
      <p:sp>
        <p:nvSpPr>
          <p:cNvPr id="22" name="Text 20"/>
          <p:cNvSpPr txBox="1"/>
          <p:nvPr/>
        </p:nvSpPr>
        <p:spPr>
          <a:xfrm>
            <a:off x="822960" y="4096512"/>
            <a:ext cx="2011680" cy="594360"/>
          </a:xfrm>
          <a:prstGeom prst="rect">
            <a:avLst/>
          </a:prstGeom>
          <a:noFill/>
          <a:ln/>
        </p:spPr>
        <p:txBody>
          <a:bodyPr wrap="square" lIns="0" tIns="0" rIns="0" bIns="0" rtlCol="0" anchor="ctr"/>
          <a:lstStyle/>
          <a:p>
            <a:pPr marL="0" indent="0">
              <a:buNone/>
            </a:pPr>
            <a:r>
              <a:rPr lang="en-US" sz="1700" b="1" dirty="0">
                <a:solidFill>
                  <a:schemeClr val="bg1"/>
                </a:solidFill>
                <a:latin typeface="Barlow Condensed" pitchFamily="34" charset="0"/>
                <a:ea typeface="Barlow Condensed" pitchFamily="34" charset="-122"/>
                <a:cs typeface="Barlow Condensed" pitchFamily="34" charset="-120"/>
              </a:rPr>
              <a:t>SUPPORTS DE COURS</a:t>
            </a:r>
            <a:endParaRPr lang="en-US" sz="1700" dirty="0"/>
          </a:p>
        </p:txBody>
      </p:sp>
      <p:sp>
        <p:nvSpPr>
          <p:cNvPr id="23" name="Text 21"/>
          <p:cNvSpPr txBox="1"/>
          <p:nvPr/>
        </p:nvSpPr>
        <p:spPr>
          <a:xfrm>
            <a:off x="2834640" y="4096512"/>
            <a:ext cx="2697480" cy="594360"/>
          </a:xfrm>
          <a:prstGeom prst="rect">
            <a:avLst/>
          </a:prstGeom>
          <a:noFill/>
          <a:ln/>
        </p:spPr>
        <p:txBody>
          <a:bodyPr wrap="square" lIns="0" tIns="0" rIns="0" bIns="0" rtlCol="0" anchor="ctr"/>
          <a:lstStyle/>
          <a:p>
            <a:pPr marL="0" indent="0">
              <a:buNone/>
            </a:pPr>
            <a:r>
              <a:rPr lang="en-US" sz="1400" dirty="0">
                <a:solidFill>
                  <a:schemeClr val="bg2"/>
                </a:solidFill>
                <a:latin typeface="Barlow" pitchFamily="34" charset="0"/>
                <a:ea typeface="Barlow" pitchFamily="34" charset="-122"/>
                <a:cs typeface="Barlow" pitchFamily="34" charset="-120"/>
              </a:rPr>
              <a:t>Drive, groupes de discussion</a:t>
            </a:r>
            <a:endParaRPr lang="en-US" sz="1400" dirty="0"/>
          </a:p>
        </p:txBody>
      </p:sp>
      <p:sp>
        <p:nvSpPr>
          <p:cNvPr id="24" name="Text 22"/>
          <p:cNvSpPr txBox="1"/>
          <p:nvPr/>
        </p:nvSpPr>
        <p:spPr>
          <a:xfrm>
            <a:off x="5349240" y="4096512"/>
            <a:ext cx="1645920" cy="594360"/>
          </a:xfrm>
          <a:prstGeom prst="rect">
            <a:avLst/>
          </a:prstGeom>
          <a:noFill/>
          <a:ln/>
        </p:spPr>
        <p:txBody>
          <a:bodyPr wrap="square" lIns="0" tIns="0" rIns="0" bIns="0" rtlCol="0" anchor="ctr"/>
          <a:lstStyle/>
          <a:p>
            <a:pPr marL="0" indent="0" algn="r">
              <a:buNone/>
            </a:pPr>
            <a:r>
              <a:rPr lang="en-US" sz="1500" b="1" kern="0" spc="100" dirty="0">
                <a:solidFill>
                  <a:schemeClr val="accent3"/>
                </a:solidFill>
                <a:latin typeface="Barlow Condensed" pitchFamily="34" charset="0"/>
                <a:ea typeface="Barlow Condensed" pitchFamily="34" charset="-122"/>
                <a:cs typeface="Barlow Condensed" pitchFamily="34" charset="-120"/>
              </a:rPr>
              <a:t>ÉPARPILLÉS</a:t>
            </a:r>
            <a:endParaRPr lang="en-US" sz="1500" dirty="0"/>
          </a:p>
        </p:txBody>
      </p:sp>
      <p:sp>
        <p:nvSpPr>
          <p:cNvPr id="25" name="Shape 23"/>
          <p:cNvSpPr/>
          <p:nvPr/>
        </p:nvSpPr>
        <p:spPr>
          <a:xfrm>
            <a:off x="777240" y="4837176"/>
            <a:ext cx="6217920" cy="0"/>
          </a:xfrm>
          <a:prstGeom prst="line">
            <a:avLst/>
          </a:prstGeom>
          <a:noFill/>
          <a:ln w="12700">
            <a:solidFill>
              <a:schemeClr val="accent5"/>
            </a:solidFill>
            <a:prstDash val="solid"/>
          </a:ln>
        </p:spPr>
      </p:sp>
      <p:sp>
        <p:nvSpPr>
          <p:cNvPr id="26" name="Text 24"/>
          <p:cNvSpPr txBox="1"/>
          <p:nvPr/>
        </p:nvSpPr>
        <p:spPr>
          <a:xfrm>
            <a:off x="822960" y="4946904"/>
            <a:ext cx="2011680" cy="594360"/>
          </a:xfrm>
          <a:prstGeom prst="rect">
            <a:avLst/>
          </a:prstGeom>
          <a:noFill/>
          <a:ln/>
        </p:spPr>
        <p:txBody>
          <a:bodyPr wrap="square" lIns="0" tIns="0" rIns="0" bIns="0" rtlCol="0" anchor="ctr"/>
          <a:lstStyle/>
          <a:p>
            <a:pPr marL="0" indent="0">
              <a:buNone/>
            </a:pPr>
            <a:r>
              <a:rPr lang="en-US" sz="1700" b="1" dirty="0">
                <a:solidFill>
                  <a:schemeClr val="bg1"/>
                </a:solidFill>
                <a:latin typeface="Barlow Condensed" pitchFamily="34" charset="0"/>
                <a:ea typeface="Barlow Condensed" pitchFamily="34" charset="-122"/>
                <a:cs typeface="Barlow Condensed" pitchFamily="34" charset="-120"/>
              </a:rPr>
              <a:t>QUIZ EN CLASSE</a:t>
            </a:r>
            <a:endParaRPr lang="en-US" sz="1700" dirty="0"/>
          </a:p>
        </p:txBody>
      </p:sp>
      <p:sp>
        <p:nvSpPr>
          <p:cNvPr id="27" name="Text 25"/>
          <p:cNvSpPr txBox="1"/>
          <p:nvPr/>
        </p:nvSpPr>
        <p:spPr>
          <a:xfrm>
            <a:off x="2834640" y="4946904"/>
            <a:ext cx="2697480" cy="594360"/>
          </a:xfrm>
          <a:prstGeom prst="rect">
            <a:avLst/>
          </a:prstGeom>
          <a:noFill/>
          <a:ln/>
        </p:spPr>
        <p:txBody>
          <a:bodyPr wrap="square" lIns="0" tIns="0" rIns="0" bIns="0" rtlCol="0" anchor="ctr"/>
          <a:lstStyle/>
          <a:p>
            <a:pPr marL="0" indent="0">
              <a:buNone/>
            </a:pPr>
            <a:r>
              <a:rPr lang="en-US" sz="1400" dirty="0">
                <a:solidFill>
                  <a:schemeClr val="bg2"/>
                </a:solidFill>
                <a:latin typeface="Barlow" pitchFamily="34" charset="0"/>
                <a:ea typeface="Barlow" pitchFamily="34" charset="-122"/>
                <a:cs typeface="Barlow" pitchFamily="34" charset="-120"/>
              </a:rPr>
              <a:t>Kahoot, Wooclap</a:t>
            </a:r>
            <a:endParaRPr lang="en-US" sz="1400" dirty="0"/>
          </a:p>
        </p:txBody>
      </p:sp>
      <p:sp>
        <p:nvSpPr>
          <p:cNvPr id="28" name="Text 26"/>
          <p:cNvSpPr txBox="1"/>
          <p:nvPr/>
        </p:nvSpPr>
        <p:spPr>
          <a:xfrm>
            <a:off x="5349240" y="4946904"/>
            <a:ext cx="1645920" cy="594360"/>
          </a:xfrm>
          <a:prstGeom prst="rect">
            <a:avLst/>
          </a:prstGeom>
          <a:noFill/>
          <a:ln/>
        </p:spPr>
        <p:txBody>
          <a:bodyPr wrap="square" lIns="0" tIns="0" rIns="0" bIns="0" rtlCol="0" anchor="ctr"/>
          <a:lstStyle/>
          <a:p>
            <a:pPr marL="0" indent="0" algn="r">
              <a:buNone/>
            </a:pPr>
            <a:r>
              <a:rPr lang="en-US" sz="1500" b="1" kern="0" spc="100" dirty="0">
                <a:solidFill>
                  <a:schemeClr val="accent3"/>
                </a:solidFill>
                <a:latin typeface="Barlow Condensed" pitchFamily="34" charset="0"/>
                <a:ea typeface="Barlow Condensed" pitchFamily="34" charset="-122"/>
                <a:cs typeface="Barlow Condensed" pitchFamily="34" charset="-120"/>
              </a:rPr>
              <a:t>RÉSULTATS PERDUS</a:t>
            </a:r>
            <a:endParaRPr lang="en-US" sz="1500" dirty="0"/>
          </a:p>
        </p:txBody>
      </p:sp>
      <p:sp>
        <p:nvSpPr>
          <p:cNvPr id="29" name="chiffre-case-0"/>
          <p:cNvSpPr/>
          <p:nvPr/>
        </p:nvSpPr>
        <p:spPr>
          <a:xfrm>
            <a:off x="7818120" y="1691640"/>
            <a:ext cx="868680" cy="1143000"/>
          </a:xfrm>
          <a:prstGeom prst="roundRect">
            <a:avLst>
              <a:gd name="adj" fmla="val 4211"/>
            </a:avLst>
          </a:prstGeom>
          <a:solidFill>
            <a:schemeClr val="accent4"/>
          </a:solidFill>
          <a:ln w="12700">
            <a:solidFill>
              <a:schemeClr val="accent4"/>
            </a:solidFill>
            <a:prstDash val="solid"/>
          </a:ln>
        </p:spPr>
      </p:sp>
      <p:sp>
        <p:nvSpPr>
          <p:cNvPr id="30" name="chiffre-lettre-0"/>
          <p:cNvSpPr txBox="1"/>
          <p:nvPr/>
        </p:nvSpPr>
        <p:spPr>
          <a:xfrm>
            <a:off x="7818120" y="1691640"/>
            <a:ext cx="868680" cy="1143000"/>
          </a:xfrm>
          <a:prstGeom prst="rect">
            <a:avLst/>
          </a:prstGeom>
          <a:noFill/>
          <a:ln/>
        </p:spPr>
        <p:txBody>
          <a:bodyPr wrap="square" lIns="0" tIns="0" rIns="0" bIns="0" rtlCol="0" anchor="ctr"/>
          <a:lstStyle/>
          <a:p>
            <a:pPr marL="0" indent="0" algn="ctr">
              <a:buNone/>
            </a:pPr>
            <a:r>
              <a:rPr lang="en-US" sz="6600" b="1" dirty="0">
                <a:solidFill>
                  <a:schemeClr val="bg1"/>
                </a:solidFill>
                <a:latin typeface="Barlow Condensed" pitchFamily="34" charset="0"/>
                <a:ea typeface="Barlow Condensed" pitchFamily="34" charset="-122"/>
                <a:cs typeface="Barlow Condensed" pitchFamily="34" charset="-120"/>
              </a:rPr>
              <a:t>1</a:t>
            </a:r>
            <a:endParaRPr lang="en-US" sz="6600" dirty="0"/>
          </a:p>
        </p:txBody>
      </p:sp>
      <p:sp>
        <p:nvSpPr>
          <p:cNvPr id="31" name="chiffre-charniere-0"/>
          <p:cNvSpPr/>
          <p:nvPr/>
        </p:nvSpPr>
        <p:spPr>
          <a:xfrm>
            <a:off x="7818120" y="2263140"/>
            <a:ext cx="868680" cy="0"/>
          </a:xfrm>
          <a:prstGeom prst="line">
            <a:avLst/>
          </a:prstGeom>
          <a:noFill/>
          <a:ln w="12700">
            <a:solidFill>
              <a:srgbClr val="000000"/>
            </a:solidFill>
            <a:prstDash val="solid"/>
          </a:ln>
        </p:spPr>
      </p:sp>
      <p:sp>
        <p:nvSpPr>
          <p:cNvPr id="32" name="Text 30"/>
          <p:cNvSpPr txBox="1"/>
          <p:nvPr/>
        </p:nvSpPr>
        <p:spPr>
          <a:xfrm>
            <a:off x="8915400" y="1691640"/>
            <a:ext cx="2697480" cy="1143000"/>
          </a:xfrm>
          <a:prstGeom prst="rect">
            <a:avLst/>
          </a:prstGeom>
          <a:noFill/>
          <a:ln/>
        </p:spPr>
        <p:txBody>
          <a:bodyPr wrap="square" lIns="0" tIns="0" rIns="0" bIns="0" rtlCol="0" anchor="ctr"/>
          <a:lstStyle/>
          <a:p>
            <a:pPr marL="0" indent="0">
              <a:buNone/>
            </a:pPr>
            <a:r>
              <a:rPr lang="en-US" sz="2200" b="1" dirty="0">
                <a:solidFill>
                  <a:schemeClr val="bg1"/>
                </a:solidFill>
                <a:latin typeface="Barlow Condensed" pitchFamily="34" charset="0"/>
                <a:ea typeface="Barlow Condensed" pitchFamily="34" charset="-122"/>
                <a:cs typeface="Barlow Condensed" pitchFamily="34" charset="-120"/>
              </a:rPr>
              <a:t>nouvel emploi du temps par mois, préparé à la main</a:t>
            </a:r>
            <a:endParaRPr lang="en-US" sz="2200" dirty="0"/>
          </a:p>
        </p:txBody>
      </p:sp>
      <p:sp>
        <p:nvSpPr>
          <p:cNvPr id="33" name="Text 31"/>
          <p:cNvSpPr txBox="1"/>
          <p:nvPr/>
        </p:nvSpPr>
        <p:spPr>
          <a:xfrm>
            <a:off x="7818120" y="3154680"/>
            <a:ext cx="3794760" cy="2103120"/>
          </a:xfrm>
          <a:prstGeom prst="rect">
            <a:avLst/>
          </a:prstGeom>
          <a:noFill/>
          <a:ln/>
        </p:spPr>
        <p:txBody>
          <a:bodyPr wrap="square" lIns="0" tIns="0" rIns="0" bIns="0" rtlCol="0" anchor="t"/>
          <a:lstStyle/>
          <a:p>
            <a:pPr marL="0" indent="0">
              <a:spcAft>
                <a:spcPts val="1000"/>
              </a:spcAft>
              <a:buNone/>
            </a:pPr>
            <a:r>
              <a:rPr lang="en-US" sz="1600" dirty="0">
                <a:solidFill>
                  <a:schemeClr val="bg2"/>
                </a:solidFill>
                <a:latin typeface="Barlow" pitchFamily="34" charset="0"/>
                <a:ea typeface="Barlow" pitchFamily="34" charset="-122"/>
                <a:cs typeface="Barlow" pitchFamily="34" charset="-120"/>
              </a:rPr>
              <a:t>11 filières, 2 campus (Gandhi et Stendhal), des séances en demi-journée, des vacataires, le Ramadan, la pause du vendredi.</a:t>
            </a:r>
            <a:endParaRPr lang="en-US" sz="1600" dirty="0"/>
          </a:p>
          <a:p>
            <a:pPr marL="0" indent="0">
              <a:spcAft>
                <a:spcPts val="1000"/>
              </a:spcAft>
              <a:buNone/>
            </a:pPr>
            <a:r>
              <a:rPr lang="en-US" sz="1600" b="1" dirty="0">
                <a:solidFill>
                  <a:schemeClr val="bg1"/>
                </a:solidFill>
                <a:latin typeface="Barlow" pitchFamily="34" charset="0"/>
                <a:ea typeface="Barlow" pitchFamily="34" charset="-122"/>
                <a:cs typeface="Barlow" pitchFamily="34" charset="-120"/>
              </a:rPr>
              <a:t>Un report se découvre souvent devant une salle vide.</a:t>
            </a:r>
            <a:endParaRPr lang="en-US" sz="1600" dirty="0"/>
          </a:p>
        </p:txBody>
      </p:sp>
      <p:sp>
        <p:nvSpPr>
          <p:cNvPr id="34"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latin typeface="Barlow Condensed"/>
                <a:ea typeface="Barlow Condensed"/>
                <a:cs typeface="Barlow Condensed"/>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umero-case-0"/>
          <p:cNvSpPr/>
          <p:nvPr/>
        </p:nvSpPr>
        <p:spPr>
          <a:xfrm>
            <a:off x="548640" y="539496"/>
            <a:ext cx="384048" cy="512064"/>
          </a:xfrm>
          <a:prstGeom prst="roundRect">
            <a:avLst>
              <a:gd name="adj" fmla="val 9524"/>
            </a:avLst>
          </a:prstGeom>
          <a:solidFill>
            <a:schemeClr val="accent4"/>
          </a:solidFill>
          <a:ln w="12700">
            <a:solidFill>
              <a:schemeClr val="accent4"/>
            </a:solidFill>
            <a:prstDash val="solid"/>
          </a:ln>
        </p:spPr>
      </p:sp>
      <p:sp>
        <p:nvSpPr>
          <p:cNvPr id="3" name="numero-lettre-0"/>
          <p:cNvSpPr txBox="1"/>
          <p:nvPr/>
        </p:nvSpPr>
        <p:spPr>
          <a:xfrm>
            <a:off x="548640" y="539496"/>
            <a:ext cx="384048" cy="512064"/>
          </a:xfrm>
          <a:prstGeom prst="rect">
            <a:avLst/>
          </a:prstGeom>
          <a:noFill/>
          <a:ln/>
        </p:spPr>
        <p:txBody>
          <a:bodyPr wrap="square" lIns="0" tIns="0" rIns="0" bIns="0" rtlCol="0" anchor="ctr"/>
          <a:lstStyle/>
          <a:p>
            <a:pPr marL="0" indent="0" algn="ctr">
              <a:buNone/>
            </a:pPr>
            <a:r>
              <a:rPr lang="en-US" sz="2600" b="1" dirty="0">
                <a:solidFill>
                  <a:schemeClr val="bg1"/>
                </a:solidFill>
                <a:latin typeface="Barlow Condensed" pitchFamily="34" charset="0"/>
                <a:ea typeface="Barlow Condensed" pitchFamily="34" charset="-122"/>
                <a:cs typeface="Barlow Condensed" pitchFamily="34" charset="-120"/>
              </a:rPr>
              <a:t>0</a:t>
            </a:r>
            <a:endParaRPr lang="en-US" sz="2600" dirty="0"/>
          </a:p>
        </p:txBody>
      </p:sp>
      <p:sp>
        <p:nvSpPr>
          <p:cNvPr id="4" name="numero-charniere-0"/>
          <p:cNvSpPr/>
          <p:nvPr/>
        </p:nvSpPr>
        <p:spPr>
          <a:xfrm>
            <a:off x="548640" y="795528"/>
            <a:ext cx="384048" cy="0"/>
          </a:xfrm>
          <a:prstGeom prst="line">
            <a:avLst/>
          </a:prstGeom>
          <a:noFill/>
          <a:ln w="12700">
            <a:solidFill>
              <a:srgbClr val="000000"/>
            </a:solidFill>
            <a:prstDash val="solid"/>
          </a:ln>
        </p:spPr>
      </p:sp>
      <p:sp>
        <p:nvSpPr>
          <p:cNvPr id="5" name="numero-case-1"/>
          <p:cNvSpPr/>
          <p:nvPr/>
        </p:nvSpPr>
        <p:spPr>
          <a:xfrm>
            <a:off x="978408" y="539496"/>
            <a:ext cx="384048" cy="512064"/>
          </a:xfrm>
          <a:prstGeom prst="roundRect">
            <a:avLst>
              <a:gd name="adj" fmla="val 9524"/>
            </a:avLst>
          </a:prstGeom>
          <a:solidFill>
            <a:schemeClr val="accent4"/>
          </a:solidFill>
          <a:ln w="12700">
            <a:solidFill>
              <a:schemeClr val="accent4"/>
            </a:solidFill>
            <a:prstDash val="solid"/>
          </a:ln>
        </p:spPr>
      </p:sp>
      <p:sp>
        <p:nvSpPr>
          <p:cNvPr id="6" name="numero-lettre-1"/>
          <p:cNvSpPr txBox="1"/>
          <p:nvPr/>
        </p:nvSpPr>
        <p:spPr>
          <a:xfrm>
            <a:off x="978408" y="539496"/>
            <a:ext cx="384048" cy="512064"/>
          </a:xfrm>
          <a:prstGeom prst="rect">
            <a:avLst/>
          </a:prstGeom>
          <a:noFill/>
          <a:ln/>
        </p:spPr>
        <p:txBody>
          <a:bodyPr wrap="square" lIns="0" tIns="0" rIns="0" bIns="0" rtlCol="0" anchor="ctr"/>
          <a:lstStyle/>
          <a:p>
            <a:pPr marL="0" indent="0" algn="ctr">
              <a:buNone/>
            </a:pPr>
            <a:r>
              <a:rPr lang="en-US" sz="2600" b="1" dirty="0">
                <a:solidFill>
                  <a:schemeClr val="bg1"/>
                </a:solidFill>
                <a:latin typeface="Barlow Condensed" pitchFamily="34" charset="0"/>
                <a:ea typeface="Barlow Condensed" pitchFamily="34" charset="-122"/>
                <a:cs typeface="Barlow Condensed" pitchFamily="34" charset="-120"/>
              </a:rPr>
              <a:t>2</a:t>
            </a:r>
            <a:endParaRPr lang="en-US" sz="2600" dirty="0"/>
          </a:p>
        </p:txBody>
      </p:sp>
      <p:sp>
        <p:nvSpPr>
          <p:cNvPr id="7" name="numero-charniere-1"/>
          <p:cNvSpPr/>
          <p:nvPr/>
        </p:nvSpPr>
        <p:spPr>
          <a:xfrm>
            <a:off x="978408" y="795528"/>
            <a:ext cx="384048" cy="0"/>
          </a:xfrm>
          <a:prstGeom prst="line">
            <a:avLst/>
          </a:prstGeom>
          <a:noFill/>
          <a:ln w="12700">
            <a:solidFill>
              <a:srgbClr val="000000"/>
            </a:solidFill>
            <a:prstDash val="solid"/>
          </a:ln>
        </p:spPr>
      </p:sp>
      <p:sp>
        <p:nvSpPr>
          <p:cNvPr id="8" name="Text 0"/>
          <p:cNvSpPr>
            <a:spLocks noGrp="1"/>
          </p:cNvSpPr>
          <p:nvPr>
            <p:ph type="title" idx="100" hasCustomPrompt="1"/>
          </p:nvPr>
        </p:nvSpPr>
        <p:spPr>
          <a:xfrm>
            <a:off x="1600200" y="384048"/>
            <a:ext cx="9966960" cy="822960"/>
          </a:xfrm>
          <a:prstGeom prst="rect">
            <a:avLst/>
          </a:prstGeom>
          <a:noFill/>
          <a:ln/>
        </p:spPr>
        <p:txBody>
          <a:bodyPr wrap="square" lIns="0" tIns="0" rIns="0" bIns="0" rtlCol="0" anchor="ctr"/>
          <a:lstStyle/>
          <a:p>
            <a:pPr marL="0" indent="0" algn="l">
              <a:buNone/>
            </a:pPr>
            <a:r>
              <a:rPr lang="en-US" sz="4000" b="1" dirty="0">
                <a:solidFill>
                  <a:schemeClr val="bg1"/>
                </a:solidFill>
                <a:latin typeface="Barlow Condensed" pitchFamily="34" charset="0"/>
                <a:ea typeface="Barlow Condensed" pitchFamily="34" charset="-122"/>
                <a:cs typeface="Barlow Condensed" pitchFamily="34" charset="-120"/>
              </a:rPr>
              <a:t>Une plateforme, trois promesses</a:t>
            </a:r>
            <a:endParaRPr lang="en-US" sz="4000" dirty="0"/>
          </a:p>
        </p:txBody>
      </p:sp>
      <p:sp>
        <p:nvSpPr>
          <p:cNvPr id="9" name="promesse-1-case-0"/>
          <p:cNvSpPr/>
          <p:nvPr/>
        </p:nvSpPr>
        <p:spPr>
          <a:xfrm>
            <a:off x="548640" y="1600200"/>
            <a:ext cx="457200" cy="603504"/>
          </a:xfrm>
          <a:prstGeom prst="roundRect">
            <a:avLst>
              <a:gd name="adj" fmla="val 8000"/>
            </a:avLst>
          </a:prstGeom>
          <a:solidFill>
            <a:schemeClr val="accent4"/>
          </a:solidFill>
          <a:ln w="12700">
            <a:solidFill>
              <a:schemeClr val="accent4"/>
            </a:solidFill>
            <a:prstDash val="solid"/>
          </a:ln>
        </p:spPr>
      </p:sp>
      <p:sp>
        <p:nvSpPr>
          <p:cNvPr id="10" name="promesse-1-lettre-0"/>
          <p:cNvSpPr txBox="1"/>
          <p:nvPr/>
        </p:nvSpPr>
        <p:spPr>
          <a:xfrm>
            <a:off x="548640" y="1600200"/>
            <a:ext cx="457200" cy="603504"/>
          </a:xfrm>
          <a:prstGeom prst="rect">
            <a:avLst/>
          </a:prstGeom>
          <a:noFill/>
          <a:ln/>
        </p:spPr>
        <p:txBody>
          <a:bodyPr wrap="square" lIns="0" tIns="0" rIns="0" bIns="0" rtlCol="0" anchor="ctr"/>
          <a:lstStyle/>
          <a:p>
            <a:pPr marL="0" indent="0" algn="ctr">
              <a:buNone/>
            </a:pPr>
            <a:r>
              <a:rPr lang="en-US" sz="3000" b="1" dirty="0">
                <a:solidFill>
                  <a:schemeClr val="accent1"/>
                </a:solidFill>
                <a:latin typeface="Barlow Condensed" pitchFamily="34" charset="0"/>
                <a:ea typeface="Barlow Condensed" pitchFamily="34" charset="-122"/>
                <a:cs typeface="Barlow Condensed" pitchFamily="34" charset="-120"/>
              </a:rPr>
              <a:t>1</a:t>
            </a:r>
            <a:endParaRPr lang="en-US" sz="3000" dirty="0"/>
          </a:p>
        </p:txBody>
      </p:sp>
      <p:sp>
        <p:nvSpPr>
          <p:cNvPr id="11" name="promesse-1-charniere-0"/>
          <p:cNvSpPr/>
          <p:nvPr/>
        </p:nvSpPr>
        <p:spPr>
          <a:xfrm>
            <a:off x="548640" y="1901952"/>
            <a:ext cx="457200" cy="0"/>
          </a:xfrm>
          <a:prstGeom prst="line">
            <a:avLst/>
          </a:prstGeom>
          <a:noFill/>
          <a:ln w="12700">
            <a:solidFill>
              <a:srgbClr val="000000"/>
            </a:solidFill>
            <a:prstDash val="solid"/>
          </a:ln>
        </p:spPr>
      </p:sp>
      <p:sp>
        <p:nvSpPr>
          <p:cNvPr id="12" name="Text 10"/>
          <p:cNvSpPr txBox="1"/>
          <p:nvPr/>
        </p:nvSpPr>
        <p:spPr>
          <a:xfrm>
            <a:off x="1188720" y="1581912"/>
            <a:ext cx="2971800" cy="411480"/>
          </a:xfrm>
          <a:prstGeom prst="rect">
            <a:avLst/>
          </a:prstGeom>
          <a:noFill/>
          <a:ln/>
        </p:spPr>
        <p:txBody>
          <a:bodyPr wrap="square" lIns="0" tIns="0" rIns="0" bIns="0" rtlCol="0" anchor="ctr"/>
          <a:lstStyle/>
          <a:p>
            <a:pPr marL="0" indent="0">
              <a:buNone/>
            </a:pPr>
            <a:r>
              <a:rPr lang="en-US" sz="1900" b="1" kern="0" spc="100" dirty="0">
                <a:solidFill>
                  <a:schemeClr val="bg1"/>
                </a:solidFill>
                <a:latin typeface="Barlow Condensed" pitchFamily="34" charset="0"/>
                <a:ea typeface="Barlow Condensed" pitchFamily="34" charset="-122"/>
                <a:cs typeface="Barlow Condensed" pitchFamily="34" charset="-120"/>
              </a:rPr>
              <a:t>L'EDT SE CONSTRUIT SEUL</a:t>
            </a:r>
            <a:endParaRPr lang="en-US" sz="1900" dirty="0"/>
          </a:p>
        </p:txBody>
      </p:sp>
      <p:sp>
        <p:nvSpPr>
          <p:cNvPr id="13" name="Text 11"/>
          <p:cNvSpPr txBox="1"/>
          <p:nvPr/>
        </p:nvSpPr>
        <p:spPr>
          <a:xfrm>
            <a:off x="1188720" y="2011680"/>
            <a:ext cx="2971800" cy="868680"/>
          </a:xfrm>
          <a:prstGeom prst="rect">
            <a:avLst/>
          </a:prstGeom>
          <a:noFill/>
          <a:ln/>
        </p:spPr>
        <p:txBody>
          <a:bodyPr wrap="square" lIns="0" tIns="0" rIns="0" bIns="0" rtlCol="0" anchor="t"/>
          <a:lstStyle/>
          <a:p>
            <a:pPr marL="0" indent="0">
              <a:buNone/>
            </a:pPr>
            <a:r>
              <a:rPr lang="en-US" sz="1400" dirty="0">
                <a:solidFill>
                  <a:schemeClr val="bg2"/>
                </a:solidFill>
                <a:latin typeface="Barlow" pitchFamily="34" charset="0"/>
                <a:ea typeface="Barlow" pitchFamily="34" charset="-122"/>
                <a:cs typeface="Barlow" pitchFamily="34" charset="-120"/>
              </a:rPr>
              <a:t>Un solveur d'optimisation (Timefold) place 2 620 séances en 90 secondes, sous toutes les règles de l'école.</a:t>
            </a:r>
            <a:endParaRPr lang="en-US" sz="1400" dirty="0"/>
          </a:p>
        </p:txBody>
      </p:sp>
      <p:sp>
        <p:nvSpPr>
          <p:cNvPr id="14" name="promesse-2-case-0"/>
          <p:cNvSpPr/>
          <p:nvPr/>
        </p:nvSpPr>
        <p:spPr>
          <a:xfrm>
            <a:off x="548640" y="3044952"/>
            <a:ext cx="457200" cy="603504"/>
          </a:xfrm>
          <a:prstGeom prst="roundRect">
            <a:avLst>
              <a:gd name="adj" fmla="val 8000"/>
            </a:avLst>
          </a:prstGeom>
          <a:solidFill>
            <a:schemeClr val="accent4"/>
          </a:solidFill>
          <a:ln w="12700">
            <a:solidFill>
              <a:schemeClr val="accent4"/>
            </a:solidFill>
            <a:prstDash val="solid"/>
          </a:ln>
        </p:spPr>
      </p:sp>
      <p:sp>
        <p:nvSpPr>
          <p:cNvPr id="15" name="promesse-2-lettre-0"/>
          <p:cNvSpPr txBox="1"/>
          <p:nvPr/>
        </p:nvSpPr>
        <p:spPr>
          <a:xfrm>
            <a:off x="548640" y="3044952"/>
            <a:ext cx="457200" cy="603504"/>
          </a:xfrm>
          <a:prstGeom prst="rect">
            <a:avLst/>
          </a:prstGeom>
          <a:noFill/>
          <a:ln/>
        </p:spPr>
        <p:txBody>
          <a:bodyPr wrap="square" lIns="0" tIns="0" rIns="0" bIns="0" rtlCol="0" anchor="ctr"/>
          <a:lstStyle/>
          <a:p>
            <a:pPr marL="0" indent="0" algn="ctr">
              <a:buNone/>
            </a:pPr>
            <a:r>
              <a:rPr lang="en-US" sz="3000" b="1" dirty="0">
                <a:solidFill>
                  <a:schemeClr val="accent1"/>
                </a:solidFill>
                <a:latin typeface="Barlow Condensed" pitchFamily="34" charset="0"/>
                <a:ea typeface="Barlow Condensed" pitchFamily="34" charset="-122"/>
                <a:cs typeface="Barlow Condensed" pitchFamily="34" charset="-120"/>
              </a:rPr>
              <a:t>2</a:t>
            </a:r>
            <a:endParaRPr lang="en-US" sz="3000" dirty="0"/>
          </a:p>
        </p:txBody>
      </p:sp>
      <p:sp>
        <p:nvSpPr>
          <p:cNvPr id="16" name="promesse-2-charniere-0"/>
          <p:cNvSpPr/>
          <p:nvPr/>
        </p:nvSpPr>
        <p:spPr>
          <a:xfrm>
            <a:off x="548640" y="3346704"/>
            <a:ext cx="457200" cy="0"/>
          </a:xfrm>
          <a:prstGeom prst="line">
            <a:avLst/>
          </a:prstGeom>
          <a:noFill/>
          <a:ln w="12700">
            <a:solidFill>
              <a:srgbClr val="000000"/>
            </a:solidFill>
            <a:prstDash val="solid"/>
          </a:ln>
        </p:spPr>
      </p:sp>
      <p:sp>
        <p:nvSpPr>
          <p:cNvPr id="17" name="Text 15"/>
          <p:cNvSpPr txBox="1"/>
          <p:nvPr/>
        </p:nvSpPr>
        <p:spPr>
          <a:xfrm>
            <a:off x="1188720" y="3026664"/>
            <a:ext cx="2971800" cy="411480"/>
          </a:xfrm>
          <a:prstGeom prst="rect">
            <a:avLst/>
          </a:prstGeom>
          <a:noFill/>
          <a:ln/>
        </p:spPr>
        <p:txBody>
          <a:bodyPr wrap="square" lIns="0" tIns="0" rIns="0" bIns="0" rtlCol="0" anchor="ctr"/>
          <a:lstStyle/>
          <a:p>
            <a:pPr marL="0" indent="0">
              <a:buNone/>
            </a:pPr>
            <a:r>
              <a:rPr lang="en-US" sz="1900" b="1" kern="0" spc="100" dirty="0">
                <a:solidFill>
                  <a:schemeClr val="bg1"/>
                </a:solidFill>
                <a:latin typeface="Barlow Condensed" pitchFamily="34" charset="0"/>
                <a:ea typeface="Barlow Condensed" pitchFamily="34" charset="-122"/>
                <a:cs typeface="Barlow Condensed" pitchFamily="34" charset="-120"/>
              </a:rPr>
              <a:t>CHACUN VOIT SA JOURNÉE</a:t>
            </a:r>
            <a:endParaRPr lang="en-US" sz="1900" dirty="0"/>
          </a:p>
        </p:txBody>
      </p:sp>
      <p:sp>
        <p:nvSpPr>
          <p:cNvPr id="18" name="Text 16"/>
          <p:cNvSpPr txBox="1"/>
          <p:nvPr/>
        </p:nvSpPr>
        <p:spPr>
          <a:xfrm>
            <a:off x="1188720" y="3456432"/>
            <a:ext cx="2971800" cy="868680"/>
          </a:xfrm>
          <a:prstGeom prst="rect">
            <a:avLst/>
          </a:prstGeom>
          <a:noFill/>
          <a:ln/>
        </p:spPr>
        <p:txBody>
          <a:bodyPr wrap="square" lIns="0" tIns="0" rIns="0" bIns="0" rtlCol="0" anchor="t"/>
          <a:lstStyle/>
          <a:p>
            <a:pPr marL="0" indent="0">
              <a:buNone/>
            </a:pPr>
            <a:r>
              <a:rPr lang="en-US" sz="1400" dirty="0">
                <a:solidFill>
                  <a:schemeClr val="bg2"/>
                </a:solidFill>
                <a:latin typeface="Barlow" pitchFamily="34" charset="0"/>
                <a:ea typeface="Barlow" pitchFamily="34" charset="-122"/>
                <a:cs typeface="Barlow" pitchFamily="34" charset="-120"/>
              </a:rPr>
              <a:t>Un panneau des départs sur le web, et l'application mobile prévient au moindre report.</a:t>
            </a:r>
            <a:endParaRPr lang="en-US" sz="1400" dirty="0"/>
          </a:p>
        </p:txBody>
      </p:sp>
      <p:sp>
        <p:nvSpPr>
          <p:cNvPr id="19" name="promesse-3-case-0"/>
          <p:cNvSpPr/>
          <p:nvPr/>
        </p:nvSpPr>
        <p:spPr>
          <a:xfrm>
            <a:off x="548640" y="4489704"/>
            <a:ext cx="457200" cy="603504"/>
          </a:xfrm>
          <a:prstGeom prst="roundRect">
            <a:avLst>
              <a:gd name="adj" fmla="val 8000"/>
            </a:avLst>
          </a:prstGeom>
          <a:solidFill>
            <a:schemeClr val="accent4"/>
          </a:solidFill>
          <a:ln w="12700">
            <a:solidFill>
              <a:schemeClr val="accent4"/>
            </a:solidFill>
            <a:prstDash val="solid"/>
          </a:ln>
        </p:spPr>
      </p:sp>
      <p:sp>
        <p:nvSpPr>
          <p:cNvPr id="20" name="promesse-3-lettre-0"/>
          <p:cNvSpPr txBox="1"/>
          <p:nvPr/>
        </p:nvSpPr>
        <p:spPr>
          <a:xfrm>
            <a:off x="548640" y="4489704"/>
            <a:ext cx="457200" cy="603504"/>
          </a:xfrm>
          <a:prstGeom prst="rect">
            <a:avLst/>
          </a:prstGeom>
          <a:noFill/>
          <a:ln/>
        </p:spPr>
        <p:txBody>
          <a:bodyPr wrap="square" lIns="0" tIns="0" rIns="0" bIns="0" rtlCol="0" anchor="ctr"/>
          <a:lstStyle/>
          <a:p>
            <a:pPr marL="0" indent="0" algn="ctr">
              <a:buNone/>
            </a:pPr>
            <a:r>
              <a:rPr lang="en-US" sz="3000" b="1" dirty="0">
                <a:solidFill>
                  <a:schemeClr val="accent1"/>
                </a:solidFill>
                <a:latin typeface="Barlow Condensed" pitchFamily="34" charset="0"/>
                <a:ea typeface="Barlow Condensed" pitchFamily="34" charset="-122"/>
                <a:cs typeface="Barlow Condensed" pitchFamily="34" charset="-120"/>
              </a:rPr>
              <a:t>3</a:t>
            </a:r>
            <a:endParaRPr lang="en-US" sz="3000" dirty="0"/>
          </a:p>
        </p:txBody>
      </p:sp>
      <p:sp>
        <p:nvSpPr>
          <p:cNvPr id="21" name="promesse-3-charniere-0"/>
          <p:cNvSpPr/>
          <p:nvPr/>
        </p:nvSpPr>
        <p:spPr>
          <a:xfrm>
            <a:off x="548640" y="4791456"/>
            <a:ext cx="457200" cy="0"/>
          </a:xfrm>
          <a:prstGeom prst="line">
            <a:avLst/>
          </a:prstGeom>
          <a:noFill/>
          <a:ln w="12700">
            <a:solidFill>
              <a:srgbClr val="000000"/>
            </a:solidFill>
            <a:prstDash val="solid"/>
          </a:ln>
        </p:spPr>
      </p:sp>
      <p:sp>
        <p:nvSpPr>
          <p:cNvPr id="22" name="Text 20"/>
          <p:cNvSpPr txBox="1"/>
          <p:nvPr/>
        </p:nvSpPr>
        <p:spPr>
          <a:xfrm>
            <a:off x="1188720" y="4471416"/>
            <a:ext cx="2971800" cy="411480"/>
          </a:xfrm>
          <a:prstGeom prst="rect">
            <a:avLst/>
          </a:prstGeom>
          <a:noFill/>
          <a:ln/>
        </p:spPr>
        <p:txBody>
          <a:bodyPr wrap="square" lIns="0" tIns="0" rIns="0" bIns="0" rtlCol="0" anchor="ctr"/>
          <a:lstStyle/>
          <a:p>
            <a:pPr marL="0" indent="0">
              <a:buNone/>
            </a:pPr>
            <a:r>
              <a:rPr lang="en-US" sz="1900" b="1" kern="0" spc="100" dirty="0">
                <a:solidFill>
                  <a:schemeClr val="bg1"/>
                </a:solidFill>
                <a:latin typeface="Barlow Condensed" pitchFamily="34" charset="0"/>
                <a:ea typeface="Barlow Condensed" pitchFamily="34" charset="-122"/>
                <a:cs typeface="Barlow Condensed" pitchFamily="34" charset="-120"/>
              </a:rPr>
              <a:t>UNE SEULE CONNEXION</a:t>
            </a:r>
            <a:endParaRPr lang="en-US" sz="1900" dirty="0"/>
          </a:p>
        </p:txBody>
      </p:sp>
      <p:sp>
        <p:nvSpPr>
          <p:cNvPr id="23" name="Text 21"/>
          <p:cNvSpPr txBox="1"/>
          <p:nvPr/>
        </p:nvSpPr>
        <p:spPr>
          <a:xfrm>
            <a:off x="1188720" y="4901184"/>
            <a:ext cx="2971800" cy="868680"/>
          </a:xfrm>
          <a:prstGeom prst="rect">
            <a:avLst/>
          </a:prstGeom>
          <a:noFill/>
          <a:ln/>
        </p:spPr>
        <p:txBody>
          <a:bodyPr wrap="square" lIns="0" tIns="0" rIns="0" bIns="0" rtlCol="0" anchor="t"/>
          <a:lstStyle/>
          <a:p>
            <a:pPr marL="0" indent="0">
              <a:buNone/>
            </a:pPr>
            <a:r>
              <a:rPr lang="en-US" sz="1400" dirty="0">
                <a:solidFill>
                  <a:schemeClr val="bg2"/>
                </a:solidFill>
                <a:latin typeface="Barlow" pitchFamily="34" charset="0"/>
                <a:ea typeface="Barlow" pitchFamily="34" charset="-122"/>
                <a:cs typeface="Barlow" pitchFamily="34" charset="-120"/>
              </a:rPr>
              <a:t>Supports du cours depuis la séance ; quiz lancé en un clic, rejoint sans code.</a:t>
            </a:r>
            <a:endParaRPr lang="en-US" sz="1400" dirty="0"/>
          </a:p>
        </p:txBody>
      </p:sp>
      <p:sp>
        <p:nvSpPr>
          <p:cNvPr id="24" name="capture-web-cadre"/>
          <p:cNvSpPr/>
          <p:nvPr/>
        </p:nvSpPr>
        <p:spPr>
          <a:xfrm>
            <a:off x="4471416" y="1545336"/>
            <a:ext cx="5687568" cy="3741258"/>
          </a:xfrm>
          <a:prstGeom prst="roundRect">
            <a:avLst>
              <a:gd name="adj" fmla="val 1955"/>
            </a:avLst>
          </a:prstGeom>
          <a:solidFill>
            <a:schemeClr val="accent5"/>
          </a:solidFill>
          <a:ln w="12700">
            <a:solidFill>
              <a:schemeClr val="accent5"/>
            </a:solidFill>
            <a:prstDash val="solid"/>
          </a:ln>
          <a:effectLst>
            <a:outerShdw blurRad="152400" dist="50800" dir="5400000" algn="bl" rotWithShape="0">
              <a:srgbClr val="000000">
                <a:alpha val="50000"/>
              </a:srgbClr>
            </a:outerShdw>
          </a:effectLst>
        </p:spPr>
      </p:sp>
      <p:pic>
        <p:nvPicPr>
          <p:cNvPr id="25" name="capture-web" descr="Tableau de l'enseignant : panneau des départs avec la séance en vedette et le bouton Lancer un quiz"/>
          <p:cNvPicPr>
            <a:picLocks noChangeAspect="1"/>
          </p:cNvPicPr>
          <p:nvPr/>
        </p:nvPicPr>
        <p:blipFill>
          <a:blip r:embed="rId3"/>
          <a:stretch>
            <a:fillRect/>
          </a:stretch>
        </p:blipFill>
        <p:spPr>
          <a:xfrm>
            <a:off x="4526280" y="1600200"/>
            <a:ext cx="5577840" cy="3631530"/>
          </a:xfrm>
          <a:prstGeom prst="rect">
            <a:avLst/>
          </a:prstGeom>
        </p:spPr>
      </p:pic>
      <p:sp>
        <p:nvSpPr>
          <p:cNvPr id="26" name="telephone-cadre"/>
          <p:cNvSpPr/>
          <p:nvPr/>
        </p:nvSpPr>
        <p:spPr>
          <a:xfrm>
            <a:off x="9521190" y="1289304"/>
            <a:ext cx="2201418" cy="4690872"/>
          </a:xfrm>
          <a:prstGeom prst="roundRect">
            <a:avLst>
              <a:gd name="adj" fmla="val 9138"/>
            </a:avLst>
          </a:prstGeom>
          <a:solidFill>
            <a:srgbClr val="000000"/>
          </a:solidFill>
          <a:ln w="19050">
            <a:solidFill>
              <a:schemeClr val="accent5"/>
            </a:solidFill>
            <a:prstDash val="solid"/>
          </a:ln>
          <a:effectLst>
            <a:outerShdw blurRad="203200" dist="76200" dir="5400000" algn="bl" rotWithShape="0">
              <a:srgbClr val="000000">
                <a:alpha val="60000"/>
              </a:srgbClr>
            </a:outerShdw>
          </a:effectLst>
        </p:spPr>
      </p:sp>
      <p:pic>
        <p:nvPicPr>
          <p:cNvPr id="27" name="capture-mobile" descr="Application mobile : prochaine séance, salle, supports du cours et quiz en cours"/>
          <p:cNvPicPr>
            <a:picLocks noChangeAspect="1"/>
          </p:cNvPicPr>
          <p:nvPr/>
        </p:nvPicPr>
        <p:blipFill>
          <a:blip r:embed="rId4"/>
          <a:stretch>
            <a:fillRect/>
          </a:stretch>
        </p:blipFill>
        <p:spPr>
          <a:xfrm>
            <a:off x="9603486" y="1371600"/>
            <a:ext cx="2036826" cy="4526280"/>
          </a:xfrm>
          <a:prstGeom prst="rect">
            <a:avLst/>
          </a:prstGeom>
        </p:spPr>
      </p:pic>
      <p:sp>
        <p:nvSpPr>
          <p:cNvPr id="28" name="Text 24"/>
          <p:cNvSpPr txBox="1"/>
          <p:nvPr/>
        </p:nvSpPr>
        <p:spPr>
          <a:xfrm>
            <a:off x="4526280" y="5432898"/>
            <a:ext cx="4937760" cy="457200"/>
          </a:xfrm>
          <a:prstGeom prst="rect">
            <a:avLst/>
          </a:prstGeom>
          <a:noFill/>
          <a:ln/>
        </p:spPr>
        <p:txBody>
          <a:bodyPr wrap="square" lIns="0" tIns="0" rIns="0" bIns="0" rtlCol="0" anchor="ctr"/>
          <a:lstStyle/>
          <a:p>
            <a:pPr marL="0" indent="0">
              <a:buNone/>
            </a:pPr>
            <a:r>
              <a:rPr lang="en-US" sz="1100" i="1" dirty="0">
                <a:solidFill>
                  <a:schemeClr val="bg2"/>
                </a:solidFill>
                <a:latin typeface="Barlow" pitchFamily="34" charset="0"/>
                <a:ea typeface="Barlow" pitchFamily="34" charset="-122"/>
                <a:cs typeface="Barlow" pitchFamily="34" charset="-120"/>
              </a:rPr>
              <a:t>En ligne sur planner.finadmintech.fr : tableau enseignant (web) et application étudiant (Android).</a:t>
            </a:r>
            <a:endParaRPr lang="en-US" sz="1100" dirty="0"/>
          </a:p>
        </p:txBody>
      </p:sp>
      <p:sp>
        <p:nvSpPr>
          <p:cNvPr id="29"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latin typeface="Barlow Condensed"/>
                <a:ea typeface="Barlow Condensed"/>
                <a:cs typeface="Barlow Condense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umero-case-0"/>
          <p:cNvSpPr/>
          <p:nvPr/>
        </p:nvSpPr>
        <p:spPr>
          <a:xfrm>
            <a:off x="548640" y="539496"/>
            <a:ext cx="384048" cy="512064"/>
          </a:xfrm>
          <a:prstGeom prst="roundRect">
            <a:avLst>
              <a:gd name="adj" fmla="val 9524"/>
            </a:avLst>
          </a:prstGeom>
          <a:solidFill>
            <a:schemeClr val="accent4"/>
          </a:solidFill>
          <a:ln w="12700">
            <a:solidFill>
              <a:schemeClr val="accent4"/>
            </a:solidFill>
            <a:prstDash val="solid"/>
          </a:ln>
        </p:spPr>
      </p:sp>
      <p:sp>
        <p:nvSpPr>
          <p:cNvPr id="3" name="numero-lettre-0"/>
          <p:cNvSpPr txBox="1"/>
          <p:nvPr/>
        </p:nvSpPr>
        <p:spPr>
          <a:xfrm>
            <a:off x="548640" y="539496"/>
            <a:ext cx="384048" cy="512064"/>
          </a:xfrm>
          <a:prstGeom prst="rect">
            <a:avLst/>
          </a:prstGeom>
          <a:noFill/>
          <a:ln/>
        </p:spPr>
        <p:txBody>
          <a:bodyPr wrap="square" lIns="0" tIns="0" rIns="0" bIns="0" rtlCol="0" anchor="ctr"/>
          <a:lstStyle/>
          <a:p>
            <a:pPr marL="0" indent="0" algn="ctr">
              <a:buNone/>
            </a:pPr>
            <a:r>
              <a:rPr lang="en-US" sz="2600" b="1" dirty="0">
                <a:solidFill>
                  <a:schemeClr val="bg1"/>
                </a:solidFill>
                <a:latin typeface="Barlow Condensed" pitchFamily="34" charset="0"/>
                <a:ea typeface="Barlow Condensed" pitchFamily="34" charset="-122"/>
                <a:cs typeface="Barlow Condensed" pitchFamily="34" charset="-120"/>
              </a:rPr>
              <a:t>0</a:t>
            </a:r>
            <a:endParaRPr lang="en-US" sz="2600" dirty="0"/>
          </a:p>
        </p:txBody>
      </p:sp>
      <p:sp>
        <p:nvSpPr>
          <p:cNvPr id="4" name="numero-charniere-0"/>
          <p:cNvSpPr/>
          <p:nvPr/>
        </p:nvSpPr>
        <p:spPr>
          <a:xfrm>
            <a:off x="548640" y="795528"/>
            <a:ext cx="384048" cy="0"/>
          </a:xfrm>
          <a:prstGeom prst="line">
            <a:avLst/>
          </a:prstGeom>
          <a:noFill/>
          <a:ln w="12700">
            <a:solidFill>
              <a:srgbClr val="000000"/>
            </a:solidFill>
            <a:prstDash val="solid"/>
          </a:ln>
        </p:spPr>
      </p:sp>
      <p:sp>
        <p:nvSpPr>
          <p:cNvPr id="5" name="numero-case-1"/>
          <p:cNvSpPr/>
          <p:nvPr/>
        </p:nvSpPr>
        <p:spPr>
          <a:xfrm>
            <a:off x="978408" y="539496"/>
            <a:ext cx="384048" cy="512064"/>
          </a:xfrm>
          <a:prstGeom prst="roundRect">
            <a:avLst>
              <a:gd name="adj" fmla="val 9524"/>
            </a:avLst>
          </a:prstGeom>
          <a:solidFill>
            <a:schemeClr val="accent4"/>
          </a:solidFill>
          <a:ln w="12700">
            <a:solidFill>
              <a:schemeClr val="accent4"/>
            </a:solidFill>
            <a:prstDash val="solid"/>
          </a:ln>
        </p:spPr>
      </p:sp>
      <p:sp>
        <p:nvSpPr>
          <p:cNvPr id="6" name="numero-lettre-1"/>
          <p:cNvSpPr txBox="1"/>
          <p:nvPr/>
        </p:nvSpPr>
        <p:spPr>
          <a:xfrm>
            <a:off x="978408" y="539496"/>
            <a:ext cx="384048" cy="512064"/>
          </a:xfrm>
          <a:prstGeom prst="rect">
            <a:avLst/>
          </a:prstGeom>
          <a:noFill/>
          <a:ln/>
        </p:spPr>
        <p:txBody>
          <a:bodyPr wrap="square" lIns="0" tIns="0" rIns="0" bIns="0" rtlCol="0" anchor="ctr"/>
          <a:lstStyle/>
          <a:p>
            <a:pPr marL="0" indent="0" algn="ctr">
              <a:buNone/>
            </a:pPr>
            <a:r>
              <a:rPr lang="en-US" sz="2600" b="1" dirty="0">
                <a:solidFill>
                  <a:schemeClr val="bg1"/>
                </a:solidFill>
                <a:latin typeface="Barlow Condensed" pitchFamily="34" charset="0"/>
                <a:ea typeface="Barlow Condensed" pitchFamily="34" charset="-122"/>
                <a:cs typeface="Barlow Condensed" pitchFamily="34" charset="-120"/>
              </a:rPr>
              <a:t>3</a:t>
            </a:r>
            <a:endParaRPr lang="en-US" sz="2600" dirty="0"/>
          </a:p>
        </p:txBody>
      </p:sp>
      <p:sp>
        <p:nvSpPr>
          <p:cNvPr id="7" name="numero-charniere-1"/>
          <p:cNvSpPr/>
          <p:nvPr/>
        </p:nvSpPr>
        <p:spPr>
          <a:xfrm>
            <a:off x="978408" y="795528"/>
            <a:ext cx="384048" cy="0"/>
          </a:xfrm>
          <a:prstGeom prst="line">
            <a:avLst/>
          </a:prstGeom>
          <a:noFill/>
          <a:ln w="12700">
            <a:solidFill>
              <a:srgbClr val="000000"/>
            </a:solidFill>
            <a:prstDash val="solid"/>
          </a:ln>
        </p:spPr>
      </p:sp>
      <p:sp>
        <p:nvSpPr>
          <p:cNvPr id="8" name="Text 0"/>
          <p:cNvSpPr>
            <a:spLocks noGrp="1"/>
          </p:cNvSpPr>
          <p:nvPr>
            <p:ph type="title" idx="100" hasCustomPrompt="1"/>
          </p:nvPr>
        </p:nvSpPr>
        <p:spPr>
          <a:xfrm>
            <a:off x="1600200" y="384048"/>
            <a:ext cx="9966960" cy="822960"/>
          </a:xfrm>
          <a:prstGeom prst="rect">
            <a:avLst/>
          </a:prstGeom>
          <a:noFill/>
          <a:ln/>
        </p:spPr>
        <p:txBody>
          <a:bodyPr wrap="square" lIns="0" tIns="0" rIns="0" bIns="0" rtlCol="0" anchor="ctr"/>
          <a:lstStyle/>
          <a:p>
            <a:pPr marL="0" indent="0" algn="l">
              <a:buNone/>
            </a:pPr>
            <a:r>
              <a:rPr lang="en-US" sz="4000" b="1" dirty="0">
                <a:solidFill>
                  <a:schemeClr val="bg1"/>
                </a:solidFill>
                <a:latin typeface="Barlow Condensed" pitchFamily="34" charset="0"/>
                <a:ea typeface="Barlow Condensed" pitchFamily="34" charset="-122"/>
                <a:cs typeface="Barlow Condensed" pitchFamily="34" charset="-120"/>
              </a:rPr>
              <a:t>En ligne aujourd'hui</a:t>
            </a:r>
            <a:endParaRPr lang="en-US" sz="4000" dirty="0"/>
          </a:p>
        </p:txBody>
      </p:sp>
      <p:sp>
        <p:nvSpPr>
          <p:cNvPr id="9" name="chiffre-1-case-0"/>
          <p:cNvSpPr/>
          <p:nvPr/>
        </p:nvSpPr>
        <p:spPr>
          <a:xfrm>
            <a:off x="548640" y="1645920"/>
            <a:ext cx="566928" cy="768096"/>
          </a:xfrm>
          <a:prstGeom prst="roundRect">
            <a:avLst>
              <a:gd name="adj" fmla="val 6452"/>
            </a:avLst>
          </a:prstGeom>
          <a:solidFill>
            <a:schemeClr val="accent4"/>
          </a:solidFill>
          <a:ln w="12700">
            <a:solidFill>
              <a:schemeClr val="accent4"/>
            </a:solidFill>
            <a:prstDash val="solid"/>
          </a:ln>
        </p:spPr>
      </p:sp>
      <p:sp>
        <p:nvSpPr>
          <p:cNvPr id="10" name="chiffre-1-lettre-0"/>
          <p:cNvSpPr txBox="1"/>
          <p:nvPr/>
        </p:nvSpPr>
        <p:spPr>
          <a:xfrm>
            <a:off x="548640" y="1645920"/>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2</a:t>
            </a:r>
            <a:endParaRPr lang="en-US" sz="4000" dirty="0"/>
          </a:p>
        </p:txBody>
      </p:sp>
      <p:sp>
        <p:nvSpPr>
          <p:cNvPr id="11" name="chiffre-1-charniere-0"/>
          <p:cNvSpPr/>
          <p:nvPr/>
        </p:nvSpPr>
        <p:spPr>
          <a:xfrm>
            <a:off x="548640" y="2029968"/>
            <a:ext cx="566928" cy="0"/>
          </a:xfrm>
          <a:prstGeom prst="line">
            <a:avLst/>
          </a:prstGeom>
          <a:noFill/>
          <a:ln w="12700">
            <a:solidFill>
              <a:srgbClr val="000000"/>
            </a:solidFill>
            <a:prstDash val="solid"/>
          </a:ln>
        </p:spPr>
      </p:sp>
      <p:sp>
        <p:nvSpPr>
          <p:cNvPr id="12" name="chiffre-1-case-1"/>
          <p:cNvSpPr/>
          <p:nvPr/>
        </p:nvSpPr>
        <p:spPr>
          <a:xfrm>
            <a:off x="1161288" y="1645920"/>
            <a:ext cx="566928" cy="768096"/>
          </a:xfrm>
          <a:prstGeom prst="roundRect">
            <a:avLst>
              <a:gd name="adj" fmla="val 6452"/>
            </a:avLst>
          </a:prstGeom>
          <a:solidFill>
            <a:schemeClr val="accent4"/>
          </a:solidFill>
          <a:ln w="12700">
            <a:solidFill>
              <a:schemeClr val="accent4"/>
            </a:solidFill>
            <a:prstDash val="solid"/>
          </a:ln>
        </p:spPr>
      </p:sp>
      <p:sp>
        <p:nvSpPr>
          <p:cNvPr id="13" name="chiffre-1-lettre-1"/>
          <p:cNvSpPr txBox="1"/>
          <p:nvPr/>
        </p:nvSpPr>
        <p:spPr>
          <a:xfrm>
            <a:off x="1161288" y="1645920"/>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6</a:t>
            </a:r>
            <a:endParaRPr lang="en-US" sz="4000" dirty="0"/>
          </a:p>
        </p:txBody>
      </p:sp>
      <p:sp>
        <p:nvSpPr>
          <p:cNvPr id="14" name="chiffre-1-charniere-1"/>
          <p:cNvSpPr/>
          <p:nvPr/>
        </p:nvSpPr>
        <p:spPr>
          <a:xfrm>
            <a:off x="1161288" y="2029968"/>
            <a:ext cx="566928" cy="0"/>
          </a:xfrm>
          <a:prstGeom prst="line">
            <a:avLst/>
          </a:prstGeom>
          <a:noFill/>
          <a:ln w="12700">
            <a:solidFill>
              <a:srgbClr val="000000"/>
            </a:solidFill>
            <a:prstDash val="solid"/>
          </a:ln>
        </p:spPr>
      </p:sp>
      <p:sp>
        <p:nvSpPr>
          <p:cNvPr id="15" name="chiffre-1-case-2"/>
          <p:cNvSpPr/>
          <p:nvPr/>
        </p:nvSpPr>
        <p:spPr>
          <a:xfrm>
            <a:off x="1773936" y="1645920"/>
            <a:ext cx="566928" cy="768096"/>
          </a:xfrm>
          <a:prstGeom prst="roundRect">
            <a:avLst>
              <a:gd name="adj" fmla="val 6452"/>
            </a:avLst>
          </a:prstGeom>
          <a:solidFill>
            <a:schemeClr val="accent4"/>
          </a:solidFill>
          <a:ln w="12700">
            <a:solidFill>
              <a:schemeClr val="accent4"/>
            </a:solidFill>
            <a:prstDash val="solid"/>
          </a:ln>
        </p:spPr>
      </p:sp>
      <p:sp>
        <p:nvSpPr>
          <p:cNvPr id="16" name="chiffre-1-lettre-2"/>
          <p:cNvSpPr txBox="1"/>
          <p:nvPr/>
        </p:nvSpPr>
        <p:spPr>
          <a:xfrm>
            <a:off x="1773936" y="1645920"/>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2</a:t>
            </a:r>
            <a:endParaRPr lang="en-US" sz="4000" dirty="0"/>
          </a:p>
        </p:txBody>
      </p:sp>
      <p:sp>
        <p:nvSpPr>
          <p:cNvPr id="17" name="chiffre-1-charniere-2"/>
          <p:cNvSpPr/>
          <p:nvPr/>
        </p:nvSpPr>
        <p:spPr>
          <a:xfrm>
            <a:off x="1773936" y="2029968"/>
            <a:ext cx="566928" cy="0"/>
          </a:xfrm>
          <a:prstGeom prst="line">
            <a:avLst/>
          </a:prstGeom>
          <a:noFill/>
          <a:ln w="12700">
            <a:solidFill>
              <a:srgbClr val="000000"/>
            </a:solidFill>
            <a:prstDash val="solid"/>
          </a:ln>
        </p:spPr>
      </p:sp>
      <p:sp>
        <p:nvSpPr>
          <p:cNvPr id="18" name="chiffre-1-case-3"/>
          <p:cNvSpPr/>
          <p:nvPr/>
        </p:nvSpPr>
        <p:spPr>
          <a:xfrm>
            <a:off x="2386584" y="1645920"/>
            <a:ext cx="566928" cy="768096"/>
          </a:xfrm>
          <a:prstGeom prst="roundRect">
            <a:avLst>
              <a:gd name="adj" fmla="val 6452"/>
            </a:avLst>
          </a:prstGeom>
          <a:solidFill>
            <a:schemeClr val="accent4"/>
          </a:solidFill>
          <a:ln w="12700">
            <a:solidFill>
              <a:schemeClr val="accent4"/>
            </a:solidFill>
            <a:prstDash val="solid"/>
          </a:ln>
        </p:spPr>
      </p:sp>
      <p:sp>
        <p:nvSpPr>
          <p:cNvPr id="19" name="chiffre-1-lettre-3"/>
          <p:cNvSpPr txBox="1"/>
          <p:nvPr/>
        </p:nvSpPr>
        <p:spPr>
          <a:xfrm>
            <a:off x="2386584" y="1645920"/>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0</a:t>
            </a:r>
            <a:endParaRPr lang="en-US" sz="4000" dirty="0"/>
          </a:p>
        </p:txBody>
      </p:sp>
      <p:sp>
        <p:nvSpPr>
          <p:cNvPr id="20" name="chiffre-1-charniere-3"/>
          <p:cNvSpPr/>
          <p:nvPr/>
        </p:nvSpPr>
        <p:spPr>
          <a:xfrm>
            <a:off x="2386584" y="2029968"/>
            <a:ext cx="566928" cy="0"/>
          </a:xfrm>
          <a:prstGeom prst="line">
            <a:avLst/>
          </a:prstGeom>
          <a:noFill/>
          <a:ln w="12700">
            <a:solidFill>
              <a:srgbClr val="000000"/>
            </a:solidFill>
            <a:prstDash val="solid"/>
          </a:ln>
        </p:spPr>
      </p:sp>
      <p:sp>
        <p:nvSpPr>
          <p:cNvPr id="21" name="Text 19"/>
          <p:cNvSpPr txBox="1"/>
          <p:nvPr/>
        </p:nvSpPr>
        <p:spPr>
          <a:xfrm>
            <a:off x="3246120" y="1645920"/>
            <a:ext cx="3017520" cy="768096"/>
          </a:xfrm>
          <a:prstGeom prst="rect">
            <a:avLst/>
          </a:prstGeom>
          <a:noFill/>
          <a:ln/>
        </p:spPr>
        <p:txBody>
          <a:bodyPr wrap="square" lIns="0" tIns="0" rIns="0" bIns="0" rtlCol="0" anchor="ctr"/>
          <a:lstStyle/>
          <a:p>
            <a:pPr marL="0" indent="0">
              <a:buNone/>
            </a:pPr>
            <a:r>
              <a:rPr lang="en-US" sz="1600" dirty="0">
                <a:solidFill>
                  <a:schemeClr val="bg1"/>
                </a:solidFill>
                <a:latin typeface="Barlow" pitchFamily="34" charset="0"/>
                <a:ea typeface="Barlow" pitchFamily="34" charset="-122"/>
                <a:cs typeface="Barlow" pitchFamily="34" charset="-120"/>
              </a:rPr>
              <a:t>séances générées et déployées sur le semestre</a:t>
            </a:r>
            <a:endParaRPr lang="en-US" sz="1600" dirty="0"/>
          </a:p>
        </p:txBody>
      </p:sp>
      <p:sp>
        <p:nvSpPr>
          <p:cNvPr id="22" name="chiffre-2-case-0"/>
          <p:cNvSpPr/>
          <p:nvPr/>
        </p:nvSpPr>
        <p:spPr>
          <a:xfrm>
            <a:off x="548640" y="2944368"/>
            <a:ext cx="566928" cy="768096"/>
          </a:xfrm>
          <a:prstGeom prst="roundRect">
            <a:avLst>
              <a:gd name="adj" fmla="val 6452"/>
            </a:avLst>
          </a:prstGeom>
          <a:solidFill>
            <a:schemeClr val="accent4"/>
          </a:solidFill>
          <a:ln w="12700">
            <a:solidFill>
              <a:schemeClr val="accent4"/>
            </a:solidFill>
            <a:prstDash val="solid"/>
          </a:ln>
        </p:spPr>
      </p:sp>
      <p:sp>
        <p:nvSpPr>
          <p:cNvPr id="23" name="chiffre-2-lettre-0"/>
          <p:cNvSpPr txBox="1"/>
          <p:nvPr/>
        </p:nvSpPr>
        <p:spPr>
          <a:xfrm>
            <a:off x="548640" y="2944368"/>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8</a:t>
            </a:r>
            <a:endParaRPr lang="en-US" sz="4000" dirty="0"/>
          </a:p>
        </p:txBody>
      </p:sp>
      <p:sp>
        <p:nvSpPr>
          <p:cNvPr id="24" name="chiffre-2-charniere-0"/>
          <p:cNvSpPr/>
          <p:nvPr/>
        </p:nvSpPr>
        <p:spPr>
          <a:xfrm>
            <a:off x="548640" y="3328416"/>
            <a:ext cx="566928" cy="0"/>
          </a:xfrm>
          <a:prstGeom prst="line">
            <a:avLst/>
          </a:prstGeom>
          <a:noFill/>
          <a:ln w="12700">
            <a:solidFill>
              <a:srgbClr val="000000"/>
            </a:solidFill>
            <a:prstDash val="solid"/>
          </a:ln>
        </p:spPr>
      </p:sp>
      <p:sp>
        <p:nvSpPr>
          <p:cNvPr id="25" name="chiffre-2-case-1"/>
          <p:cNvSpPr/>
          <p:nvPr/>
        </p:nvSpPr>
        <p:spPr>
          <a:xfrm>
            <a:off x="1161288" y="2944368"/>
            <a:ext cx="566928" cy="768096"/>
          </a:xfrm>
          <a:prstGeom prst="roundRect">
            <a:avLst>
              <a:gd name="adj" fmla="val 6452"/>
            </a:avLst>
          </a:prstGeom>
          <a:solidFill>
            <a:schemeClr val="accent4"/>
          </a:solidFill>
          <a:ln w="12700">
            <a:solidFill>
              <a:schemeClr val="accent4"/>
            </a:solidFill>
            <a:prstDash val="solid"/>
          </a:ln>
        </p:spPr>
      </p:sp>
      <p:sp>
        <p:nvSpPr>
          <p:cNvPr id="26" name="chiffre-2-lettre-1"/>
          <p:cNvSpPr txBox="1"/>
          <p:nvPr/>
        </p:nvSpPr>
        <p:spPr>
          <a:xfrm>
            <a:off x="1161288" y="2944368"/>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2</a:t>
            </a:r>
            <a:endParaRPr lang="en-US" sz="4000" dirty="0"/>
          </a:p>
        </p:txBody>
      </p:sp>
      <p:sp>
        <p:nvSpPr>
          <p:cNvPr id="27" name="chiffre-2-charniere-1"/>
          <p:cNvSpPr/>
          <p:nvPr/>
        </p:nvSpPr>
        <p:spPr>
          <a:xfrm>
            <a:off x="1161288" y="3328416"/>
            <a:ext cx="566928" cy="0"/>
          </a:xfrm>
          <a:prstGeom prst="line">
            <a:avLst/>
          </a:prstGeom>
          <a:noFill/>
          <a:ln w="12700">
            <a:solidFill>
              <a:srgbClr val="000000"/>
            </a:solidFill>
            <a:prstDash val="solid"/>
          </a:ln>
        </p:spPr>
      </p:sp>
      <p:sp>
        <p:nvSpPr>
          <p:cNvPr id="28" name="Text 26"/>
          <p:cNvSpPr txBox="1"/>
          <p:nvPr/>
        </p:nvSpPr>
        <p:spPr>
          <a:xfrm>
            <a:off x="3246120" y="2944368"/>
            <a:ext cx="3017520" cy="768096"/>
          </a:xfrm>
          <a:prstGeom prst="rect">
            <a:avLst/>
          </a:prstGeom>
          <a:noFill/>
          <a:ln/>
        </p:spPr>
        <p:txBody>
          <a:bodyPr wrap="square" lIns="0" tIns="0" rIns="0" bIns="0" rtlCol="0" anchor="ctr"/>
          <a:lstStyle/>
          <a:p>
            <a:pPr marL="0" indent="0">
              <a:buNone/>
            </a:pPr>
            <a:r>
              <a:rPr lang="en-US" sz="1600" dirty="0">
                <a:solidFill>
                  <a:schemeClr val="bg1"/>
                </a:solidFill>
                <a:latin typeface="Barlow" pitchFamily="34" charset="0"/>
                <a:ea typeface="Barlow" pitchFamily="34" charset="-122"/>
                <a:cs typeface="Barlow" pitchFamily="34" charset="-120"/>
              </a:rPr>
              <a:t>supports de cours importés depuis Drive</a:t>
            </a:r>
            <a:endParaRPr lang="en-US" sz="1600" dirty="0"/>
          </a:p>
        </p:txBody>
      </p:sp>
      <p:sp>
        <p:nvSpPr>
          <p:cNvPr id="29" name="chiffre-3-case-0"/>
          <p:cNvSpPr/>
          <p:nvPr/>
        </p:nvSpPr>
        <p:spPr>
          <a:xfrm>
            <a:off x="548640" y="4242816"/>
            <a:ext cx="566928" cy="768096"/>
          </a:xfrm>
          <a:prstGeom prst="roundRect">
            <a:avLst>
              <a:gd name="adj" fmla="val 6452"/>
            </a:avLst>
          </a:prstGeom>
          <a:solidFill>
            <a:schemeClr val="accent4"/>
          </a:solidFill>
          <a:ln w="12700">
            <a:solidFill>
              <a:schemeClr val="accent4"/>
            </a:solidFill>
            <a:prstDash val="solid"/>
          </a:ln>
        </p:spPr>
      </p:sp>
      <p:sp>
        <p:nvSpPr>
          <p:cNvPr id="30" name="chiffre-3-lettre-0"/>
          <p:cNvSpPr txBox="1"/>
          <p:nvPr/>
        </p:nvSpPr>
        <p:spPr>
          <a:xfrm>
            <a:off x="548640" y="4242816"/>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4</a:t>
            </a:r>
            <a:endParaRPr lang="en-US" sz="4000" dirty="0"/>
          </a:p>
        </p:txBody>
      </p:sp>
      <p:sp>
        <p:nvSpPr>
          <p:cNvPr id="31" name="chiffre-3-charniere-0"/>
          <p:cNvSpPr/>
          <p:nvPr/>
        </p:nvSpPr>
        <p:spPr>
          <a:xfrm>
            <a:off x="548640" y="4626864"/>
            <a:ext cx="566928" cy="0"/>
          </a:xfrm>
          <a:prstGeom prst="line">
            <a:avLst/>
          </a:prstGeom>
          <a:noFill/>
          <a:ln w="12700">
            <a:solidFill>
              <a:srgbClr val="000000"/>
            </a:solidFill>
            <a:prstDash val="solid"/>
          </a:ln>
        </p:spPr>
      </p:sp>
      <p:sp>
        <p:nvSpPr>
          <p:cNvPr id="32" name="chiffre-3-case-1"/>
          <p:cNvSpPr/>
          <p:nvPr/>
        </p:nvSpPr>
        <p:spPr>
          <a:xfrm>
            <a:off x="1161288" y="4242816"/>
            <a:ext cx="566928" cy="768096"/>
          </a:xfrm>
          <a:prstGeom prst="roundRect">
            <a:avLst>
              <a:gd name="adj" fmla="val 6452"/>
            </a:avLst>
          </a:prstGeom>
          <a:solidFill>
            <a:schemeClr val="accent4"/>
          </a:solidFill>
          <a:ln w="12700">
            <a:solidFill>
              <a:schemeClr val="accent4"/>
            </a:solidFill>
            <a:prstDash val="solid"/>
          </a:ln>
        </p:spPr>
      </p:sp>
      <p:sp>
        <p:nvSpPr>
          <p:cNvPr id="33" name="chiffre-3-lettre-1"/>
          <p:cNvSpPr txBox="1"/>
          <p:nvPr/>
        </p:nvSpPr>
        <p:spPr>
          <a:xfrm>
            <a:off x="1161288" y="4242816"/>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4</a:t>
            </a:r>
            <a:endParaRPr lang="en-US" sz="4000" dirty="0"/>
          </a:p>
        </p:txBody>
      </p:sp>
      <p:sp>
        <p:nvSpPr>
          <p:cNvPr id="34" name="chiffre-3-charniere-1"/>
          <p:cNvSpPr/>
          <p:nvPr/>
        </p:nvSpPr>
        <p:spPr>
          <a:xfrm>
            <a:off x="1161288" y="4626864"/>
            <a:ext cx="566928" cy="0"/>
          </a:xfrm>
          <a:prstGeom prst="line">
            <a:avLst/>
          </a:prstGeom>
          <a:noFill/>
          <a:ln w="12700">
            <a:solidFill>
              <a:srgbClr val="000000"/>
            </a:solidFill>
            <a:prstDash val="solid"/>
          </a:ln>
        </p:spPr>
      </p:sp>
      <p:sp>
        <p:nvSpPr>
          <p:cNvPr id="35" name="chiffre-3-case-2"/>
          <p:cNvSpPr/>
          <p:nvPr/>
        </p:nvSpPr>
        <p:spPr>
          <a:xfrm>
            <a:off x="1773936" y="4242816"/>
            <a:ext cx="566928" cy="768096"/>
          </a:xfrm>
          <a:prstGeom prst="roundRect">
            <a:avLst>
              <a:gd name="adj" fmla="val 6452"/>
            </a:avLst>
          </a:prstGeom>
          <a:solidFill>
            <a:schemeClr val="accent4"/>
          </a:solidFill>
          <a:ln w="12700">
            <a:solidFill>
              <a:schemeClr val="accent4"/>
            </a:solidFill>
            <a:prstDash val="solid"/>
          </a:ln>
        </p:spPr>
      </p:sp>
      <p:sp>
        <p:nvSpPr>
          <p:cNvPr id="36" name="chiffre-3-lettre-2"/>
          <p:cNvSpPr txBox="1"/>
          <p:nvPr/>
        </p:nvSpPr>
        <p:spPr>
          <a:xfrm>
            <a:off x="1773936" y="4242816"/>
            <a:ext cx="566928" cy="768096"/>
          </a:xfrm>
          <a:prstGeom prst="rect">
            <a:avLst/>
          </a:prstGeom>
          <a:noFill/>
          <a:ln/>
        </p:spPr>
        <p:txBody>
          <a:bodyPr wrap="square" lIns="0" tIns="0" rIns="0" bIns="0" rtlCol="0" anchor="ctr"/>
          <a:lstStyle/>
          <a:p>
            <a:pPr marL="0" indent="0" algn="ctr">
              <a:buNone/>
            </a:pPr>
            <a:r>
              <a:rPr lang="en-US" sz="4000" b="1" dirty="0">
                <a:solidFill>
                  <a:schemeClr val="bg1"/>
                </a:solidFill>
                <a:latin typeface="Barlow Condensed" pitchFamily="34" charset="0"/>
                <a:ea typeface="Barlow Condensed" pitchFamily="34" charset="-122"/>
                <a:cs typeface="Barlow Condensed" pitchFamily="34" charset="-120"/>
              </a:rPr>
              <a:t>2</a:t>
            </a:r>
            <a:endParaRPr lang="en-US" sz="4000" dirty="0"/>
          </a:p>
        </p:txBody>
      </p:sp>
      <p:sp>
        <p:nvSpPr>
          <p:cNvPr id="37" name="chiffre-3-charniere-2"/>
          <p:cNvSpPr/>
          <p:nvPr/>
        </p:nvSpPr>
        <p:spPr>
          <a:xfrm>
            <a:off x="1773936" y="4626864"/>
            <a:ext cx="566928" cy="0"/>
          </a:xfrm>
          <a:prstGeom prst="line">
            <a:avLst/>
          </a:prstGeom>
          <a:noFill/>
          <a:ln w="12700">
            <a:solidFill>
              <a:srgbClr val="000000"/>
            </a:solidFill>
            <a:prstDash val="solid"/>
          </a:ln>
        </p:spPr>
      </p:sp>
      <p:sp>
        <p:nvSpPr>
          <p:cNvPr id="38" name="Text 36"/>
          <p:cNvSpPr txBox="1"/>
          <p:nvPr/>
        </p:nvSpPr>
        <p:spPr>
          <a:xfrm>
            <a:off x="3246120" y="4242816"/>
            <a:ext cx="3017520" cy="768096"/>
          </a:xfrm>
          <a:prstGeom prst="rect">
            <a:avLst/>
          </a:prstGeom>
          <a:noFill/>
          <a:ln/>
        </p:spPr>
        <p:txBody>
          <a:bodyPr wrap="square" lIns="0" tIns="0" rIns="0" bIns="0" rtlCol="0" anchor="ctr"/>
          <a:lstStyle/>
          <a:p>
            <a:pPr marL="0" indent="0">
              <a:buNone/>
            </a:pPr>
            <a:r>
              <a:rPr lang="en-US" sz="1600" dirty="0">
                <a:solidFill>
                  <a:schemeClr val="bg1"/>
                </a:solidFill>
                <a:latin typeface="Barlow" pitchFamily="34" charset="0"/>
                <a:ea typeface="Barlow" pitchFamily="34" charset="-122"/>
                <a:cs typeface="Barlow" pitchFamily="34" charset="-120"/>
              </a:rPr>
              <a:t>tests automatiques sur les six services</a:t>
            </a:r>
            <a:endParaRPr lang="en-US" sz="1600" dirty="0"/>
          </a:p>
        </p:txBody>
      </p:sp>
      <p:sp>
        <p:nvSpPr>
          <p:cNvPr id="39" name="Text 37"/>
          <p:cNvSpPr txBox="1"/>
          <p:nvPr/>
        </p:nvSpPr>
        <p:spPr>
          <a:xfrm>
            <a:off x="6903720" y="1600200"/>
            <a:ext cx="4736592" cy="365760"/>
          </a:xfrm>
          <a:prstGeom prst="rect">
            <a:avLst/>
          </a:prstGeom>
          <a:noFill/>
          <a:ln/>
        </p:spPr>
        <p:txBody>
          <a:bodyPr wrap="square" lIns="0" tIns="0" rIns="0" bIns="0" rtlCol="0" anchor="ctr"/>
          <a:lstStyle/>
          <a:p>
            <a:pPr marL="0" indent="0">
              <a:buNone/>
            </a:pPr>
            <a:r>
              <a:rPr lang="en-US" sz="1600" b="1" kern="0" spc="300" dirty="0">
                <a:solidFill>
                  <a:schemeClr val="bg2"/>
                </a:solidFill>
                <a:latin typeface="Barlow Condensed" pitchFamily="34" charset="0"/>
                <a:ea typeface="Barlow Condensed" pitchFamily="34" charset="-122"/>
                <a:cs typeface="Barlow Condensed" pitchFamily="34" charset="-120"/>
              </a:rPr>
              <a:t>SIX SERVICES, UNE CONNEXION</a:t>
            </a:r>
            <a:endParaRPr lang="en-US" sz="1600" dirty="0"/>
          </a:p>
        </p:txBody>
      </p:sp>
      <p:sp>
        <p:nvSpPr>
          <p:cNvPr id="40" name="Shape 38"/>
          <p:cNvSpPr/>
          <p:nvPr/>
        </p:nvSpPr>
        <p:spPr>
          <a:xfrm>
            <a:off x="6903720" y="2057400"/>
            <a:ext cx="4736592" cy="0"/>
          </a:xfrm>
          <a:prstGeom prst="line">
            <a:avLst/>
          </a:prstGeom>
          <a:noFill/>
          <a:ln w="12700">
            <a:solidFill>
              <a:schemeClr val="accent5"/>
            </a:solidFill>
            <a:prstDash val="solid"/>
          </a:ln>
        </p:spPr>
      </p:sp>
      <p:sp>
        <p:nvSpPr>
          <p:cNvPr id="41" name="Text 39"/>
          <p:cNvSpPr txBox="1"/>
          <p:nvPr/>
        </p:nvSpPr>
        <p:spPr>
          <a:xfrm>
            <a:off x="6903720" y="2112264"/>
            <a:ext cx="1554480" cy="438912"/>
          </a:xfrm>
          <a:prstGeom prst="rect">
            <a:avLst/>
          </a:prstGeom>
          <a:noFill/>
          <a:ln/>
        </p:spPr>
        <p:txBody>
          <a:bodyPr wrap="square" lIns="0" tIns="0" rIns="0" bIns="0" rtlCol="0" anchor="ctr"/>
          <a:lstStyle/>
          <a:p>
            <a:pPr marL="0" indent="0">
              <a:buNone/>
            </a:pPr>
            <a:r>
              <a:rPr lang="en-US" sz="1600" b="1" dirty="0">
                <a:solidFill>
                  <a:schemeClr val="bg1"/>
                </a:solidFill>
                <a:latin typeface="Barlow Condensed" pitchFamily="34" charset="0"/>
                <a:ea typeface="Barlow Condensed" pitchFamily="34" charset="-122"/>
                <a:cs typeface="Barlow Condensed" pitchFamily="34" charset="-120"/>
              </a:rPr>
              <a:t>PLANNER</a:t>
            </a:r>
            <a:endParaRPr lang="en-US" sz="1600" dirty="0"/>
          </a:p>
        </p:txBody>
      </p:sp>
      <p:sp>
        <p:nvSpPr>
          <p:cNvPr id="42" name="Text 40"/>
          <p:cNvSpPr txBox="1"/>
          <p:nvPr/>
        </p:nvSpPr>
        <p:spPr>
          <a:xfrm>
            <a:off x="8503920" y="2112264"/>
            <a:ext cx="2148840" cy="438912"/>
          </a:xfrm>
          <a:prstGeom prst="rect">
            <a:avLst/>
          </a:prstGeom>
          <a:noFill/>
          <a:ln/>
        </p:spPr>
        <p:txBody>
          <a:bodyPr wrap="square" lIns="0" tIns="0" rIns="0" bIns="0" rtlCol="0" anchor="ctr"/>
          <a:lstStyle/>
          <a:p>
            <a:pPr marL="0" indent="0">
              <a:buNone/>
            </a:pPr>
            <a:r>
              <a:rPr lang="en-US" sz="1300" dirty="0">
                <a:solidFill>
                  <a:schemeClr val="bg2"/>
                </a:solidFill>
                <a:latin typeface="Barlow" pitchFamily="34" charset="0"/>
                <a:ea typeface="Barlow" pitchFamily="34" charset="-122"/>
                <a:cs typeface="Barlow" pitchFamily="34" charset="-120"/>
              </a:rPr>
              <a:t>Node.js, API et règles</a:t>
            </a:r>
            <a:endParaRPr lang="en-US" sz="1300" dirty="0"/>
          </a:p>
        </p:txBody>
      </p:sp>
      <p:sp>
        <p:nvSpPr>
          <p:cNvPr id="43" name="Text 41"/>
          <p:cNvSpPr txBox="1"/>
          <p:nvPr/>
        </p:nvSpPr>
        <p:spPr>
          <a:xfrm>
            <a:off x="10607040" y="2112264"/>
            <a:ext cx="1033272" cy="438912"/>
          </a:xfrm>
          <a:prstGeom prst="rect">
            <a:avLst/>
          </a:prstGeom>
          <a:noFill/>
          <a:ln/>
        </p:spPr>
        <p:txBody>
          <a:bodyPr wrap="square" lIns="0" tIns="0" rIns="0" bIns="0" rtlCol="0" anchor="ctr"/>
          <a:lstStyle/>
          <a:p>
            <a:pPr marL="0" indent="0" algn="r">
              <a:buNone/>
            </a:pPr>
            <a:r>
              <a:rPr lang="en-US" sz="1300" b="1" kern="0" spc="100" dirty="0">
                <a:solidFill>
                  <a:schemeClr val="accent1"/>
                </a:solidFill>
                <a:latin typeface="Barlow Condensed" pitchFamily="34" charset="0"/>
                <a:ea typeface="Barlow Condensed" pitchFamily="34" charset="-122"/>
                <a:cs typeface="Barlow Condensed" pitchFamily="34" charset="-120"/>
              </a:rPr>
              <a:t>EN LIGNE</a:t>
            </a:r>
            <a:endParaRPr lang="en-US" sz="1300" dirty="0"/>
          </a:p>
        </p:txBody>
      </p:sp>
      <p:sp>
        <p:nvSpPr>
          <p:cNvPr id="44" name="Shape 42"/>
          <p:cNvSpPr/>
          <p:nvPr/>
        </p:nvSpPr>
        <p:spPr>
          <a:xfrm>
            <a:off x="6903720" y="2606040"/>
            <a:ext cx="4736592" cy="0"/>
          </a:xfrm>
          <a:prstGeom prst="line">
            <a:avLst/>
          </a:prstGeom>
          <a:noFill/>
          <a:ln w="12700">
            <a:solidFill>
              <a:schemeClr val="accent5"/>
            </a:solidFill>
            <a:prstDash val="solid"/>
          </a:ln>
        </p:spPr>
      </p:sp>
      <p:sp>
        <p:nvSpPr>
          <p:cNvPr id="45" name="Text 43"/>
          <p:cNvSpPr txBox="1"/>
          <p:nvPr/>
        </p:nvSpPr>
        <p:spPr>
          <a:xfrm>
            <a:off x="6903720" y="2660904"/>
            <a:ext cx="1554480" cy="438912"/>
          </a:xfrm>
          <a:prstGeom prst="rect">
            <a:avLst/>
          </a:prstGeom>
          <a:noFill/>
          <a:ln/>
        </p:spPr>
        <p:txBody>
          <a:bodyPr wrap="square" lIns="0" tIns="0" rIns="0" bIns="0" rtlCol="0" anchor="ctr"/>
          <a:lstStyle/>
          <a:p>
            <a:pPr marL="0" indent="0">
              <a:buNone/>
            </a:pPr>
            <a:r>
              <a:rPr lang="en-US" sz="1600" b="1" dirty="0">
                <a:solidFill>
                  <a:schemeClr val="bg1"/>
                </a:solidFill>
                <a:latin typeface="Barlow Condensed" pitchFamily="34" charset="0"/>
                <a:ea typeface="Barlow Condensed" pitchFamily="34" charset="-122"/>
                <a:cs typeface="Barlow Condensed" pitchFamily="34" charset="-120"/>
              </a:rPr>
              <a:t>WEB</a:t>
            </a:r>
            <a:endParaRPr lang="en-US" sz="1600" dirty="0"/>
          </a:p>
        </p:txBody>
      </p:sp>
      <p:sp>
        <p:nvSpPr>
          <p:cNvPr id="46" name="Text 44"/>
          <p:cNvSpPr txBox="1"/>
          <p:nvPr/>
        </p:nvSpPr>
        <p:spPr>
          <a:xfrm>
            <a:off x="8503920" y="2660904"/>
            <a:ext cx="2148840" cy="438912"/>
          </a:xfrm>
          <a:prstGeom prst="rect">
            <a:avLst/>
          </a:prstGeom>
          <a:noFill/>
          <a:ln/>
        </p:spPr>
        <p:txBody>
          <a:bodyPr wrap="square" lIns="0" tIns="0" rIns="0" bIns="0" rtlCol="0" anchor="ctr"/>
          <a:lstStyle/>
          <a:p>
            <a:pPr marL="0" indent="0">
              <a:buNone/>
            </a:pPr>
            <a:r>
              <a:rPr lang="en-US" sz="1300" dirty="0">
                <a:solidFill>
                  <a:schemeClr val="bg2"/>
                </a:solidFill>
                <a:latin typeface="Barlow" pitchFamily="34" charset="0"/>
                <a:ea typeface="Barlow" pitchFamily="34" charset="-122"/>
                <a:cs typeface="Barlow" pitchFamily="34" charset="-120"/>
              </a:rPr>
              <a:t>React, panneau des départs</a:t>
            </a:r>
            <a:endParaRPr lang="en-US" sz="1300" dirty="0"/>
          </a:p>
        </p:txBody>
      </p:sp>
      <p:sp>
        <p:nvSpPr>
          <p:cNvPr id="47" name="Text 45"/>
          <p:cNvSpPr txBox="1"/>
          <p:nvPr/>
        </p:nvSpPr>
        <p:spPr>
          <a:xfrm>
            <a:off x="10607040" y="2660904"/>
            <a:ext cx="1033272" cy="438912"/>
          </a:xfrm>
          <a:prstGeom prst="rect">
            <a:avLst/>
          </a:prstGeom>
          <a:noFill/>
          <a:ln/>
        </p:spPr>
        <p:txBody>
          <a:bodyPr wrap="square" lIns="0" tIns="0" rIns="0" bIns="0" rtlCol="0" anchor="ctr"/>
          <a:lstStyle/>
          <a:p>
            <a:pPr marL="0" indent="0" algn="r">
              <a:buNone/>
            </a:pPr>
            <a:r>
              <a:rPr lang="en-US" sz="1300" b="1" kern="0" spc="100" dirty="0">
                <a:solidFill>
                  <a:schemeClr val="accent1"/>
                </a:solidFill>
                <a:latin typeface="Barlow Condensed" pitchFamily="34" charset="0"/>
                <a:ea typeface="Barlow Condensed" pitchFamily="34" charset="-122"/>
                <a:cs typeface="Barlow Condensed" pitchFamily="34" charset="-120"/>
              </a:rPr>
              <a:t>EN LIGNE</a:t>
            </a:r>
            <a:endParaRPr lang="en-US" sz="1300" dirty="0"/>
          </a:p>
        </p:txBody>
      </p:sp>
      <p:sp>
        <p:nvSpPr>
          <p:cNvPr id="48" name="Shape 46"/>
          <p:cNvSpPr/>
          <p:nvPr/>
        </p:nvSpPr>
        <p:spPr>
          <a:xfrm>
            <a:off x="6903720" y="3154680"/>
            <a:ext cx="4736592" cy="0"/>
          </a:xfrm>
          <a:prstGeom prst="line">
            <a:avLst/>
          </a:prstGeom>
          <a:noFill/>
          <a:ln w="12700">
            <a:solidFill>
              <a:schemeClr val="accent5"/>
            </a:solidFill>
            <a:prstDash val="solid"/>
          </a:ln>
        </p:spPr>
      </p:sp>
      <p:sp>
        <p:nvSpPr>
          <p:cNvPr id="49" name="Text 47"/>
          <p:cNvSpPr txBox="1"/>
          <p:nvPr/>
        </p:nvSpPr>
        <p:spPr>
          <a:xfrm>
            <a:off x="6903720" y="3209544"/>
            <a:ext cx="1554480" cy="438912"/>
          </a:xfrm>
          <a:prstGeom prst="rect">
            <a:avLst/>
          </a:prstGeom>
          <a:noFill/>
          <a:ln/>
        </p:spPr>
        <p:txBody>
          <a:bodyPr wrap="square" lIns="0" tIns="0" rIns="0" bIns="0" rtlCol="0" anchor="ctr"/>
          <a:lstStyle/>
          <a:p>
            <a:pPr marL="0" indent="0">
              <a:buNone/>
            </a:pPr>
            <a:r>
              <a:rPr lang="en-US" sz="1600" b="1" dirty="0">
                <a:solidFill>
                  <a:schemeClr val="bg1"/>
                </a:solidFill>
                <a:latin typeface="Barlow Condensed" pitchFamily="34" charset="0"/>
                <a:ea typeface="Barlow Condensed" pitchFamily="34" charset="-122"/>
                <a:cs typeface="Barlow Condensed" pitchFamily="34" charset="-120"/>
              </a:rPr>
              <a:t>SOLVEUR</a:t>
            </a:r>
            <a:endParaRPr lang="en-US" sz="1600" dirty="0"/>
          </a:p>
        </p:txBody>
      </p:sp>
      <p:sp>
        <p:nvSpPr>
          <p:cNvPr id="50" name="Text 48"/>
          <p:cNvSpPr txBox="1"/>
          <p:nvPr/>
        </p:nvSpPr>
        <p:spPr>
          <a:xfrm>
            <a:off x="8503920" y="3209544"/>
            <a:ext cx="2148840" cy="438912"/>
          </a:xfrm>
          <a:prstGeom prst="rect">
            <a:avLst/>
          </a:prstGeom>
          <a:noFill/>
          <a:ln/>
        </p:spPr>
        <p:txBody>
          <a:bodyPr wrap="square" lIns="0" tIns="0" rIns="0" bIns="0" rtlCol="0" anchor="ctr"/>
          <a:lstStyle/>
          <a:p>
            <a:pPr marL="0" indent="0">
              <a:buNone/>
            </a:pPr>
            <a:r>
              <a:rPr lang="en-US" sz="1300" dirty="0">
                <a:solidFill>
                  <a:schemeClr val="bg2"/>
                </a:solidFill>
                <a:latin typeface="Barlow" pitchFamily="34" charset="0"/>
                <a:ea typeface="Barlow" pitchFamily="34" charset="-122"/>
                <a:cs typeface="Barlow" pitchFamily="34" charset="-120"/>
              </a:rPr>
              <a:t>Java, Timefold</a:t>
            </a:r>
            <a:endParaRPr lang="en-US" sz="1300" dirty="0"/>
          </a:p>
        </p:txBody>
      </p:sp>
      <p:sp>
        <p:nvSpPr>
          <p:cNvPr id="51" name="Text 49"/>
          <p:cNvSpPr txBox="1"/>
          <p:nvPr/>
        </p:nvSpPr>
        <p:spPr>
          <a:xfrm>
            <a:off x="10607040" y="3209544"/>
            <a:ext cx="1033272" cy="438912"/>
          </a:xfrm>
          <a:prstGeom prst="rect">
            <a:avLst/>
          </a:prstGeom>
          <a:noFill/>
          <a:ln/>
        </p:spPr>
        <p:txBody>
          <a:bodyPr wrap="square" lIns="0" tIns="0" rIns="0" bIns="0" rtlCol="0" anchor="ctr"/>
          <a:lstStyle/>
          <a:p>
            <a:pPr marL="0" indent="0" algn="r">
              <a:buNone/>
            </a:pPr>
            <a:r>
              <a:rPr lang="en-US" sz="1300" b="1" kern="0" spc="100" dirty="0">
                <a:solidFill>
                  <a:schemeClr val="accent1"/>
                </a:solidFill>
                <a:latin typeface="Barlow Condensed" pitchFamily="34" charset="0"/>
                <a:ea typeface="Barlow Condensed" pitchFamily="34" charset="-122"/>
                <a:cs typeface="Barlow Condensed" pitchFamily="34" charset="-120"/>
              </a:rPr>
              <a:t>EN LIGNE</a:t>
            </a:r>
            <a:endParaRPr lang="en-US" sz="1300" dirty="0"/>
          </a:p>
        </p:txBody>
      </p:sp>
      <p:sp>
        <p:nvSpPr>
          <p:cNvPr id="52" name="Shape 50"/>
          <p:cNvSpPr/>
          <p:nvPr/>
        </p:nvSpPr>
        <p:spPr>
          <a:xfrm>
            <a:off x="6903720" y="3703320"/>
            <a:ext cx="4736592" cy="0"/>
          </a:xfrm>
          <a:prstGeom prst="line">
            <a:avLst/>
          </a:prstGeom>
          <a:noFill/>
          <a:ln w="12700">
            <a:solidFill>
              <a:schemeClr val="accent5"/>
            </a:solidFill>
            <a:prstDash val="solid"/>
          </a:ln>
        </p:spPr>
      </p:sp>
      <p:sp>
        <p:nvSpPr>
          <p:cNvPr id="53" name="Text 51"/>
          <p:cNvSpPr txBox="1"/>
          <p:nvPr/>
        </p:nvSpPr>
        <p:spPr>
          <a:xfrm>
            <a:off x="6903720" y="3758184"/>
            <a:ext cx="1554480" cy="438912"/>
          </a:xfrm>
          <a:prstGeom prst="rect">
            <a:avLst/>
          </a:prstGeom>
          <a:noFill/>
          <a:ln/>
        </p:spPr>
        <p:txBody>
          <a:bodyPr wrap="square" lIns="0" tIns="0" rIns="0" bIns="0" rtlCol="0" anchor="ctr"/>
          <a:lstStyle/>
          <a:p>
            <a:pPr marL="0" indent="0">
              <a:buNone/>
            </a:pPr>
            <a:r>
              <a:rPr lang="en-US" sz="1600" b="1" dirty="0">
                <a:solidFill>
                  <a:schemeClr val="bg1"/>
                </a:solidFill>
                <a:latin typeface="Barlow Condensed" pitchFamily="34" charset="0"/>
                <a:ea typeface="Barlow Condensed" pitchFamily="34" charset="-122"/>
                <a:cs typeface="Barlow Condensed" pitchFamily="34" charset="-120"/>
              </a:rPr>
              <a:t>BIBLIOTHÈQUE</a:t>
            </a:r>
            <a:endParaRPr lang="en-US" sz="1600" dirty="0"/>
          </a:p>
        </p:txBody>
      </p:sp>
      <p:sp>
        <p:nvSpPr>
          <p:cNvPr id="54" name="Text 52"/>
          <p:cNvSpPr txBox="1"/>
          <p:nvPr/>
        </p:nvSpPr>
        <p:spPr>
          <a:xfrm>
            <a:off x="8503920" y="3758184"/>
            <a:ext cx="2148840" cy="438912"/>
          </a:xfrm>
          <a:prstGeom prst="rect">
            <a:avLst/>
          </a:prstGeom>
          <a:noFill/>
          <a:ln/>
        </p:spPr>
        <p:txBody>
          <a:bodyPr wrap="square" lIns="0" tIns="0" rIns="0" bIns="0" rtlCol="0" anchor="ctr"/>
          <a:lstStyle/>
          <a:p>
            <a:pPr marL="0" indent="0">
              <a:buNone/>
            </a:pPr>
            <a:r>
              <a:rPr lang="en-US" sz="1300" dirty="0">
                <a:solidFill>
                  <a:schemeClr val="bg2"/>
                </a:solidFill>
                <a:latin typeface="Barlow" pitchFamily="34" charset="0"/>
                <a:ea typeface="Barlow" pitchFamily="34" charset="-122"/>
                <a:cs typeface="Barlow" pitchFamily="34" charset="-120"/>
              </a:rPr>
              <a:t>Laravel (StudyLib)</a:t>
            </a:r>
            <a:endParaRPr lang="en-US" sz="1300" dirty="0"/>
          </a:p>
        </p:txBody>
      </p:sp>
      <p:sp>
        <p:nvSpPr>
          <p:cNvPr id="55" name="Text 53"/>
          <p:cNvSpPr txBox="1"/>
          <p:nvPr/>
        </p:nvSpPr>
        <p:spPr>
          <a:xfrm>
            <a:off x="10607040" y="3758184"/>
            <a:ext cx="1033272" cy="438912"/>
          </a:xfrm>
          <a:prstGeom prst="rect">
            <a:avLst/>
          </a:prstGeom>
          <a:noFill/>
          <a:ln/>
        </p:spPr>
        <p:txBody>
          <a:bodyPr wrap="square" lIns="0" tIns="0" rIns="0" bIns="0" rtlCol="0" anchor="ctr"/>
          <a:lstStyle/>
          <a:p>
            <a:pPr marL="0" indent="0" algn="r">
              <a:buNone/>
            </a:pPr>
            <a:r>
              <a:rPr lang="en-US" sz="1300" b="1" kern="0" spc="100" dirty="0">
                <a:solidFill>
                  <a:schemeClr val="accent1"/>
                </a:solidFill>
                <a:latin typeface="Barlow Condensed" pitchFamily="34" charset="0"/>
                <a:ea typeface="Barlow Condensed" pitchFamily="34" charset="-122"/>
                <a:cs typeface="Barlow Condensed" pitchFamily="34" charset="-120"/>
              </a:rPr>
              <a:t>EN LIGNE</a:t>
            </a:r>
            <a:endParaRPr lang="en-US" sz="1300" dirty="0"/>
          </a:p>
        </p:txBody>
      </p:sp>
      <p:sp>
        <p:nvSpPr>
          <p:cNvPr id="56" name="Shape 54"/>
          <p:cNvSpPr/>
          <p:nvPr/>
        </p:nvSpPr>
        <p:spPr>
          <a:xfrm>
            <a:off x="6903720" y="4251960"/>
            <a:ext cx="4736592" cy="0"/>
          </a:xfrm>
          <a:prstGeom prst="line">
            <a:avLst/>
          </a:prstGeom>
          <a:noFill/>
          <a:ln w="12700">
            <a:solidFill>
              <a:schemeClr val="accent5"/>
            </a:solidFill>
            <a:prstDash val="solid"/>
          </a:ln>
        </p:spPr>
      </p:sp>
      <p:sp>
        <p:nvSpPr>
          <p:cNvPr id="57" name="Text 55"/>
          <p:cNvSpPr txBox="1"/>
          <p:nvPr/>
        </p:nvSpPr>
        <p:spPr>
          <a:xfrm>
            <a:off x="6903720" y="4306824"/>
            <a:ext cx="1554480" cy="438912"/>
          </a:xfrm>
          <a:prstGeom prst="rect">
            <a:avLst/>
          </a:prstGeom>
          <a:noFill/>
          <a:ln/>
        </p:spPr>
        <p:txBody>
          <a:bodyPr wrap="square" lIns="0" tIns="0" rIns="0" bIns="0" rtlCol="0" anchor="ctr"/>
          <a:lstStyle/>
          <a:p>
            <a:pPr marL="0" indent="0">
              <a:buNone/>
            </a:pPr>
            <a:r>
              <a:rPr lang="en-US" sz="1600" b="1" dirty="0">
                <a:solidFill>
                  <a:schemeClr val="bg1"/>
                </a:solidFill>
                <a:latin typeface="Barlow Condensed" pitchFamily="34" charset="0"/>
                <a:ea typeface="Barlow Condensed" pitchFamily="34" charset="-122"/>
                <a:cs typeface="Barlow Condensed" pitchFamily="34" charset="-120"/>
              </a:rPr>
              <a:t>JEUX</a:t>
            </a:r>
            <a:endParaRPr lang="en-US" sz="1600" dirty="0"/>
          </a:p>
        </p:txBody>
      </p:sp>
      <p:sp>
        <p:nvSpPr>
          <p:cNvPr id="58" name="Text 56"/>
          <p:cNvSpPr txBox="1"/>
          <p:nvPr/>
        </p:nvSpPr>
        <p:spPr>
          <a:xfrm>
            <a:off x="8503920" y="4306824"/>
            <a:ext cx="2148840" cy="438912"/>
          </a:xfrm>
          <a:prstGeom prst="rect">
            <a:avLst/>
          </a:prstGeom>
          <a:noFill/>
          <a:ln/>
        </p:spPr>
        <p:txBody>
          <a:bodyPr wrap="square" lIns="0" tIns="0" rIns="0" bIns="0" rtlCol="0" anchor="ctr"/>
          <a:lstStyle/>
          <a:p>
            <a:pPr marL="0" indent="0">
              <a:buNone/>
            </a:pPr>
            <a:r>
              <a:rPr lang="en-US" sz="1300" dirty="0">
                <a:solidFill>
                  <a:schemeClr val="bg2"/>
                </a:solidFill>
                <a:latin typeface="Barlow" pitchFamily="34" charset="0"/>
                <a:ea typeface="Barlow" pitchFamily="34" charset="-122"/>
                <a:cs typeface="Barlow" pitchFamily="34" charset="-120"/>
              </a:rPr>
              <a:t>ClassQuiz, OpenID Connect</a:t>
            </a:r>
            <a:endParaRPr lang="en-US" sz="1300" dirty="0"/>
          </a:p>
        </p:txBody>
      </p:sp>
      <p:sp>
        <p:nvSpPr>
          <p:cNvPr id="59" name="Text 57"/>
          <p:cNvSpPr txBox="1"/>
          <p:nvPr/>
        </p:nvSpPr>
        <p:spPr>
          <a:xfrm>
            <a:off x="10607040" y="4306824"/>
            <a:ext cx="1033272" cy="438912"/>
          </a:xfrm>
          <a:prstGeom prst="rect">
            <a:avLst/>
          </a:prstGeom>
          <a:noFill/>
          <a:ln/>
        </p:spPr>
        <p:txBody>
          <a:bodyPr wrap="square" lIns="0" tIns="0" rIns="0" bIns="0" rtlCol="0" anchor="ctr"/>
          <a:lstStyle/>
          <a:p>
            <a:pPr marL="0" indent="0" algn="r">
              <a:buNone/>
            </a:pPr>
            <a:r>
              <a:rPr lang="en-US" sz="1300" b="1" kern="0" spc="100" dirty="0">
                <a:solidFill>
                  <a:schemeClr val="accent1"/>
                </a:solidFill>
                <a:latin typeface="Barlow Condensed" pitchFamily="34" charset="0"/>
                <a:ea typeface="Barlow Condensed" pitchFamily="34" charset="-122"/>
                <a:cs typeface="Barlow Condensed" pitchFamily="34" charset="-120"/>
              </a:rPr>
              <a:t>EN LIGNE</a:t>
            </a:r>
            <a:endParaRPr lang="en-US" sz="1300" dirty="0"/>
          </a:p>
        </p:txBody>
      </p:sp>
      <p:sp>
        <p:nvSpPr>
          <p:cNvPr id="60" name="Shape 58"/>
          <p:cNvSpPr/>
          <p:nvPr/>
        </p:nvSpPr>
        <p:spPr>
          <a:xfrm>
            <a:off x="6903720" y="4800600"/>
            <a:ext cx="4736592" cy="0"/>
          </a:xfrm>
          <a:prstGeom prst="line">
            <a:avLst/>
          </a:prstGeom>
          <a:noFill/>
          <a:ln w="12700">
            <a:solidFill>
              <a:schemeClr val="accent5"/>
            </a:solidFill>
            <a:prstDash val="solid"/>
          </a:ln>
        </p:spPr>
      </p:sp>
      <p:sp>
        <p:nvSpPr>
          <p:cNvPr id="61" name="Text 59"/>
          <p:cNvSpPr txBox="1"/>
          <p:nvPr/>
        </p:nvSpPr>
        <p:spPr>
          <a:xfrm>
            <a:off x="6903720" y="4855464"/>
            <a:ext cx="1554480" cy="438912"/>
          </a:xfrm>
          <a:prstGeom prst="rect">
            <a:avLst/>
          </a:prstGeom>
          <a:noFill/>
          <a:ln/>
        </p:spPr>
        <p:txBody>
          <a:bodyPr wrap="square" lIns="0" tIns="0" rIns="0" bIns="0" rtlCol="0" anchor="ctr"/>
          <a:lstStyle/>
          <a:p>
            <a:pPr marL="0" indent="0">
              <a:buNone/>
            </a:pPr>
            <a:r>
              <a:rPr lang="en-US" sz="1600" b="1" dirty="0">
                <a:solidFill>
                  <a:schemeClr val="bg1"/>
                </a:solidFill>
                <a:latin typeface="Barlow Condensed" pitchFamily="34" charset="0"/>
                <a:ea typeface="Barlow Condensed" pitchFamily="34" charset="-122"/>
                <a:cs typeface="Barlow Condensed" pitchFamily="34" charset="-120"/>
              </a:rPr>
              <a:t>MOBILE</a:t>
            </a:r>
            <a:endParaRPr lang="en-US" sz="1600" dirty="0"/>
          </a:p>
        </p:txBody>
      </p:sp>
      <p:sp>
        <p:nvSpPr>
          <p:cNvPr id="62" name="Text 60"/>
          <p:cNvSpPr txBox="1"/>
          <p:nvPr/>
        </p:nvSpPr>
        <p:spPr>
          <a:xfrm>
            <a:off x="8503920" y="4855464"/>
            <a:ext cx="2148840" cy="438912"/>
          </a:xfrm>
          <a:prstGeom prst="rect">
            <a:avLst/>
          </a:prstGeom>
          <a:noFill/>
          <a:ln/>
        </p:spPr>
        <p:txBody>
          <a:bodyPr wrap="square" lIns="0" tIns="0" rIns="0" bIns="0" rtlCol="0" anchor="ctr"/>
          <a:lstStyle/>
          <a:p>
            <a:pPr marL="0" indent="0">
              <a:buNone/>
            </a:pPr>
            <a:r>
              <a:rPr lang="en-US" sz="1300" dirty="0">
                <a:solidFill>
                  <a:schemeClr val="bg2"/>
                </a:solidFill>
                <a:latin typeface="Barlow" pitchFamily="34" charset="0"/>
                <a:ea typeface="Barlow" pitchFamily="34" charset="-122"/>
                <a:cs typeface="Barlow" pitchFamily="34" charset="-120"/>
              </a:rPr>
              <a:t>Expo, React Native</a:t>
            </a:r>
            <a:endParaRPr lang="en-US" sz="1300" dirty="0"/>
          </a:p>
        </p:txBody>
      </p:sp>
      <p:sp>
        <p:nvSpPr>
          <p:cNvPr id="63" name="Text 61"/>
          <p:cNvSpPr txBox="1"/>
          <p:nvPr/>
        </p:nvSpPr>
        <p:spPr>
          <a:xfrm>
            <a:off x="10607040" y="4855464"/>
            <a:ext cx="1033272" cy="438912"/>
          </a:xfrm>
          <a:prstGeom prst="rect">
            <a:avLst/>
          </a:prstGeom>
          <a:noFill/>
          <a:ln/>
        </p:spPr>
        <p:txBody>
          <a:bodyPr wrap="square" lIns="0" tIns="0" rIns="0" bIns="0" rtlCol="0" anchor="ctr"/>
          <a:lstStyle/>
          <a:p>
            <a:pPr marL="0" indent="0" algn="r">
              <a:buNone/>
            </a:pPr>
            <a:r>
              <a:rPr lang="en-US" sz="1300" b="1" kern="0" spc="100" dirty="0">
                <a:solidFill>
                  <a:schemeClr val="accent1"/>
                </a:solidFill>
                <a:latin typeface="Barlow Condensed" pitchFamily="34" charset="0"/>
                <a:ea typeface="Barlow Condensed" pitchFamily="34" charset="-122"/>
                <a:cs typeface="Barlow Condensed" pitchFamily="34" charset="-120"/>
              </a:rPr>
              <a:t>EN LIGNE</a:t>
            </a:r>
            <a:endParaRPr lang="en-US" sz="1300" dirty="0"/>
          </a:p>
        </p:txBody>
      </p:sp>
      <p:sp>
        <p:nvSpPr>
          <p:cNvPr id="64" name="adresse-case-0"/>
          <p:cNvSpPr/>
          <p:nvPr/>
        </p:nvSpPr>
        <p:spPr>
          <a:xfrm>
            <a:off x="548640" y="5596128"/>
            <a:ext cx="329184" cy="457200"/>
          </a:xfrm>
          <a:prstGeom prst="roundRect">
            <a:avLst>
              <a:gd name="adj" fmla="val 11111"/>
            </a:avLst>
          </a:prstGeom>
          <a:solidFill>
            <a:schemeClr val="accent4"/>
          </a:solidFill>
          <a:ln w="12700">
            <a:solidFill>
              <a:schemeClr val="accent4"/>
            </a:solidFill>
            <a:prstDash val="solid"/>
          </a:ln>
        </p:spPr>
      </p:sp>
      <p:sp>
        <p:nvSpPr>
          <p:cNvPr id="65" name="adresse-lettre-0"/>
          <p:cNvSpPr txBox="1"/>
          <p:nvPr/>
        </p:nvSpPr>
        <p:spPr>
          <a:xfrm>
            <a:off x="54864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P</a:t>
            </a:r>
            <a:endParaRPr lang="en-US" sz="2000" dirty="0"/>
          </a:p>
        </p:txBody>
      </p:sp>
      <p:sp>
        <p:nvSpPr>
          <p:cNvPr id="66" name="adresse-charniere-0"/>
          <p:cNvSpPr/>
          <p:nvPr/>
        </p:nvSpPr>
        <p:spPr>
          <a:xfrm>
            <a:off x="548640" y="5824728"/>
            <a:ext cx="329184" cy="0"/>
          </a:xfrm>
          <a:prstGeom prst="line">
            <a:avLst/>
          </a:prstGeom>
          <a:noFill/>
          <a:ln w="12700">
            <a:solidFill>
              <a:srgbClr val="000000"/>
            </a:solidFill>
            <a:prstDash val="solid"/>
          </a:ln>
        </p:spPr>
      </p:sp>
      <p:sp>
        <p:nvSpPr>
          <p:cNvPr id="67" name="adresse-case-1"/>
          <p:cNvSpPr/>
          <p:nvPr/>
        </p:nvSpPr>
        <p:spPr>
          <a:xfrm>
            <a:off x="914400" y="5596128"/>
            <a:ext cx="329184" cy="457200"/>
          </a:xfrm>
          <a:prstGeom prst="roundRect">
            <a:avLst>
              <a:gd name="adj" fmla="val 11111"/>
            </a:avLst>
          </a:prstGeom>
          <a:solidFill>
            <a:schemeClr val="accent4"/>
          </a:solidFill>
          <a:ln w="12700">
            <a:solidFill>
              <a:schemeClr val="accent4"/>
            </a:solidFill>
            <a:prstDash val="solid"/>
          </a:ln>
        </p:spPr>
      </p:sp>
      <p:sp>
        <p:nvSpPr>
          <p:cNvPr id="68" name="adresse-lettre-1"/>
          <p:cNvSpPr txBox="1"/>
          <p:nvPr/>
        </p:nvSpPr>
        <p:spPr>
          <a:xfrm>
            <a:off x="91440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L</a:t>
            </a:r>
            <a:endParaRPr lang="en-US" sz="2000" dirty="0"/>
          </a:p>
        </p:txBody>
      </p:sp>
      <p:sp>
        <p:nvSpPr>
          <p:cNvPr id="69" name="adresse-charniere-1"/>
          <p:cNvSpPr/>
          <p:nvPr/>
        </p:nvSpPr>
        <p:spPr>
          <a:xfrm>
            <a:off x="914400" y="5824728"/>
            <a:ext cx="329184" cy="0"/>
          </a:xfrm>
          <a:prstGeom prst="line">
            <a:avLst/>
          </a:prstGeom>
          <a:noFill/>
          <a:ln w="12700">
            <a:solidFill>
              <a:srgbClr val="000000"/>
            </a:solidFill>
            <a:prstDash val="solid"/>
          </a:ln>
        </p:spPr>
      </p:sp>
      <p:sp>
        <p:nvSpPr>
          <p:cNvPr id="70" name="adresse-case-2"/>
          <p:cNvSpPr/>
          <p:nvPr/>
        </p:nvSpPr>
        <p:spPr>
          <a:xfrm>
            <a:off x="1280160" y="5596128"/>
            <a:ext cx="329184" cy="457200"/>
          </a:xfrm>
          <a:prstGeom prst="roundRect">
            <a:avLst>
              <a:gd name="adj" fmla="val 11111"/>
            </a:avLst>
          </a:prstGeom>
          <a:solidFill>
            <a:schemeClr val="accent4"/>
          </a:solidFill>
          <a:ln w="12700">
            <a:solidFill>
              <a:schemeClr val="accent4"/>
            </a:solidFill>
            <a:prstDash val="solid"/>
          </a:ln>
        </p:spPr>
      </p:sp>
      <p:sp>
        <p:nvSpPr>
          <p:cNvPr id="71" name="adresse-lettre-2"/>
          <p:cNvSpPr txBox="1"/>
          <p:nvPr/>
        </p:nvSpPr>
        <p:spPr>
          <a:xfrm>
            <a:off x="128016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A</a:t>
            </a:r>
            <a:endParaRPr lang="en-US" sz="2000" dirty="0"/>
          </a:p>
        </p:txBody>
      </p:sp>
      <p:sp>
        <p:nvSpPr>
          <p:cNvPr id="72" name="adresse-charniere-2"/>
          <p:cNvSpPr/>
          <p:nvPr/>
        </p:nvSpPr>
        <p:spPr>
          <a:xfrm>
            <a:off x="1280160" y="5824728"/>
            <a:ext cx="329184" cy="0"/>
          </a:xfrm>
          <a:prstGeom prst="line">
            <a:avLst/>
          </a:prstGeom>
          <a:noFill/>
          <a:ln w="12700">
            <a:solidFill>
              <a:srgbClr val="000000"/>
            </a:solidFill>
            <a:prstDash val="solid"/>
          </a:ln>
        </p:spPr>
      </p:sp>
      <p:sp>
        <p:nvSpPr>
          <p:cNvPr id="73" name="adresse-case-3"/>
          <p:cNvSpPr/>
          <p:nvPr/>
        </p:nvSpPr>
        <p:spPr>
          <a:xfrm>
            <a:off x="1645920" y="5596128"/>
            <a:ext cx="329184" cy="457200"/>
          </a:xfrm>
          <a:prstGeom prst="roundRect">
            <a:avLst>
              <a:gd name="adj" fmla="val 11111"/>
            </a:avLst>
          </a:prstGeom>
          <a:solidFill>
            <a:schemeClr val="accent4"/>
          </a:solidFill>
          <a:ln w="12700">
            <a:solidFill>
              <a:schemeClr val="accent4"/>
            </a:solidFill>
            <a:prstDash val="solid"/>
          </a:ln>
        </p:spPr>
      </p:sp>
      <p:sp>
        <p:nvSpPr>
          <p:cNvPr id="74" name="adresse-lettre-3"/>
          <p:cNvSpPr txBox="1"/>
          <p:nvPr/>
        </p:nvSpPr>
        <p:spPr>
          <a:xfrm>
            <a:off x="164592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N</a:t>
            </a:r>
            <a:endParaRPr lang="en-US" sz="2000" dirty="0"/>
          </a:p>
        </p:txBody>
      </p:sp>
      <p:sp>
        <p:nvSpPr>
          <p:cNvPr id="75" name="adresse-charniere-3"/>
          <p:cNvSpPr/>
          <p:nvPr/>
        </p:nvSpPr>
        <p:spPr>
          <a:xfrm>
            <a:off x="1645920" y="5824728"/>
            <a:ext cx="329184" cy="0"/>
          </a:xfrm>
          <a:prstGeom prst="line">
            <a:avLst/>
          </a:prstGeom>
          <a:noFill/>
          <a:ln w="12700">
            <a:solidFill>
              <a:srgbClr val="000000"/>
            </a:solidFill>
            <a:prstDash val="solid"/>
          </a:ln>
        </p:spPr>
      </p:sp>
      <p:sp>
        <p:nvSpPr>
          <p:cNvPr id="76" name="adresse-case-4"/>
          <p:cNvSpPr/>
          <p:nvPr/>
        </p:nvSpPr>
        <p:spPr>
          <a:xfrm>
            <a:off x="2011680" y="5596128"/>
            <a:ext cx="329184" cy="457200"/>
          </a:xfrm>
          <a:prstGeom prst="roundRect">
            <a:avLst>
              <a:gd name="adj" fmla="val 11111"/>
            </a:avLst>
          </a:prstGeom>
          <a:solidFill>
            <a:schemeClr val="accent4"/>
          </a:solidFill>
          <a:ln w="12700">
            <a:solidFill>
              <a:schemeClr val="accent4"/>
            </a:solidFill>
            <a:prstDash val="solid"/>
          </a:ln>
        </p:spPr>
      </p:sp>
      <p:sp>
        <p:nvSpPr>
          <p:cNvPr id="77" name="adresse-lettre-4"/>
          <p:cNvSpPr txBox="1"/>
          <p:nvPr/>
        </p:nvSpPr>
        <p:spPr>
          <a:xfrm>
            <a:off x="201168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N</a:t>
            </a:r>
            <a:endParaRPr lang="en-US" sz="2000" dirty="0"/>
          </a:p>
        </p:txBody>
      </p:sp>
      <p:sp>
        <p:nvSpPr>
          <p:cNvPr id="78" name="adresse-charniere-4"/>
          <p:cNvSpPr/>
          <p:nvPr/>
        </p:nvSpPr>
        <p:spPr>
          <a:xfrm>
            <a:off x="2011680" y="5824728"/>
            <a:ext cx="329184" cy="0"/>
          </a:xfrm>
          <a:prstGeom prst="line">
            <a:avLst/>
          </a:prstGeom>
          <a:noFill/>
          <a:ln w="12700">
            <a:solidFill>
              <a:srgbClr val="000000"/>
            </a:solidFill>
            <a:prstDash val="solid"/>
          </a:ln>
        </p:spPr>
      </p:sp>
      <p:sp>
        <p:nvSpPr>
          <p:cNvPr id="79" name="adresse-case-5"/>
          <p:cNvSpPr/>
          <p:nvPr/>
        </p:nvSpPr>
        <p:spPr>
          <a:xfrm>
            <a:off x="2377440" y="5596128"/>
            <a:ext cx="329184" cy="457200"/>
          </a:xfrm>
          <a:prstGeom prst="roundRect">
            <a:avLst>
              <a:gd name="adj" fmla="val 11111"/>
            </a:avLst>
          </a:prstGeom>
          <a:solidFill>
            <a:schemeClr val="accent4"/>
          </a:solidFill>
          <a:ln w="12700">
            <a:solidFill>
              <a:schemeClr val="accent4"/>
            </a:solidFill>
            <a:prstDash val="solid"/>
          </a:ln>
        </p:spPr>
      </p:sp>
      <p:sp>
        <p:nvSpPr>
          <p:cNvPr id="80" name="adresse-lettre-5"/>
          <p:cNvSpPr txBox="1"/>
          <p:nvPr/>
        </p:nvSpPr>
        <p:spPr>
          <a:xfrm>
            <a:off x="237744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E</a:t>
            </a:r>
            <a:endParaRPr lang="en-US" sz="2000" dirty="0"/>
          </a:p>
        </p:txBody>
      </p:sp>
      <p:sp>
        <p:nvSpPr>
          <p:cNvPr id="81" name="adresse-charniere-5"/>
          <p:cNvSpPr/>
          <p:nvPr/>
        </p:nvSpPr>
        <p:spPr>
          <a:xfrm>
            <a:off x="2377440" y="5824728"/>
            <a:ext cx="329184" cy="0"/>
          </a:xfrm>
          <a:prstGeom prst="line">
            <a:avLst/>
          </a:prstGeom>
          <a:noFill/>
          <a:ln w="12700">
            <a:solidFill>
              <a:srgbClr val="000000"/>
            </a:solidFill>
            <a:prstDash val="solid"/>
          </a:ln>
        </p:spPr>
      </p:sp>
      <p:sp>
        <p:nvSpPr>
          <p:cNvPr id="82" name="adresse-case-6"/>
          <p:cNvSpPr/>
          <p:nvPr/>
        </p:nvSpPr>
        <p:spPr>
          <a:xfrm>
            <a:off x="2743200" y="5596128"/>
            <a:ext cx="329184" cy="457200"/>
          </a:xfrm>
          <a:prstGeom prst="roundRect">
            <a:avLst>
              <a:gd name="adj" fmla="val 11111"/>
            </a:avLst>
          </a:prstGeom>
          <a:solidFill>
            <a:schemeClr val="accent4"/>
          </a:solidFill>
          <a:ln w="12700">
            <a:solidFill>
              <a:schemeClr val="accent4"/>
            </a:solidFill>
            <a:prstDash val="solid"/>
          </a:ln>
        </p:spPr>
      </p:sp>
      <p:sp>
        <p:nvSpPr>
          <p:cNvPr id="83" name="adresse-lettre-6"/>
          <p:cNvSpPr txBox="1"/>
          <p:nvPr/>
        </p:nvSpPr>
        <p:spPr>
          <a:xfrm>
            <a:off x="274320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R</a:t>
            </a:r>
            <a:endParaRPr lang="en-US" sz="2000" dirty="0"/>
          </a:p>
        </p:txBody>
      </p:sp>
      <p:sp>
        <p:nvSpPr>
          <p:cNvPr id="84" name="adresse-charniere-6"/>
          <p:cNvSpPr/>
          <p:nvPr/>
        </p:nvSpPr>
        <p:spPr>
          <a:xfrm>
            <a:off x="2743200" y="5824728"/>
            <a:ext cx="329184" cy="0"/>
          </a:xfrm>
          <a:prstGeom prst="line">
            <a:avLst/>
          </a:prstGeom>
          <a:noFill/>
          <a:ln w="12700">
            <a:solidFill>
              <a:srgbClr val="000000"/>
            </a:solidFill>
            <a:prstDash val="solid"/>
          </a:ln>
        </p:spPr>
      </p:sp>
      <p:sp>
        <p:nvSpPr>
          <p:cNvPr id="85" name="adresse-case-7"/>
          <p:cNvSpPr/>
          <p:nvPr/>
        </p:nvSpPr>
        <p:spPr>
          <a:xfrm>
            <a:off x="3108960" y="5596128"/>
            <a:ext cx="329184" cy="457200"/>
          </a:xfrm>
          <a:prstGeom prst="roundRect">
            <a:avLst>
              <a:gd name="adj" fmla="val 11111"/>
            </a:avLst>
          </a:prstGeom>
          <a:solidFill>
            <a:schemeClr val="accent4"/>
          </a:solidFill>
          <a:ln w="12700">
            <a:solidFill>
              <a:schemeClr val="accent4"/>
            </a:solidFill>
            <a:prstDash val="solid"/>
          </a:ln>
        </p:spPr>
      </p:sp>
      <p:sp>
        <p:nvSpPr>
          <p:cNvPr id="86" name="adresse-lettre-7"/>
          <p:cNvSpPr txBox="1"/>
          <p:nvPr/>
        </p:nvSpPr>
        <p:spPr>
          <a:xfrm>
            <a:off x="310896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a:t>
            </a:r>
            <a:endParaRPr lang="en-US" sz="2000" dirty="0"/>
          </a:p>
        </p:txBody>
      </p:sp>
      <p:sp>
        <p:nvSpPr>
          <p:cNvPr id="87" name="adresse-charniere-7"/>
          <p:cNvSpPr/>
          <p:nvPr/>
        </p:nvSpPr>
        <p:spPr>
          <a:xfrm>
            <a:off x="3108960" y="5824728"/>
            <a:ext cx="329184" cy="0"/>
          </a:xfrm>
          <a:prstGeom prst="line">
            <a:avLst/>
          </a:prstGeom>
          <a:noFill/>
          <a:ln w="12700">
            <a:solidFill>
              <a:srgbClr val="000000"/>
            </a:solidFill>
            <a:prstDash val="solid"/>
          </a:ln>
        </p:spPr>
      </p:sp>
      <p:sp>
        <p:nvSpPr>
          <p:cNvPr id="88" name="adresse-case-8"/>
          <p:cNvSpPr/>
          <p:nvPr/>
        </p:nvSpPr>
        <p:spPr>
          <a:xfrm>
            <a:off x="3474720" y="5596128"/>
            <a:ext cx="329184" cy="457200"/>
          </a:xfrm>
          <a:prstGeom prst="roundRect">
            <a:avLst>
              <a:gd name="adj" fmla="val 11111"/>
            </a:avLst>
          </a:prstGeom>
          <a:solidFill>
            <a:schemeClr val="accent4"/>
          </a:solidFill>
          <a:ln w="12700">
            <a:solidFill>
              <a:schemeClr val="accent4"/>
            </a:solidFill>
            <a:prstDash val="solid"/>
          </a:ln>
        </p:spPr>
      </p:sp>
      <p:sp>
        <p:nvSpPr>
          <p:cNvPr id="89" name="adresse-lettre-8"/>
          <p:cNvSpPr txBox="1"/>
          <p:nvPr/>
        </p:nvSpPr>
        <p:spPr>
          <a:xfrm>
            <a:off x="347472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F</a:t>
            </a:r>
            <a:endParaRPr lang="en-US" sz="2000" dirty="0"/>
          </a:p>
        </p:txBody>
      </p:sp>
      <p:sp>
        <p:nvSpPr>
          <p:cNvPr id="90" name="adresse-charniere-8"/>
          <p:cNvSpPr/>
          <p:nvPr/>
        </p:nvSpPr>
        <p:spPr>
          <a:xfrm>
            <a:off x="3474720" y="5824728"/>
            <a:ext cx="329184" cy="0"/>
          </a:xfrm>
          <a:prstGeom prst="line">
            <a:avLst/>
          </a:prstGeom>
          <a:noFill/>
          <a:ln w="12700">
            <a:solidFill>
              <a:srgbClr val="000000"/>
            </a:solidFill>
            <a:prstDash val="solid"/>
          </a:ln>
        </p:spPr>
      </p:sp>
      <p:sp>
        <p:nvSpPr>
          <p:cNvPr id="91" name="adresse-case-9"/>
          <p:cNvSpPr/>
          <p:nvPr/>
        </p:nvSpPr>
        <p:spPr>
          <a:xfrm>
            <a:off x="3840480" y="5596128"/>
            <a:ext cx="329184" cy="457200"/>
          </a:xfrm>
          <a:prstGeom prst="roundRect">
            <a:avLst>
              <a:gd name="adj" fmla="val 11111"/>
            </a:avLst>
          </a:prstGeom>
          <a:solidFill>
            <a:schemeClr val="accent4"/>
          </a:solidFill>
          <a:ln w="12700">
            <a:solidFill>
              <a:schemeClr val="accent4"/>
            </a:solidFill>
            <a:prstDash val="solid"/>
          </a:ln>
        </p:spPr>
      </p:sp>
      <p:sp>
        <p:nvSpPr>
          <p:cNvPr id="92" name="adresse-lettre-9"/>
          <p:cNvSpPr txBox="1"/>
          <p:nvPr/>
        </p:nvSpPr>
        <p:spPr>
          <a:xfrm>
            <a:off x="384048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I</a:t>
            </a:r>
            <a:endParaRPr lang="en-US" sz="2000" dirty="0"/>
          </a:p>
        </p:txBody>
      </p:sp>
      <p:sp>
        <p:nvSpPr>
          <p:cNvPr id="93" name="adresse-charniere-9"/>
          <p:cNvSpPr/>
          <p:nvPr/>
        </p:nvSpPr>
        <p:spPr>
          <a:xfrm>
            <a:off x="3840480" y="5824728"/>
            <a:ext cx="329184" cy="0"/>
          </a:xfrm>
          <a:prstGeom prst="line">
            <a:avLst/>
          </a:prstGeom>
          <a:noFill/>
          <a:ln w="12700">
            <a:solidFill>
              <a:srgbClr val="000000"/>
            </a:solidFill>
            <a:prstDash val="solid"/>
          </a:ln>
        </p:spPr>
      </p:sp>
      <p:sp>
        <p:nvSpPr>
          <p:cNvPr id="94" name="adresse-case-10"/>
          <p:cNvSpPr/>
          <p:nvPr/>
        </p:nvSpPr>
        <p:spPr>
          <a:xfrm>
            <a:off x="4206240" y="5596128"/>
            <a:ext cx="329184" cy="457200"/>
          </a:xfrm>
          <a:prstGeom prst="roundRect">
            <a:avLst>
              <a:gd name="adj" fmla="val 11111"/>
            </a:avLst>
          </a:prstGeom>
          <a:solidFill>
            <a:schemeClr val="accent4"/>
          </a:solidFill>
          <a:ln w="12700">
            <a:solidFill>
              <a:schemeClr val="accent4"/>
            </a:solidFill>
            <a:prstDash val="solid"/>
          </a:ln>
        </p:spPr>
      </p:sp>
      <p:sp>
        <p:nvSpPr>
          <p:cNvPr id="95" name="adresse-lettre-10"/>
          <p:cNvSpPr txBox="1"/>
          <p:nvPr/>
        </p:nvSpPr>
        <p:spPr>
          <a:xfrm>
            <a:off x="420624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N</a:t>
            </a:r>
            <a:endParaRPr lang="en-US" sz="2000" dirty="0"/>
          </a:p>
        </p:txBody>
      </p:sp>
      <p:sp>
        <p:nvSpPr>
          <p:cNvPr id="96" name="adresse-charniere-10"/>
          <p:cNvSpPr/>
          <p:nvPr/>
        </p:nvSpPr>
        <p:spPr>
          <a:xfrm>
            <a:off x="4206240" y="5824728"/>
            <a:ext cx="329184" cy="0"/>
          </a:xfrm>
          <a:prstGeom prst="line">
            <a:avLst/>
          </a:prstGeom>
          <a:noFill/>
          <a:ln w="12700">
            <a:solidFill>
              <a:srgbClr val="000000"/>
            </a:solidFill>
            <a:prstDash val="solid"/>
          </a:ln>
        </p:spPr>
      </p:sp>
      <p:sp>
        <p:nvSpPr>
          <p:cNvPr id="97" name="adresse-case-11"/>
          <p:cNvSpPr/>
          <p:nvPr/>
        </p:nvSpPr>
        <p:spPr>
          <a:xfrm>
            <a:off x="4572000" y="5596128"/>
            <a:ext cx="329184" cy="457200"/>
          </a:xfrm>
          <a:prstGeom prst="roundRect">
            <a:avLst>
              <a:gd name="adj" fmla="val 11111"/>
            </a:avLst>
          </a:prstGeom>
          <a:solidFill>
            <a:schemeClr val="accent4"/>
          </a:solidFill>
          <a:ln w="12700">
            <a:solidFill>
              <a:schemeClr val="accent4"/>
            </a:solidFill>
            <a:prstDash val="solid"/>
          </a:ln>
        </p:spPr>
      </p:sp>
      <p:sp>
        <p:nvSpPr>
          <p:cNvPr id="98" name="adresse-lettre-11"/>
          <p:cNvSpPr txBox="1"/>
          <p:nvPr/>
        </p:nvSpPr>
        <p:spPr>
          <a:xfrm>
            <a:off x="457200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A</a:t>
            </a:r>
            <a:endParaRPr lang="en-US" sz="2000" dirty="0"/>
          </a:p>
        </p:txBody>
      </p:sp>
      <p:sp>
        <p:nvSpPr>
          <p:cNvPr id="99" name="adresse-charniere-11"/>
          <p:cNvSpPr/>
          <p:nvPr/>
        </p:nvSpPr>
        <p:spPr>
          <a:xfrm>
            <a:off x="4572000" y="5824728"/>
            <a:ext cx="329184" cy="0"/>
          </a:xfrm>
          <a:prstGeom prst="line">
            <a:avLst/>
          </a:prstGeom>
          <a:noFill/>
          <a:ln w="12700">
            <a:solidFill>
              <a:srgbClr val="000000"/>
            </a:solidFill>
            <a:prstDash val="solid"/>
          </a:ln>
        </p:spPr>
      </p:sp>
      <p:sp>
        <p:nvSpPr>
          <p:cNvPr id="100" name="adresse-case-12"/>
          <p:cNvSpPr/>
          <p:nvPr/>
        </p:nvSpPr>
        <p:spPr>
          <a:xfrm>
            <a:off x="4937760" y="5596128"/>
            <a:ext cx="329184" cy="457200"/>
          </a:xfrm>
          <a:prstGeom prst="roundRect">
            <a:avLst>
              <a:gd name="adj" fmla="val 11111"/>
            </a:avLst>
          </a:prstGeom>
          <a:solidFill>
            <a:schemeClr val="accent4"/>
          </a:solidFill>
          <a:ln w="12700">
            <a:solidFill>
              <a:schemeClr val="accent4"/>
            </a:solidFill>
            <a:prstDash val="solid"/>
          </a:ln>
        </p:spPr>
      </p:sp>
      <p:sp>
        <p:nvSpPr>
          <p:cNvPr id="101" name="adresse-lettre-12"/>
          <p:cNvSpPr txBox="1"/>
          <p:nvPr/>
        </p:nvSpPr>
        <p:spPr>
          <a:xfrm>
            <a:off x="493776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D</a:t>
            </a:r>
            <a:endParaRPr lang="en-US" sz="2000" dirty="0"/>
          </a:p>
        </p:txBody>
      </p:sp>
      <p:sp>
        <p:nvSpPr>
          <p:cNvPr id="102" name="adresse-charniere-12"/>
          <p:cNvSpPr/>
          <p:nvPr/>
        </p:nvSpPr>
        <p:spPr>
          <a:xfrm>
            <a:off x="4937760" y="5824728"/>
            <a:ext cx="329184" cy="0"/>
          </a:xfrm>
          <a:prstGeom prst="line">
            <a:avLst/>
          </a:prstGeom>
          <a:noFill/>
          <a:ln w="12700">
            <a:solidFill>
              <a:srgbClr val="000000"/>
            </a:solidFill>
            <a:prstDash val="solid"/>
          </a:ln>
        </p:spPr>
      </p:sp>
      <p:sp>
        <p:nvSpPr>
          <p:cNvPr id="103" name="adresse-case-13"/>
          <p:cNvSpPr/>
          <p:nvPr/>
        </p:nvSpPr>
        <p:spPr>
          <a:xfrm>
            <a:off x="5303520" y="5596128"/>
            <a:ext cx="329184" cy="457200"/>
          </a:xfrm>
          <a:prstGeom prst="roundRect">
            <a:avLst>
              <a:gd name="adj" fmla="val 11111"/>
            </a:avLst>
          </a:prstGeom>
          <a:solidFill>
            <a:schemeClr val="accent4"/>
          </a:solidFill>
          <a:ln w="12700">
            <a:solidFill>
              <a:schemeClr val="accent4"/>
            </a:solidFill>
            <a:prstDash val="solid"/>
          </a:ln>
        </p:spPr>
      </p:sp>
      <p:sp>
        <p:nvSpPr>
          <p:cNvPr id="104" name="adresse-lettre-13"/>
          <p:cNvSpPr txBox="1"/>
          <p:nvPr/>
        </p:nvSpPr>
        <p:spPr>
          <a:xfrm>
            <a:off x="530352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M</a:t>
            </a:r>
            <a:endParaRPr lang="en-US" sz="2000" dirty="0"/>
          </a:p>
        </p:txBody>
      </p:sp>
      <p:sp>
        <p:nvSpPr>
          <p:cNvPr id="105" name="adresse-charniere-13"/>
          <p:cNvSpPr/>
          <p:nvPr/>
        </p:nvSpPr>
        <p:spPr>
          <a:xfrm>
            <a:off x="5303520" y="5824728"/>
            <a:ext cx="329184" cy="0"/>
          </a:xfrm>
          <a:prstGeom prst="line">
            <a:avLst/>
          </a:prstGeom>
          <a:noFill/>
          <a:ln w="12700">
            <a:solidFill>
              <a:srgbClr val="000000"/>
            </a:solidFill>
            <a:prstDash val="solid"/>
          </a:ln>
        </p:spPr>
      </p:sp>
      <p:sp>
        <p:nvSpPr>
          <p:cNvPr id="106" name="adresse-case-14"/>
          <p:cNvSpPr/>
          <p:nvPr/>
        </p:nvSpPr>
        <p:spPr>
          <a:xfrm>
            <a:off x="5669280" y="5596128"/>
            <a:ext cx="329184" cy="457200"/>
          </a:xfrm>
          <a:prstGeom prst="roundRect">
            <a:avLst>
              <a:gd name="adj" fmla="val 11111"/>
            </a:avLst>
          </a:prstGeom>
          <a:solidFill>
            <a:schemeClr val="accent4"/>
          </a:solidFill>
          <a:ln w="12700">
            <a:solidFill>
              <a:schemeClr val="accent4"/>
            </a:solidFill>
            <a:prstDash val="solid"/>
          </a:ln>
        </p:spPr>
      </p:sp>
      <p:sp>
        <p:nvSpPr>
          <p:cNvPr id="107" name="adresse-lettre-14"/>
          <p:cNvSpPr txBox="1"/>
          <p:nvPr/>
        </p:nvSpPr>
        <p:spPr>
          <a:xfrm>
            <a:off x="566928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I</a:t>
            </a:r>
            <a:endParaRPr lang="en-US" sz="2000" dirty="0"/>
          </a:p>
        </p:txBody>
      </p:sp>
      <p:sp>
        <p:nvSpPr>
          <p:cNvPr id="108" name="adresse-charniere-14"/>
          <p:cNvSpPr/>
          <p:nvPr/>
        </p:nvSpPr>
        <p:spPr>
          <a:xfrm>
            <a:off x="5669280" y="5824728"/>
            <a:ext cx="329184" cy="0"/>
          </a:xfrm>
          <a:prstGeom prst="line">
            <a:avLst/>
          </a:prstGeom>
          <a:noFill/>
          <a:ln w="12700">
            <a:solidFill>
              <a:srgbClr val="000000"/>
            </a:solidFill>
            <a:prstDash val="solid"/>
          </a:ln>
        </p:spPr>
      </p:sp>
      <p:sp>
        <p:nvSpPr>
          <p:cNvPr id="109" name="adresse-case-15"/>
          <p:cNvSpPr/>
          <p:nvPr/>
        </p:nvSpPr>
        <p:spPr>
          <a:xfrm>
            <a:off x="6035040" y="5596128"/>
            <a:ext cx="329184" cy="457200"/>
          </a:xfrm>
          <a:prstGeom prst="roundRect">
            <a:avLst>
              <a:gd name="adj" fmla="val 11111"/>
            </a:avLst>
          </a:prstGeom>
          <a:solidFill>
            <a:schemeClr val="accent4"/>
          </a:solidFill>
          <a:ln w="12700">
            <a:solidFill>
              <a:schemeClr val="accent4"/>
            </a:solidFill>
            <a:prstDash val="solid"/>
          </a:ln>
        </p:spPr>
      </p:sp>
      <p:sp>
        <p:nvSpPr>
          <p:cNvPr id="110" name="adresse-lettre-15"/>
          <p:cNvSpPr txBox="1"/>
          <p:nvPr/>
        </p:nvSpPr>
        <p:spPr>
          <a:xfrm>
            <a:off x="603504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N</a:t>
            </a:r>
            <a:endParaRPr lang="en-US" sz="2000" dirty="0"/>
          </a:p>
        </p:txBody>
      </p:sp>
      <p:sp>
        <p:nvSpPr>
          <p:cNvPr id="111" name="adresse-charniere-15"/>
          <p:cNvSpPr/>
          <p:nvPr/>
        </p:nvSpPr>
        <p:spPr>
          <a:xfrm>
            <a:off x="6035040" y="5824728"/>
            <a:ext cx="329184" cy="0"/>
          </a:xfrm>
          <a:prstGeom prst="line">
            <a:avLst/>
          </a:prstGeom>
          <a:noFill/>
          <a:ln w="12700">
            <a:solidFill>
              <a:srgbClr val="000000"/>
            </a:solidFill>
            <a:prstDash val="solid"/>
          </a:ln>
        </p:spPr>
      </p:sp>
      <p:sp>
        <p:nvSpPr>
          <p:cNvPr id="112" name="adresse-case-16"/>
          <p:cNvSpPr/>
          <p:nvPr/>
        </p:nvSpPr>
        <p:spPr>
          <a:xfrm>
            <a:off x="6400800" y="5596128"/>
            <a:ext cx="329184" cy="457200"/>
          </a:xfrm>
          <a:prstGeom prst="roundRect">
            <a:avLst>
              <a:gd name="adj" fmla="val 11111"/>
            </a:avLst>
          </a:prstGeom>
          <a:solidFill>
            <a:schemeClr val="accent4"/>
          </a:solidFill>
          <a:ln w="12700">
            <a:solidFill>
              <a:schemeClr val="accent4"/>
            </a:solidFill>
            <a:prstDash val="solid"/>
          </a:ln>
        </p:spPr>
      </p:sp>
      <p:sp>
        <p:nvSpPr>
          <p:cNvPr id="113" name="adresse-lettre-16"/>
          <p:cNvSpPr txBox="1"/>
          <p:nvPr/>
        </p:nvSpPr>
        <p:spPr>
          <a:xfrm>
            <a:off x="640080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T</a:t>
            </a:r>
            <a:endParaRPr lang="en-US" sz="2000" dirty="0"/>
          </a:p>
        </p:txBody>
      </p:sp>
      <p:sp>
        <p:nvSpPr>
          <p:cNvPr id="114" name="adresse-charniere-16"/>
          <p:cNvSpPr/>
          <p:nvPr/>
        </p:nvSpPr>
        <p:spPr>
          <a:xfrm>
            <a:off x="6400800" y="5824728"/>
            <a:ext cx="329184" cy="0"/>
          </a:xfrm>
          <a:prstGeom prst="line">
            <a:avLst/>
          </a:prstGeom>
          <a:noFill/>
          <a:ln w="12700">
            <a:solidFill>
              <a:srgbClr val="000000"/>
            </a:solidFill>
            <a:prstDash val="solid"/>
          </a:ln>
        </p:spPr>
      </p:sp>
      <p:sp>
        <p:nvSpPr>
          <p:cNvPr id="115" name="adresse-case-17"/>
          <p:cNvSpPr/>
          <p:nvPr/>
        </p:nvSpPr>
        <p:spPr>
          <a:xfrm>
            <a:off x="6766560" y="5596128"/>
            <a:ext cx="329184" cy="457200"/>
          </a:xfrm>
          <a:prstGeom prst="roundRect">
            <a:avLst>
              <a:gd name="adj" fmla="val 11111"/>
            </a:avLst>
          </a:prstGeom>
          <a:solidFill>
            <a:schemeClr val="accent4"/>
          </a:solidFill>
          <a:ln w="12700">
            <a:solidFill>
              <a:schemeClr val="accent4"/>
            </a:solidFill>
            <a:prstDash val="solid"/>
          </a:ln>
        </p:spPr>
      </p:sp>
      <p:sp>
        <p:nvSpPr>
          <p:cNvPr id="116" name="adresse-lettre-17"/>
          <p:cNvSpPr txBox="1"/>
          <p:nvPr/>
        </p:nvSpPr>
        <p:spPr>
          <a:xfrm>
            <a:off x="676656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E</a:t>
            </a:r>
            <a:endParaRPr lang="en-US" sz="2000" dirty="0"/>
          </a:p>
        </p:txBody>
      </p:sp>
      <p:sp>
        <p:nvSpPr>
          <p:cNvPr id="117" name="adresse-charniere-17"/>
          <p:cNvSpPr/>
          <p:nvPr/>
        </p:nvSpPr>
        <p:spPr>
          <a:xfrm>
            <a:off x="6766560" y="5824728"/>
            <a:ext cx="329184" cy="0"/>
          </a:xfrm>
          <a:prstGeom prst="line">
            <a:avLst/>
          </a:prstGeom>
          <a:noFill/>
          <a:ln w="12700">
            <a:solidFill>
              <a:srgbClr val="000000"/>
            </a:solidFill>
            <a:prstDash val="solid"/>
          </a:ln>
        </p:spPr>
      </p:sp>
      <p:sp>
        <p:nvSpPr>
          <p:cNvPr id="118" name="adresse-case-18"/>
          <p:cNvSpPr/>
          <p:nvPr/>
        </p:nvSpPr>
        <p:spPr>
          <a:xfrm>
            <a:off x="7132320" y="5596128"/>
            <a:ext cx="329184" cy="457200"/>
          </a:xfrm>
          <a:prstGeom prst="roundRect">
            <a:avLst>
              <a:gd name="adj" fmla="val 11111"/>
            </a:avLst>
          </a:prstGeom>
          <a:solidFill>
            <a:schemeClr val="accent4"/>
          </a:solidFill>
          <a:ln w="12700">
            <a:solidFill>
              <a:schemeClr val="accent4"/>
            </a:solidFill>
            <a:prstDash val="solid"/>
          </a:ln>
        </p:spPr>
      </p:sp>
      <p:sp>
        <p:nvSpPr>
          <p:cNvPr id="119" name="adresse-lettre-18"/>
          <p:cNvSpPr txBox="1"/>
          <p:nvPr/>
        </p:nvSpPr>
        <p:spPr>
          <a:xfrm>
            <a:off x="713232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C</a:t>
            </a:r>
            <a:endParaRPr lang="en-US" sz="2000" dirty="0"/>
          </a:p>
        </p:txBody>
      </p:sp>
      <p:sp>
        <p:nvSpPr>
          <p:cNvPr id="120" name="adresse-charniere-18"/>
          <p:cNvSpPr/>
          <p:nvPr/>
        </p:nvSpPr>
        <p:spPr>
          <a:xfrm>
            <a:off x="7132320" y="5824728"/>
            <a:ext cx="329184" cy="0"/>
          </a:xfrm>
          <a:prstGeom prst="line">
            <a:avLst/>
          </a:prstGeom>
          <a:noFill/>
          <a:ln w="12700">
            <a:solidFill>
              <a:srgbClr val="000000"/>
            </a:solidFill>
            <a:prstDash val="solid"/>
          </a:ln>
        </p:spPr>
      </p:sp>
      <p:sp>
        <p:nvSpPr>
          <p:cNvPr id="121" name="adresse-case-19"/>
          <p:cNvSpPr/>
          <p:nvPr/>
        </p:nvSpPr>
        <p:spPr>
          <a:xfrm>
            <a:off x="7498080" y="5596128"/>
            <a:ext cx="329184" cy="457200"/>
          </a:xfrm>
          <a:prstGeom prst="roundRect">
            <a:avLst>
              <a:gd name="adj" fmla="val 11111"/>
            </a:avLst>
          </a:prstGeom>
          <a:solidFill>
            <a:schemeClr val="accent4"/>
          </a:solidFill>
          <a:ln w="12700">
            <a:solidFill>
              <a:schemeClr val="accent4"/>
            </a:solidFill>
            <a:prstDash val="solid"/>
          </a:ln>
        </p:spPr>
      </p:sp>
      <p:sp>
        <p:nvSpPr>
          <p:cNvPr id="122" name="adresse-lettre-19"/>
          <p:cNvSpPr txBox="1"/>
          <p:nvPr/>
        </p:nvSpPr>
        <p:spPr>
          <a:xfrm>
            <a:off x="749808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H</a:t>
            </a:r>
            <a:endParaRPr lang="en-US" sz="2000" dirty="0"/>
          </a:p>
        </p:txBody>
      </p:sp>
      <p:sp>
        <p:nvSpPr>
          <p:cNvPr id="123" name="adresse-charniere-19"/>
          <p:cNvSpPr/>
          <p:nvPr/>
        </p:nvSpPr>
        <p:spPr>
          <a:xfrm>
            <a:off x="7498080" y="5824728"/>
            <a:ext cx="329184" cy="0"/>
          </a:xfrm>
          <a:prstGeom prst="line">
            <a:avLst/>
          </a:prstGeom>
          <a:noFill/>
          <a:ln w="12700">
            <a:solidFill>
              <a:srgbClr val="000000"/>
            </a:solidFill>
            <a:prstDash val="solid"/>
          </a:ln>
        </p:spPr>
      </p:sp>
      <p:sp>
        <p:nvSpPr>
          <p:cNvPr id="124" name="adresse-case-20"/>
          <p:cNvSpPr/>
          <p:nvPr/>
        </p:nvSpPr>
        <p:spPr>
          <a:xfrm>
            <a:off x="7863840" y="5596128"/>
            <a:ext cx="329184" cy="457200"/>
          </a:xfrm>
          <a:prstGeom prst="roundRect">
            <a:avLst>
              <a:gd name="adj" fmla="val 11111"/>
            </a:avLst>
          </a:prstGeom>
          <a:solidFill>
            <a:schemeClr val="accent4"/>
          </a:solidFill>
          <a:ln w="12700">
            <a:solidFill>
              <a:schemeClr val="accent4"/>
            </a:solidFill>
            <a:prstDash val="solid"/>
          </a:ln>
        </p:spPr>
      </p:sp>
      <p:sp>
        <p:nvSpPr>
          <p:cNvPr id="125" name="adresse-lettre-20"/>
          <p:cNvSpPr txBox="1"/>
          <p:nvPr/>
        </p:nvSpPr>
        <p:spPr>
          <a:xfrm>
            <a:off x="786384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a:t>
            </a:r>
            <a:endParaRPr lang="en-US" sz="2000" dirty="0"/>
          </a:p>
        </p:txBody>
      </p:sp>
      <p:sp>
        <p:nvSpPr>
          <p:cNvPr id="126" name="adresse-charniere-20"/>
          <p:cNvSpPr/>
          <p:nvPr/>
        </p:nvSpPr>
        <p:spPr>
          <a:xfrm>
            <a:off x="7863840" y="5824728"/>
            <a:ext cx="329184" cy="0"/>
          </a:xfrm>
          <a:prstGeom prst="line">
            <a:avLst/>
          </a:prstGeom>
          <a:noFill/>
          <a:ln w="12700">
            <a:solidFill>
              <a:srgbClr val="000000"/>
            </a:solidFill>
            <a:prstDash val="solid"/>
          </a:ln>
        </p:spPr>
      </p:sp>
      <p:sp>
        <p:nvSpPr>
          <p:cNvPr id="127" name="adresse-case-21"/>
          <p:cNvSpPr/>
          <p:nvPr/>
        </p:nvSpPr>
        <p:spPr>
          <a:xfrm>
            <a:off x="8229600" y="5596128"/>
            <a:ext cx="329184" cy="457200"/>
          </a:xfrm>
          <a:prstGeom prst="roundRect">
            <a:avLst>
              <a:gd name="adj" fmla="val 11111"/>
            </a:avLst>
          </a:prstGeom>
          <a:solidFill>
            <a:schemeClr val="accent4"/>
          </a:solidFill>
          <a:ln w="12700">
            <a:solidFill>
              <a:schemeClr val="accent4"/>
            </a:solidFill>
            <a:prstDash val="solid"/>
          </a:ln>
        </p:spPr>
      </p:sp>
      <p:sp>
        <p:nvSpPr>
          <p:cNvPr id="128" name="adresse-lettre-21"/>
          <p:cNvSpPr txBox="1"/>
          <p:nvPr/>
        </p:nvSpPr>
        <p:spPr>
          <a:xfrm>
            <a:off x="822960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F</a:t>
            </a:r>
            <a:endParaRPr lang="en-US" sz="2000" dirty="0"/>
          </a:p>
        </p:txBody>
      </p:sp>
      <p:sp>
        <p:nvSpPr>
          <p:cNvPr id="129" name="adresse-charniere-21"/>
          <p:cNvSpPr/>
          <p:nvPr/>
        </p:nvSpPr>
        <p:spPr>
          <a:xfrm>
            <a:off x="8229600" y="5824728"/>
            <a:ext cx="329184" cy="0"/>
          </a:xfrm>
          <a:prstGeom prst="line">
            <a:avLst/>
          </a:prstGeom>
          <a:noFill/>
          <a:ln w="12700">
            <a:solidFill>
              <a:srgbClr val="000000"/>
            </a:solidFill>
            <a:prstDash val="solid"/>
          </a:ln>
        </p:spPr>
      </p:sp>
      <p:sp>
        <p:nvSpPr>
          <p:cNvPr id="130" name="adresse-case-22"/>
          <p:cNvSpPr/>
          <p:nvPr/>
        </p:nvSpPr>
        <p:spPr>
          <a:xfrm>
            <a:off x="8595360" y="5596128"/>
            <a:ext cx="329184" cy="457200"/>
          </a:xfrm>
          <a:prstGeom prst="roundRect">
            <a:avLst>
              <a:gd name="adj" fmla="val 11111"/>
            </a:avLst>
          </a:prstGeom>
          <a:solidFill>
            <a:schemeClr val="accent4"/>
          </a:solidFill>
          <a:ln w="12700">
            <a:solidFill>
              <a:schemeClr val="accent4"/>
            </a:solidFill>
            <a:prstDash val="solid"/>
          </a:ln>
        </p:spPr>
      </p:sp>
      <p:sp>
        <p:nvSpPr>
          <p:cNvPr id="131" name="adresse-lettre-22"/>
          <p:cNvSpPr txBox="1"/>
          <p:nvPr/>
        </p:nvSpPr>
        <p:spPr>
          <a:xfrm>
            <a:off x="8595360" y="5596128"/>
            <a:ext cx="329184"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Barlow Condensed" pitchFamily="34" charset="0"/>
                <a:ea typeface="Barlow Condensed" pitchFamily="34" charset="-122"/>
                <a:cs typeface="Barlow Condensed" pitchFamily="34" charset="-120"/>
              </a:rPr>
              <a:t>R</a:t>
            </a:r>
            <a:endParaRPr lang="en-US" sz="2000" dirty="0"/>
          </a:p>
        </p:txBody>
      </p:sp>
      <p:sp>
        <p:nvSpPr>
          <p:cNvPr id="132" name="adresse-charniere-22"/>
          <p:cNvSpPr/>
          <p:nvPr/>
        </p:nvSpPr>
        <p:spPr>
          <a:xfrm>
            <a:off x="8595360" y="5824728"/>
            <a:ext cx="329184" cy="0"/>
          </a:xfrm>
          <a:prstGeom prst="line">
            <a:avLst/>
          </a:prstGeom>
          <a:noFill/>
          <a:ln w="12700">
            <a:solidFill>
              <a:srgbClr val="000000"/>
            </a:solidFill>
            <a:prstDash val="solid"/>
          </a:ln>
        </p:spPr>
      </p:sp>
      <p:sp>
        <p:nvSpPr>
          <p:cNvPr id="133" name="Text 131"/>
          <p:cNvSpPr txBox="1"/>
          <p:nvPr/>
        </p:nvSpPr>
        <p:spPr>
          <a:xfrm>
            <a:off x="9052560" y="5596128"/>
            <a:ext cx="2587752" cy="457200"/>
          </a:xfrm>
          <a:prstGeom prst="rect">
            <a:avLst/>
          </a:prstGeom>
          <a:noFill/>
          <a:ln/>
        </p:spPr>
        <p:txBody>
          <a:bodyPr wrap="square" lIns="0" tIns="0" rIns="0" bIns="0" rtlCol="0" anchor="ctr"/>
          <a:lstStyle/>
          <a:p>
            <a:pPr marL="0" indent="0" algn="r">
              <a:buNone/>
            </a:pPr>
            <a:r>
              <a:rPr lang="en-US" sz="2200" b="1" i="1" dirty="0">
                <a:solidFill>
                  <a:schemeClr val="bg1"/>
                </a:solidFill>
                <a:latin typeface="Barlow Condensed" pitchFamily="34" charset="0"/>
                <a:ea typeface="Barlow Condensed" pitchFamily="34" charset="-122"/>
                <a:cs typeface="Barlow Condensed" pitchFamily="34" charset="-120"/>
              </a:rPr>
              <a:t>L'école, à l'heure.</a:t>
            </a:r>
            <a:endParaRPr lang="en-US" sz="2200" dirty="0"/>
          </a:p>
        </p:txBody>
      </p:sp>
      <p:sp>
        <p:nvSpPr>
          <p:cNvPr id="134"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latin typeface="Barlow Condensed"/>
                <a:ea typeface="Barlow Condensed"/>
                <a:cs typeface="Barlow Condensed"/>
              </a:defRPr>
            </a:lvl1pPr>
          </a:lstStyle>
          <a:p>
            <a:pPr algn="r"/>
            <a:fld id="{F7021451-1387-4CA6-816F-3879F97B5CBC}" type="slidenum">
              <a:rPr lang="en-US" b="0"/>
              <a:t>3</a:t>
            </a:fld>
            <a:endParaRPr lang="en-US"/>
          </a:p>
        </p:txBody>
      </p:sp>
    </p:spTree>
  </p:cSld>
  <p:clrMapOvr>
    <a:masterClrMapping/>
  </p:clrMapOvr>
</p:sld>
</file>

<file path=ppt/theme/theme1.xml><?xml version="1.0" encoding="utf-8"?>
<a:theme xmlns:a="http://schemas.openxmlformats.org/drawingml/2006/main" name="HESTIM Panneau">
  <a:themeElements>
    <a:clrScheme name="HESTIM Panneau">
      <a:dk1>
        <a:srgbClr val="0B0B0D"/>
      </a:dk1>
      <a:lt1>
        <a:srgbClr val="F2F1EC"/>
      </a:lt1>
      <a:dk2>
        <a:srgbClr val="001861"/>
      </a:dk2>
      <a:lt2>
        <a:srgbClr val="A6A6AC"/>
      </a:lt2>
      <a:accent1>
        <a:srgbClr val="3FCB74"/>
      </a:accent1>
      <a:accent2>
        <a:srgbClr val="F26322"/>
      </a:accent2>
      <a:accent3>
        <a:srgbClr val="FF5A5F"/>
      </a:accent3>
      <a:accent4>
        <a:srgbClr val="212124"/>
      </a:accent4>
      <a:accent5>
        <a:srgbClr val="2C2C30"/>
      </a:accent5>
      <a:accent6>
        <a:srgbClr val="DB1F26"/>
      </a:accent6>
      <a:hlink>
        <a:srgbClr val="F2F1EC"/>
      </a:hlink>
      <a:folHlink>
        <a:srgbClr val="A6A6AC"/>
      </a:folHlink>
    </a:clrScheme>
    <a:fontScheme name="HESTIM Panneau">
      <a:majorFont>
        <a:latin typeface="Barlow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741</Words>
  <Application>Microsoft Office PowerPoint</Application>
  <PresentationFormat>Grand écran</PresentationFormat>
  <Paragraphs>102</Paragraphs>
  <Slides>3</Slides>
  <Notes>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Barlow Condensed</vt:lpstr>
      <vt:lpstr>Arial</vt:lpstr>
      <vt:lpstr>Barlow</vt:lpstr>
      <vt:lpstr>HESTIM Panneau</vt:lpstr>
      <vt:lpstr>Tout existe. Rien ne se parle</vt:lpstr>
      <vt:lpstr>Une plateforme, trois promesses</vt:lpstr>
      <vt:lpstr>En ligne aujourd'hui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HESTIM Planner — l'école, à l'heure</dc:title>
  <dc:subject>PptxGenJS Presentation</dc:subject>
  <dc:creator>Projet PACTE — HESTIM</dc:creator>
  <cp:lastModifiedBy>Claude Lusamote</cp:lastModifiedBy>
  <cp:revision>2</cp:revision>
  <dcterms:created xsi:type="dcterms:W3CDTF">2026-10-05T13:58:33Z</dcterms:created>
  <dcterms:modified xsi:type="dcterms:W3CDTF">2026-10-05T13:58:41Z</dcterms:modified>
</cp:coreProperties>
</file>